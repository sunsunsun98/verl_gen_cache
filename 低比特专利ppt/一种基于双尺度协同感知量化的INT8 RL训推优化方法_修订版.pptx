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72" autoAdjust="0"/>
    <p:restoredTop sz="94658"/>
  </p:normalViewPr>
  <p:slideViewPr>
    <p:cSldViewPr snapToGrid="0">
      <p:cViewPr varScale="1">
        <p:scale>
          <a:sx n="101" d="100"/>
          <a:sy n="101" d="100"/>
        </p:scale>
        <p:origin x="75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88" y="784225"/>
            <a:ext cx="12190412" cy="3810000"/>
          </a:xfrm>
          <a:prstGeom prst="rect">
            <a:avLst/>
          </a:prstGeom>
          <a:ln>
            <a:noFill/>
          </a:ln>
        </p:spPr>
      </p:pic>
      <p:sp>
        <p:nvSpPr>
          <p:cNvPr id="3" name="Text Box 5">
            <a:extLst>
              <a:ext uri="{FF2B5EF4-FFF2-40B4-BE49-F238E27FC236}">
                <a16:creationId xmlns:a16="http://schemas.microsoft.com/office/drawing/2014/main" id="{57B5A208-1EA5-4D8C-AC1E-D9CDD3F5B959}"/>
              </a:ext>
            </a:extLst>
          </p:cNvPr>
          <p:cNvSpPr>
            <a:spLocks noGrp="1"/>
          </p:cNvSpPr>
          <p:nvPr/>
        </p:nvSpPr>
        <p:spPr>
          <a:xfrm>
            <a:off x="869950" y="6205538"/>
            <a:ext cx="2443163" cy="263525"/>
          </a:xfrm>
          <a:prstGeom prst="rect">
            <a:avLst/>
          </a:prstGeom>
          <a:noFill/>
          <a:ln>
            <a:noFill/>
          </a:ln>
        </p:spPr>
        <p:txBody>
          <a:bodyPr wrap="none" lIns="78270" tIns="39135" rIns="78270" bIns="39135">
            <a:spAutoFit/>
          </a:bodyPr>
          <a:lstStyle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</a:pPr>
            <a:r>
              <a:rPr sz="1200">
                <a:latin typeface="FrutigerNext LT Bold"/>
                <a:ea typeface="FrutigerNext LT Bold"/>
                <a:cs typeface="FrutigerNext LT Bold"/>
              </a:rPr>
              <a:t>HUAWEI TECHNOLOGIES CO., LTD.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76C1559E-D268-467D-AA8A-67D20C7FCAD1}"/>
              </a:ext>
            </a:extLst>
          </p:cNvPr>
          <p:cNvSpPr>
            <a:spLocks noGrp="1"/>
          </p:cNvSpPr>
          <p:nvPr/>
        </p:nvSpPr>
        <p:spPr>
          <a:xfrm>
            <a:off x="9663113" y="3984625"/>
            <a:ext cx="2003425" cy="325438"/>
          </a:xfrm>
          <a:prstGeom prst="rect">
            <a:avLst/>
          </a:prstGeom>
          <a:noFill/>
          <a:ln>
            <a:noFill/>
          </a:ln>
        </p:spPr>
        <p:txBody>
          <a:bodyPr lIns="91364" tIns="45680" rIns="91364" bIns="45680"/>
          <a:lstStyle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</a:pPr>
            <a:r>
              <a:rPr sz="1800"/>
              <a:t>www.huawei.com</a:t>
            </a:r>
          </a:p>
        </p:txBody>
      </p:sp>
      <p:pic>
        <p:nvPicPr>
          <p:cNvPr id="5" name="图片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40913" y="5445125"/>
            <a:ext cx="1519237" cy="11398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2BB59-1819-4D09-A5AA-967009D1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F6266D-8134-48C5-BF9B-FA95853E2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D7177CC-528D-47D2-9D50-478209E3E0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2026/6/8</a:t>
            </a:fld>
            <a:fld id="{9CC16276-6ACB-4A2A-A03F-C44D353DD48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DCC55-58E7-4295-B2A1-DD123284A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3A31CE-2E10-4AFD-8898-EBD9B5C59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CCCD475-1D06-4C02-A373-08792731D5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2026/6/8</a:t>
            </a:fld>
            <a:fld id="{D9AC36A0-AC03-4F94-98EF-EA91A648A12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BD3F36-8FA8-4460-9F13-DA4CABAC1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9ECACF-D707-40BC-B8CC-7DEB46F1B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908050"/>
            <a:ext cx="5562600" cy="521811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20BA6A-817E-4940-B281-5131CAC0251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908050"/>
            <a:ext cx="5562600" cy="521811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47F9446-F69F-4F56-A72D-47D95138F5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2026/6/8</a:t>
            </a:fld>
            <a:fld id="{D2FF5886-5F88-43B0-8384-127CBE4CA9D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719615-9D27-457E-B6CD-F611FC29B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4DADF3-2829-4283-A3BB-181EA7905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729722-EF85-4789-B1D0-39F1657FB7B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6CCF04-4843-4EDD-8173-985979E356F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B41CB7D-8721-44E0-B90A-F9CAE273426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3D2A7C-D571-4482-9138-80C6CC3C57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2026/6/8</a:t>
            </a:fld>
            <a:fld id="{F47C3515-A20A-4CC4-AB65-EF2298B43A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C45BF-E823-4481-9BCA-4EBAADFA8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D5643DC-A818-40D6-96E7-75C0AF6B81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2026/6/8</a:t>
            </a:fld>
            <a:fld id="{38A857C1-AAC1-41C4-AD07-95A97C85156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CD76168-5E34-4F64-A4D8-C338028FDF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2026/6/8</a:t>
            </a:fld>
            <a:fld id="{C41C4F78-A9C2-4F7D-B32A-D37166658E9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3A5B1-3883-4432-BEDD-0A3F06E2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6A44DE-7990-4364-9F9D-185E1B51D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9F746E-B8B6-4DDB-A37F-B3D43E01386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F9E68A3-C031-4A9A-BE66-919782B5E28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2026/6/8</a:t>
            </a:fld>
            <a:fld id="{F8199A2E-82C0-4BB8-B204-8B61A41341B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787E7-31CF-420B-BFCE-24D99BFF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BBC05D-97EA-44F7-9B17-AFB816A118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buNone/>
            </a:pPr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C47D75-416D-4D8C-B974-244D7A2AEF9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80C9DD0-DC4E-4265-BFD8-CFB619CB2B3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2026/6/8</a:t>
            </a:fld>
            <a:fld id="{3F7319A2-3A06-410D-AC34-40C219823E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8DA55-0C3E-4F5B-9318-97DB8E7CA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0DA1D1-6F10-4B07-BF14-30ED621D3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FBB1F58-9604-46C9-92C3-7390AC25B6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2026/6/8</a:t>
            </a:fld>
            <a:fld id="{E5B4CDA3-E8CF-443F-8DFE-C12DA662A4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0AE05A7-3833-4205-93AF-8F344B815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8101" y="115889"/>
            <a:ext cx="2832100" cy="6010275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23CE15-CBCB-430C-B3D4-3ADA9CA55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1" y="115889"/>
            <a:ext cx="8293100" cy="6010275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E47D120-E1EE-48C8-8931-0BA1E051480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2026/6/8</a:t>
            </a:fld>
            <a:fld id="{2A7F8B66-0DC9-42B9-A927-2EDE0806B8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7898C-D621-4DAF-A8CA-A0AEDC2CE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3" y="115888"/>
            <a:ext cx="10752667" cy="633412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2F9A21-61DB-4BE5-834B-D3A1230D0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908050"/>
            <a:ext cx="5562600" cy="5218113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D9BE49-C44A-4EE4-AEF8-57560D84197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908050"/>
            <a:ext cx="5562600" cy="5218113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82C419B-83CC-4336-AA86-DEA1DF4AEE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2026/6/8</a:t>
            </a:fld>
            <a:fld id="{34E32DED-6DB2-4A9B-9A29-243C689DD2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A8AFAF2-2C3D-4426-8E37-8BAAA2B7A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63" y="115888"/>
            <a:ext cx="10752137" cy="633412"/>
          </a:xfrm>
          <a:prstGeom prst="rect">
            <a:avLst/>
          </a:prstGeom>
          <a:noFill/>
          <a:ln>
            <a:noFill/>
          </a:ln>
        </p:spPr>
        <p:txBody>
          <a:bodyPr vert="horz" wrap="square" lIns="78270" tIns="39135" rIns="78270" bIns="39135" anchor="ctr"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261BD5F-D894-438D-BA44-461384EEF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908050"/>
            <a:ext cx="11328400" cy="5218113"/>
          </a:xfrm>
          <a:prstGeom prst="rect">
            <a:avLst/>
          </a:prstGeom>
          <a:noFill/>
          <a:ln>
            <a:noFill/>
          </a:ln>
        </p:spPr>
        <p:txBody>
          <a:bodyPr vert="horz" wrap="square" lIns="78270" tIns="39135" rIns="78270" bIns="39135" anchor="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pic>
        <p:nvPicPr>
          <p:cNvPr id="1028" name="Picture 4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0" y="6221413"/>
            <a:ext cx="12190413" cy="636587"/>
          </a:xfrm>
          <a:prstGeom prst="rect">
            <a:avLst/>
          </a:prstGeom>
          <a:ln>
            <a:noFill/>
          </a:ln>
        </p:spPr>
      </p:pic>
      <p:sp>
        <p:nvSpPr>
          <p:cNvPr id="1029" name="Text Box 5">
            <a:extLst>
              <a:ext uri="{FF2B5EF4-FFF2-40B4-BE49-F238E27FC236}">
                <a16:creationId xmlns:a16="http://schemas.microsoft.com/office/drawing/2014/main" id="{10D1B781-CA80-4AF2-944F-31B86DE32991}"/>
              </a:ext>
            </a:extLst>
          </p:cNvPr>
          <p:cNvSpPr>
            <a:spLocks noGrp="1"/>
          </p:cNvSpPr>
          <p:nvPr/>
        </p:nvSpPr>
        <p:spPr>
          <a:xfrm>
            <a:off x="869950" y="6434138"/>
            <a:ext cx="1704975" cy="263525"/>
          </a:xfrm>
          <a:prstGeom prst="rect">
            <a:avLst/>
          </a:prstGeom>
          <a:noFill/>
          <a:ln>
            <a:noFill/>
          </a:ln>
        </p:spPr>
        <p:txBody>
          <a:bodyPr wrap="none" lIns="78276" tIns="39141" rIns="78276" bIns="39141">
            <a:spAutoFit/>
          </a:bodyPr>
          <a:lstStyle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</a:pPr>
            <a:r>
              <a:rPr sz="1200">
                <a:latin typeface="FrutigerNext LT Bold"/>
                <a:ea typeface="FrutigerNext LT Bold"/>
                <a:cs typeface="FrutigerNext LT Bold"/>
              </a:rPr>
              <a:t>HUAWEI </a:t>
            </a:r>
            <a:r>
              <a:rPr sz="1200">
                <a:solidFill>
                  <a:srgbClr val="990000"/>
                </a:solidFill>
                <a:latin typeface="FrutigerNext LT Bold"/>
                <a:ea typeface="FrutigerNext LT Bold"/>
                <a:cs typeface="FrutigerNext LT Bold"/>
              </a:rPr>
              <a:t>CONFIDENTIAL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76BD7857-8719-4AEF-B23F-1C3064BDEA72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905750" y="6400800"/>
            <a:ext cx="1409700" cy="11017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anchor="t"/>
          <a:lstStyle>
            <a:lvl1pPr>
              <a:lnSpc>
                <a:spcPct val="85000"/>
              </a:lnSpc>
              <a:buNone/>
              <a:defRPr sz="1000">
                <a:latin typeface="FrutigerNext LT Medium"/>
                <a:ea typeface="FrutigerNext LT Medium"/>
                <a:cs typeface="FrutigerNext LT Medium"/>
              </a:defRPr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2026/6/8</a:t>
            </a:fld>
            <a:fld id="{C7A6A17C-8CE3-41D7-BD5F-4774EFB3B3E8}" type="slidenum">
              <a:t>‹#›</a:t>
            </a:fld>
            <a:endParaRPr/>
          </a:p>
        </p:txBody>
      </p:sp>
      <p:sp>
        <p:nvSpPr>
          <p:cNvPr id="1032" name="Text Box 8">
            <a:extLst>
              <a:ext uri="{FF2B5EF4-FFF2-40B4-BE49-F238E27FC236}">
                <a16:creationId xmlns:a16="http://schemas.microsoft.com/office/drawing/2014/main" id="{2458C209-3534-41EC-8D46-31D1BBB41916}"/>
              </a:ext>
            </a:extLst>
          </p:cNvPr>
          <p:cNvSpPr>
            <a:spLocks noGrp="1"/>
          </p:cNvSpPr>
          <p:nvPr/>
        </p:nvSpPr>
        <p:spPr>
          <a:xfrm>
            <a:off x="3709988" y="6407150"/>
            <a:ext cx="3705225" cy="307975"/>
          </a:xfrm>
          <a:prstGeom prst="rect">
            <a:avLst/>
          </a:prstGeom>
          <a:noFill/>
          <a:ln>
            <a:noFill/>
          </a:ln>
        </p:spPr>
        <p:txBody>
          <a:bodyPr lIns="78315" tIns="39159" rIns="78315" bIns="39159">
            <a:spAutoFit/>
          </a:bodyPr>
          <a:lstStyle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spcBef>
                <a:spcPts val="0"/>
              </a:spcBef>
              <a:buNone/>
            </a:pPr>
            <a:r>
              <a:rPr sz="1500"/>
              <a:t>内部资料 注意保密</a:t>
            </a:r>
          </a:p>
        </p:txBody>
      </p:sp>
      <p:pic>
        <p:nvPicPr>
          <p:cNvPr id="13320" name="图片 1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10091738" y="6442075"/>
            <a:ext cx="1668462" cy="273050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+mj-lt"/>
          <a:ea typeface="+mj-lt"/>
          <a:cs typeface="+mj-lt"/>
        </a:defRPr>
      </a:lvl1pPr>
      <a:lvl2pPr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2pPr>
      <a:lvl3pPr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3pPr>
      <a:lvl4pPr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4pPr>
      <a:lvl5pPr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5pPr>
      <a:lvl6pPr marL="4572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6pPr>
      <a:lvl7pPr marL="9144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7pPr>
      <a:lvl8pPr marL="13716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8pPr>
      <a:lvl9pPr marL="18288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9pPr>
    </p:titleStyle>
    <p:bodyStyle>
      <a:lvl1pPr marL="252413" indent="-252413" algn="l">
        <a:lnSpc>
          <a:spcPct val="140000"/>
        </a:lnSpc>
        <a:spcBef>
          <a:spcPts val="0"/>
        </a:spcBef>
        <a:spcAft>
          <a:spcPts val="0"/>
        </a:spcAft>
        <a:buChar char="n"/>
        <a:defRPr sz="1600" b="1">
          <a:solidFill>
            <a:schemeClr val="tx1"/>
          </a:solidFill>
          <a:latin typeface="+mn-lt"/>
          <a:ea typeface="+mn-lt"/>
          <a:cs typeface="+mn-lt"/>
        </a:defRPr>
      </a:lvl1pPr>
      <a:lvl2pPr marL="546100" indent="-209550" algn="l">
        <a:lnSpc>
          <a:spcPct val="140000"/>
        </a:lnSpc>
        <a:spcBef>
          <a:spcPts val="0"/>
        </a:spcBef>
        <a:spcAft>
          <a:spcPts val="0"/>
        </a:spcAft>
        <a:buChar char="–"/>
        <a:defRPr sz="1900">
          <a:solidFill>
            <a:schemeClr val="tx1"/>
          </a:solidFill>
          <a:latin typeface="+mn-lt"/>
          <a:ea typeface="+mn-lt"/>
          <a:cs typeface="+mn-lt"/>
        </a:defRPr>
      </a:lvl2pPr>
      <a:lvl3pPr marL="839788" indent="-168275" algn="l">
        <a:lnSpc>
          <a:spcPct val="140000"/>
        </a:lnSpc>
        <a:spcBef>
          <a:spcPts val="0"/>
        </a:spcBef>
        <a:spcAft>
          <a:spcPts val="0"/>
        </a:spcAft>
        <a:buChar char="•"/>
        <a:defRPr sz="1900">
          <a:solidFill>
            <a:schemeClr val="tx1"/>
          </a:solidFill>
          <a:latin typeface="+mn-lt"/>
          <a:ea typeface="+mn-lt"/>
          <a:cs typeface="+mn-lt"/>
        </a:defRPr>
      </a:lvl3pPr>
      <a:lvl4pPr marL="1174750" indent="-168275" algn="l">
        <a:lnSpc>
          <a:spcPct val="140000"/>
        </a:lnSpc>
        <a:spcBef>
          <a:spcPts val="0"/>
        </a:spcBef>
        <a:spcAft>
          <a:spcPts val="0"/>
        </a:spcAft>
        <a:buChar char="–"/>
        <a:defRPr sz="1900">
          <a:solidFill>
            <a:schemeClr val="tx1"/>
          </a:solidFill>
          <a:latin typeface="+mn-lt"/>
          <a:ea typeface="+mn-lt"/>
          <a:cs typeface="+mn-lt"/>
        </a:defRPr>
      </a:lvl4pPr>
      <a:lvl5pPr marL="15097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5pPr>
      <a:lvl6pPr marL="19669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6pPr>
      <a:lvl7pPr marL="24241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7pPr>
      <a:lvl8pPr marL="28813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8pPr>
      <a:lvl9pPr marL="33385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CDE6994-6BFE-4D47-89AE-22E53C490901}"/>
              </a:ext>
            </a:extLst>
          </p:cNvPr>
          <p:cNvSpPr>
            <a:spLocks noGrp="1"/>
          </p:cNvSpPr>
          <p:nvPr/>
        </p:nvSpPr>
        <p:spPr>
          <a:xfrm>
            <a:off x="7943850" y="327025"/>
            <a:ext cx="2160588" cy="309563"/>
          </a:xfrm>
          <a:prstGeom prst="rect">
            <a:avLst/>
          </a:prstGeom>
          <a:noFill/>
          <a:ln>
            <a:noFill/>
          </a:ln>
        </p:spPr>
        <p:txBody>
          <a:bodyPr wrap="none" lIns="78309" tIns="39153" rIns="78309" bIns="39153">
            <a:spAutoFit/>
          </a:bodyPr>
          <a:lstStyle>
            <a:lvl1pPr>
              <a:lnSpc>
                <a:spcPct val="140000"/>
              </a:lnSpc>
              <a:buChar char="n"/>
              <a:defRPr sz="16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40000"/>
              </a:lnSpc>
              <a:buChar char="•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40000"/>
              </a:lnSpc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sz="1500" b="0">
                <a:solidFill>
                  <a:srgbClr val="666666"/>
                </a:solidFill>
                <a:latin typeface="FrutigerNext LT Regular"/>
                <a:ea typeface="FrutigerNext LT Regular"/>
                <a:cs typeface="FrutigerNext LT Regular"/>
              </a:rPr>
              <a:t>Security Level：Internal </a:t>
            </a:r>
          </a:p>
        </p:txBody>
      </p:sp>
      <p:sp>
        <p:nvSpPr>
          <p:cNvPr id="5124" name="Rectangle 6">
            <a:extLst>
              <a:ext uri="{FF2B5EF4-FFF2-40B4-BE49-F238E27FC236}">
                <a16:creationId xmlns:a16="http://schemas.microsoft.com/office/drawing/2014/main" id="{475F1CE7-CB0D-4DC9-87C2-A64428BBA388}"/>
              </a:ext>
            </a:extLst>
          </p:cNvPr>
          <p:cNvSpPr>
            <a:spLocks noGrp="1"/>
          </p:cNvSpPr>
          <p:nvPr/>
        </p:nvSpPr>
        <p:spPr>
          <a:xfrm>
            <a:off x="407368" y="2094674"/>
            <a:ext cx="9577064" cy="1806877"/>
          </a:xfrm>
          <a:prstGeom prst="rect">
            <a:avLst/>
          </a:prstGeom>
          <a:noFill/>
          <a:ln>
            <a:noFill/>
          </a:ln>
        </p:spPr>
        <p:txBody>
          <a:bodyPr wrap="square" lIns="82522" tIns="41261" rIns="82522" bIns="41261">
            <a:spAutoFit/>
          </a:bodyPr>
          <a:lstStyle>
            <a:lvl1pPr>
              <a:lnSpc>
                <a:spcPct val="140000"/>
              </a:lnSpc>
              <a:buChar char="n"/>
              <a:defRPr sz="16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40000"/>
              </a:lnSpc>
              <a:buChar char="•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40000"/>
              </a:lnSpc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sz="2800"/>
              <a:t>一种基于双尺度协同感知量化的INT8 RL训推优化方法</a:t>
            </a:r>
          </a:p>
          <a:p>
            <a:pPr>
              <a:lnSpc>
                <a:spcPct val="100000"/>
              </a:lnSpc>
              <a:buNone/>
            </a:pPr>
            <a:endParaRPr sz="2800"/>
          </a:p>
          <a:p>
            <a:pPr>
              <a:lnSpc>
                <a:spcPct val="100000"/>
              </a:lnSpc>
              <a:buNone/>
            </a:pPr>
            <a:r>
              <a:rPr sz="2800" b="0">
                <a:latin typeface="微软雅黑"/>
                <a:ea typeface="微软雅黑"/>
                <a:cs typeface="微软雅黑"/>
              </a:rPr>
              <a:t>推理架构项目组</a:t>
            </a:r>
          </a:p>
          <a:p>
            <a:pPr>
              <a:lnSpc>
                <a:spcPct val="100000"/>
              </a:lnSpc>
              <a:buNone/>
            </a:pPr>
            <a:endParaRPr sz="2800" b="0"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05910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>
            <a:extLst>
              <a:ext uri="{FF2B5EF4-FFF2-40B4-BE49-F238E27FC236}">
                <a16:creationId xmlns:a16="http://schemas.microsoft.com/office/drawing/2014/main" id="{B7511B11-1593-4B94-9DC1-4AADD0451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-35626"/>
            <a:ext cx="11449272" cy="633412"/>
          </a:xfrm>
        </p:spPr>
        <p:txBody>
          <a:bodyPr/>
          <a:lstStyle/>
          <a:p>
            <a:pPr>
              <a:buNone/>
            </a:pPr>
            <a:r>
              <a:rPr>
                <a:latin typeface="黑体"/>
                <a:ea typeface="黑体"/>
                <a:cs typeface="黑体"/>
              </a:rPr>
              <a:t>双尺度协同感知INT8 RL训推优化方法的技术方案和保护点</a:t>
            </a:r>
          </a:p>
        </p:txBody>
      </p:sp>
      <p:sp>
        <p:nvSpPr>
          <p:cNvPr id="24581" name="文本框 16">
            <a:extLst>
              <a:ext uri="{FF2B5EF4-FFF2-40B4-BE49-F238E27FC236}">
                <a16:creationId xmlns:a16="http://schemas.microsoft.com/office/drawing/2014/main" id="{DABCBADD-0457-4E6E-863C-11033DEC5FFF}"/>
              </a:ext>
            </a:extLst>
          </p:cNvPr>
          <p:cNvSpPr>
            <a:spLocks noGrp="1"/>
          </p:cNvSpPr>
          <p:nvPr/>
        </p:nvSpPr>
        <p:spPr>
          <a:xfrm>
            <a:off x="113532" y="531823"/>
            <a:ext cx="11809312" cy="27327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457200">
              <a:lnSpc>
                <a:spcPct val="120000"/>
              </a:lnSpc>
              <a:buNone/>
            </a:pPr>
            <a:r>
              <a:rPr lang="zh-CN" altLang="en-US" sz="1200" dirty="0">
                <a:latin typeface="微软雅黑"/>
                <a:ea typeface="微软雅黑"/>
                <a:cs typeface="微软雅黑"/>
              </a:rPr>
              <a:t>本发明涉及低比特</a:t>
            </a:r>
            <a:r>
              <a:rPr lang="en-US" altLang="zh-CN" sz="1200" dirty="0">
                <a:latin typeface="微软雅黑"/>
                <a:ea typeface="微软雅黑"/>
                <a:cs typeface="微软雅黑"/>
              </a:rPr>
              <a:t>RL</a:t>
            </a:r>
            <a:r>
              <a:rPr lang="zh-CN" altLang="en-US" sz="1200" dirty="0">
                <a:latin typeface="微软雅黑"/>
                <a:ea typeface="微软雅黑"/>
                <a:cs typeface="微软雅黑"/>
              </a:rPr>
              <a:t>后训练与推理加速的量化优化方法。在</a:t>
            </a:r>
            <a:r>
              <a:rPr lang="en-US" altLang="zh-CN" sz="1200" dirty="0">
                <a:latin typeface="微软雅黑"/>
                <a:ea typeface="微软雅黑"/>
                <a:cs typeface="微软雅黑"/>
              </a:rPr>
              <a:t>RL</a:t>
            </a:r>
            <a:r>
              <a:rPr lang="zh-CN" altLang="en-US" sz="1200" dirty="0">
                <a:latin typeface="微软雅黑"/>
                <a:ea typeface="微软雅黑"/>
                <a:cs typeface="微软雅黑"/>
              </a:rPr>
              <a:t>后训练中，需要在模型上反复执行</a:t>
            </a:r>
            <a:r>
              <a:rPr lang="en-US" altLang="zh-CN" sz="1200" dirty="0">
                <a:latin typeface="微软雅黑"/>
                <a:ea typeface="微软雅黑"/>
                <a:cs typeface="微软雅黑"/>
              </a:rPr>
              <a:t>rollout</a:t>
            </a:r>
            <a:r>
              <a:rPr lang="zh-CN" altLang="en-US" sz="1200" dirty="0">
                <a:latin typeface="微软雅黑"/>
                <a:ea typeface="微软雅黑"/>
                <a:cs typeface="微软雅黑"/>
              </a:rPr>
              <a:t>生成、</a:t>
            </a:r>
            <a:r>
              <a:rPr lang="en-US" altLang="zh-CN" sz="1200" dirty="0" err="1">
                <a:latin typeface="微软雅黑"/>
                <a:ea typeface="微软雅黑"/>
                <a:cs typeface="微软雅黑"/>
              </a:rPr>
              <a:t>log_p</a:t>
            </a:r>
            <a:r>
              <a:rPr lang="zh-CN" altLang="en-US" sz="1200" dirty="0">
                <a:latin typeface="微软雅黑"/>
                <a:ea typeface="微软雅黑"/>
                <a:cs typeface="微软雅黑"/>
              </a:rPr>
              <a:t>计算和策略更新，推理侧的</a:t>
            </a:r>
            <a:r>
              <a:rPr lang="en-US" altLang="zh-CN" sz="1200" dirty="0">
                <a:latin typeface="微软雅黑"/>
                <a:ea typeface="微软雅黑"/>
                <a:cs typeface="微软雅黑"/>
              </a:rPr>
              <a:t>W8A8</a:t>
            </a:r>
            <a:r>
              <a:rPr lang="zh-CN" altLang="en-US" sz="1200" dirty="0"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sz="1200" dirty="0">
                <a:latin typeface="微软雅黑"/>
                <a:ea typeface="微软雅黑"/>
                <a:cs typeface="微软雅黑"/>
              </a:rPr>
              <a:t>rollout</a:t>
            </a:r>
            <a:r>
              <a:rPr lang="zh-CN" altLang="en-US" sz="1200" dirty="0">
                <a:latin typeface="微软雅黑"/>
                <a:ea typeface="微软雅黑"/>
                <a:cs typeface="微软雅黑"/>
              </a:rPr>
              <a:t>在权重、激活量化及舍入操作会引入额外数值扰动，导致训练侧</a:t>
            </a:r>
            <a:r>
              <a:rPr lang="en-US" altLang="zh-CN" sz="1200" dirty="0">
                <a:latin typeface="微软雅黑"/>
                <a:ea typeface="微软雅黑"/>
                <a:cs typeface="微软雅黑"/>
              </a:rPr>
              <a:t>QAT</a:t>
            </a:r>
            <a:r>
              <a:rPr lang="zh-CN" altLang="en-US" sz="1200" dirty="0">
                <a:latin typeface="微软雅黑"/>
                <a:ea typeface="微软雅黑"/>
                <a:cs typeface="微软雅黑"/>
              </a:rPr>
              <a:t>模拟路径与推理侧真实量化路径分布不一致。针对</a:t>
            </a:r>
            <a:r>
              <a:rPr lang="en-US" altLang="zh-CN" sz="1200" dirty="0">
                <a:latin typeface="微软雅黑"/>
                <a:ea typeface="微软雅黑"/>
                <a:cs typeface="微软雅黑"/>
              </a:rPr>
              <a:t>W8A8 rollout</a:t>
            </a:r>
            <a:r>
              <a:rPr lang="zh-CN" altLang="en-US" sz="1200" dirty="0">
                <a:latin typeface="微软雅黑"/>
                <a:ea typeface="微软雅黑"/>
                <a:cs typeface="微软雅黑"/>
              </a:rPr>
              <a:t>中</a:t>
            </a:r>
            <a:r>
              <a:rPr lang="zh-CN" altLang="en-US" sz="1200" b="1" dirty="0">
                <a:latin typeface="微软雅黑"/>
                <a:ea typeface="微软雅黑"/>
                <a:cs typeface="微软雅黑"/>
              </a:rPr>
              <a:t>权重量化尺度难以自适应</a:t>
            </a:r>
            <a:r>
              <a:rPr lang="zh-CN" altLang="en-US" sz="1200" dirty="0">
                <a:latin typeface="微软雅黑"/>
                <a:ea typeface="微软雅黑"/>
                <a:cs typeface="微软雅黑"/>
              </a:rPr>
              <a:t>、</a:t>
            </a:r>
            <a:r>
              <a:rPr lang="zh-CN" altLang="en-US" sz="1200" b="1" dirty="0">
                <a:latin typeface="微软雅黑"/>
                <a:ea typeface="微软雅黑"/>
                <a:cs typeface="微软雅黑"/>
              </a:rPr>
              <a:t>激活离群值放大量化动态范围</a:t>
            </a:r>
            <a:r>
              <a:rPr lang="zh-CN" altLang="en-US" sz="1200" dirty="0">
                <a:latin typeface="微软雅黑"/>
                <a:ea typeface="微软雅黑"/>
                <a:cs typeface="微软雅黑"/>
              </a:rPr>
              <a:t>以及</a:t>
            </a:r>
            <a:r>
              <a:rPr lang="zh-CN" altLang="en-US" sz="1200" b="1" dirty="0">
                <a:latin typeface="微软雅黑"/>
                <a:ea typeface="微软雅黑"/>
                <a:cs typeface="微软雅黑"/>
              </a:rPr>
              <a:t>训推不一致性</a:t>
            </a:r>
            <a:r>
              <a:rPr lang="zh-CN" altLang="en-US" sz="1200" dirty="0">
                <a:latin typeface="微软雅黑"/>
                <a:ea typeface="微软雅黑"/>
                <a:cs typeface="微软雅黑"/>
              </a:rPr>
              <a:t>三个挑战，本文提出一种基于双尺度协同感知量化的</a:t>
            </a:r>
            <a:r>
              <a:rPr lang="en-US" altLang="zh-CN" sz="1200" dirty="0">
                <a:latin typeface="微软雅黑"/>
                <a:ea typeface="微软雅黑"/>
                <a:cs typeface="微软雅黑"/>
              </a:rPr>
              <a:t>INT8 RL</a:t>
            </a:r>
            <a:r>
              <a:rPr lang="zh-CN" altLang="en-US" sz="1200" dirty="0">
                <a:latin typeface="微软雅黑"/>
                <a:ea typeface="微软雅黑"/>
                <a:cs typeface="微软雅黑"/>
              </a:rPr>
              <a:t>训推优化方法，通过权重量化尺度自适应、激活</a:t>
            </a:r>
            <a:r>
              <a:rPr lang="en-US" altLang="zh-CN" sz="1200" dirty="0">
                <a:latin typeface="微软雅黑"/>
                <a:ea typeface="微软雅黑"/>
                <a:cs typeface="微软雅黑"/>
              </a:rPr>
              <a:t>-</a:t>
            </a:r>
            <a:r>
              <a:rPr lang="zh-CN" altLang="en-US" sz="1200" dirty="0">
                <a:latin typeface="微软雅黑"/>
                <a:ea typeface="微软雅黑"/>
                <a:cs typeface="微软雅黑"/>
              </a:rPr>
              <a:t>权重双向平滑重参数化和量化偏差协同校准技术，提升低比特</a:t>
            </a:r>
            <a:r>
              <a:rPr lang="en-US" altLang="zh-CN" sz="1200" dirty="0">
                <a:latin typeface="微软雅黑"/>
                <a:ea typeface="微软雅黑"/>
                <a:cs typeface="微软雅黑"/>
              </a:rPr>
              <a:t>RL</a:t>
            </a:r>
            <a:r>
              <a:rPr lang="zh-CN" altLang="en-US" sz="1200" dirty="0">
                <a:latin typeface="微软雅黑"/>
                <a:ea typeface="微软雅黑"/>
                <a:cs typeface="微软雅黑"/>
              </a:rPr>
              <a:t>训练稳定性与训推一致性，主体方案如下</a:t>
            </a:r>
            <a:r>
              <a:rPr sz="1200" dirty="0">
                <a:latin typeface="微软雅黑"/>
                <a:ea typeface="微软雅黑"/>
                <a:cs typeface="微软雅黑"/>
              </a:rPr>
              <a:t>：</a:t>
            </a:r>
          </a:p>
          <a:p>
            <a:pPr marL="228600" indent="-228600">
              <a:lnSpc>
                <a:spcPct val="120000"/>
              </a:lnSpc>
              <a:buAutoNum type="arabicPeriod"/>
            </a:pPr>
            <a:r>
              <a:rPr sz="1200" b="1" dirty="0" err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权重量化尺度自适应感知模块</a:t>
            </a:r>
            <a:r>
              <a:rPr sz="1200" b="1" dirty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1200" dirty="0">
                <a:latin typeface="微软雅黑"/>
                <a:ea typeface="微软雅黑"/>
              </a:rPr>
              <a:t>在线性层权重量化路径中引入可学习</a:t>
            </a:r>
            <a:r>
              <a:rPr lang="en-US" altLang="zh-CN" sz="1200" dirty="0">
                <a:latin typeface="微软雅黑"/>
                <a:ea typeface="微软雅黑"/>
              </a:rPr>
              <a:t>weight scale</a:t>
            </a:r>
            <a:r>
              <a:rPr lang="zh-CN" altLang="en-US" sz="1200" dirty="0">
                <a:latin typeface="微软雅黑"/>
                <a:ea typeface="微软雅黑"/>
              </a:rPr>
              <a:t>，将量化步长纳入</a:t>
            </a:r>
            <a:r>
              <a:rPr lang="en-US" altLang="zh-CN" sz="1200" dirty="0">
                <a:latin typeface="微软雅黑"/>
                <a:ea typeface="微软雅黑"/>
              </a:rPr>
              <a:t>QAT</a:t>
            </a:r>
            <a:r>
              <a:rPr lang="zh-CN" altLang="en-US" sz="1200" dirty="0">
                <a:latin typeface="微软雅黑"/>
                <a:ea typeface="微软雅黑"/>
              </a:rPr>
              <a:t>优化变量。前向传播中通过</a:t>
            </a:r>
            <a:r>
              <a:rPr lang="en-US" altLang="zh-CN" sz="1200" dirty="0">
                <a:latin typeface="微软雅黑"/>
                <a:ea typeface="微软雅黑"/>
              </a:rPr>
              <a:t>INT8</a:t>
            </a:r>
            <a:r>
              <a:rPr lang="zh-CN" altLang="en-US" sz="1200" dirty="0">
                <a:latin typeface="微软雅黑"/>
                <a:ea typeface="微软雅黑"/>
              </a:rPr>
              <a:t>映射、截断和反量化模拟低比特</a:t>
            </a:r>
            <a:r>
              <a:rPr lang="en-US" altLang="zh-CN" sz="1200" dirty="0">
                <a:latin typeface="微软雅黑"/>
                <a:ea typeface="微软雅黑"/>
              </a:rPr>
              <a:t>rollout</a:t>
            </a:r>
            <a:r>
              <a:rPr lang="zh-CN" altLang="en-US" sz="1200" dirty="0">
                <a:latin typeface="微软雅黑"/>
                <a:ea typeface="微软雅黑"/>
              </a:rPr>
              <a:t>中的权重量化噪声；反向传播中采用</a:t>
            </a:r>
            <a:r>
              <a:rPr lang="en-US" altLang="zh-CN" sz="1200" dirty="0">
                <a:latin typeface="微软雅黑"/>
                <a:ea typeface="微软雅黑"/>
              </a:rPr>
              <a:t>STE</a:t>
            </a:r>
            <a:r>
              <a:rPr lang="zh-CN" altLang="en-US" sz="1200" dirty="0">
                <a:latin typeface="微软雅黑"/>
                <a:ea typeface="微软雅黑"/>
              </a:rPr>
              <a:t>近似梯度，使</a:t>
            </a:r>
            <a:r>
              <a:rPr lang="en-US" altLang="zh-CN" sz="1200" dirty="0">
                <a:latin typeface="微软雅黑"/>
                <a:ea typeface="微软雅黑"/>
              </a:rPr>
              <a:t>weight scale</a:t>
            </a:r>
            <a:r>
              <a:rPr lang="zh-CN" altLang="en-US" sz="1200" dirty="0">
                <a:latin typeface="微软雅黑"/>
                <a:ea typeface="微软雅黑"/>
              </a:rPr>
              <a:t>感知截断边界和重构误差。进一步结合平滑后权重动态范围跟踪和</a:t>
            </a:r>
            <a:r>
              <a:rPr lang="en-US" altLang="zh-CN" sz="1200" dirty="0">
                <a:latin typeface="微软雅黑"/>
                <a:ea typeface="微软雅黑"/>
              </a:rPr>
              <a:t>LSQ</a:t>
            </a:r>
            <a:r>
              <a:rPr lang="zh-CN" altLang="en-US" sz="1200" dirty="0">
                <a:latin typeface="微软雅黑"/>
                <a:ea typeface="微软雅黑"/>
              </a:rPr>
              <a:t>风格梯度缩放，使量化尺度随训练过程稳定更新。</a:t>
            </a:r>
            <a:endParaRPr lang="en-US" altLang="zh-CN" sz="1200" dirty="0">
              <a:latin typeface="微软雅黑"/>
              <a:ea typeface="微软雅黑"/>
            </a:endParaRPr>
          </a:p>
          <a:p>
            <a:pPr marL="228600" indent="-228600">
              <a:lnSpc>
                <a:spcPct val="120000"/>
              </a:lnSpc>
              <a:buAutoNum type="arabicPeriod"/>
            </a:pPr>
            <a:r>
              <a:rPr sz="1200" b="1" dirty="0" err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激活-权重双向平滑重参数化模块</a:t>
            </a:r>
            <a:r>
              <a:rPr sz="1200" b="1" dirty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zh-CN" sz="1200" dirty="0">
                <a:latin typeface="微软雅黑"/>
                <a:ea typeface="微软雅黑"/>
              </a:rPr>
              <a:t>针对激活侧通道离群值导致W8A8激活量化动态范围过大的问题，引入按输入通道定义的smooth scale，对线性层输入激活与权重进行协同变换。在保持浮点线性计算等价的前提下，将激活侧异常动态范围平滑迁移至权重侧，降低激活量化压力，使量化能够同时感知激活平滑和权重分布变化。</a:t>
            </a:r>
            <a:endParaRPr lang="en-US" sz="1200" dirty="0">
              <a:latin typeface="微软雅黑"/>
              <a:ea typeface="微软雅黑"/>
            </a:endParaRPr>
          </a:p>
          <a:p>
            <a:pPr marL="228600" indent="-228600">
              <a:lnSpc>
                <a:spcPct val="120000"/>
              </a:lnSpc>
              <a:buAutoNum type="arabicPeriod"/>
            </a:pPr>
            <a:r>
              <a:rPr sz="1200" b="1" dirty="0" err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量化偏差协同校准模块</a:t>
            </a:r>
            <a:r>
              <a:rPr sz="1200" b="1" dirty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zh-CN" sz="1200" dirty="0">
                <a:latin typeface="微软雅黑"/>
                <a:ea typeface="微软雅黑"/>
              </a:rPr>
              <a:t>针对双尺度量化后仍存在的舍入偏差、敏感层误差和量化残差，引入多策略协同校准机制。首先，对量化敏感层进行精度回退，降低局部量化误差对策略更新方向的影响；其次，引入哈希随机舍入，以确定性伪随机方式替代传统最近邻舍入，减少舍入误差的系统性偏置；最后结合scale稳定化更新机制，对W8A8 rollout中的量化偏差进行持续校准，抑制长序列RL过程中的误差累积。</a:t>
            </a:r>
            <a:endParaRPr sz="1200" dirty="0">
              <a:latin typeface="微软雅黑"/>
              <a:ea typeface="微软雅黑"/>
            </a:endParaRPr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3BA95AE8-C2A4-4B46-9F35-32346FA6BF7D}"/>
              </a:ext>
            </a:extLst>
          </p:cNvPr>
          <p:cNvSpPr>
            <a:spLocks noGrp="1"/>
          </p:cNvSpPr>
          <p:nvPr/>
        </p:nvSpPr>
        <p:spPr>
          <a:xfrm>
            <a:off x="1524001" y="-200055"/>
            <a:ext cx="184731" cy="40011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44B0F85-585C-4C28-A5ED-09D1924D429D}"/>
              </a:ext>
            </a:extLst>
          </p:cNvPr>
          <p:cNvSpPr>
            <a:spLocks noGrp="1"/>
          </p:cNvSpPr>
          <p:nvPr/>
        </p:nvSpPr>
        <p:spPr>
          <a:xfrm>
            <a:off x="291351" y="5072345"/>
            <a:ext cx="11541059" cy="109081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0" indent="457200">
              <a:lnSpc>
                <a:spcPct val="120000"/>
              </a:lnSpc>
              <a:buNone/>
            </a:pPr>
            <a:r>
              <a:rPr sz="1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提出一种基于双尺度协同感知量化的INT8 </a:t>
            </a:r>
            <a:r>
              <a:rPr sz="1100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RL训推优化方法。主要保护点如下</a:t>
            </a:r>
            <a:r>
              <a:rPr sz="1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 marL="0" indent="457200">
              <a:lnSpc>
                <a:spcPct val="120000"/>
              </a:lnSpc>
              <a:buNone/>
            </a:pPr>
            <a:r>
              <a:rPr sz="1100" b="1" dirty="0">
                <a:latin typeface="微软雅黑"/>
                <a:ea typeface="微软雅黑"/>
                <a:cs typeface="微软雅黑"/>
              </a:rPr>
              <a:t>1：保护一种双尺度协同感知的QAT量化尺度建模方法</a:t>
            </a:r>
          </a:p>
          <a:p>
            <a:pPr marL="0" indent="457200">
              <a:lnSpc>
                <a:spcPct val="120000"/>
              </a:lnSpc>
              <a:buNone/>
            </a:pPr>
            <a:r>
              <a:rPr sz="1100" dirty="0" err="1">
                <a:latin typeface="微软雅黑"/>
                <a:ea typeface="微软雅黑"/>
                <a:cs typeface="微软雅黑"/>
              </a:rPr>
              <a:t>其特征在于联合构建可学习weight</a:t>
            </a:r>
            <a:r>
              <a:rPr sz="1100" dirty="0">
                <a:latin typeface="微软雅黑"/>
                <a:ea typeface="微软雅黑"/>
                <a:cs typeface="微软雅黑"/>
              </a:rPr>
              <a:t> </a:t>
            </a:r>
            <a:r>
              <a:rPr sz="1100" dirty="0" err="1">
                <a:latin typeface="微软雅黑"/>
                <a:ea typeface="微软雅黑"/>
                <a:cs typeface="微软雅黑"/>
              </a:rPr>
              <a:t>scale与smooth</a:t>
            </a:r>
            <a:r>
              <a:rPr sz="1100" dirty="0">
                <a:latin typeface="微软雅黑"/>
                <a:ea typeface="微软雅黑"/>
                <a:cs typeface="微软雅黑"/>
              </a:rPr>
              <a:t> </a:t>
            </a:r>
            <a:r>
              <a:rPr sz="1100" dirty="0" err="1">
                <a:latin typeface="微软雅黑"/>
                <a:ea typeface="微软雅黑"/>
                <a:cs typeface="微软雅黑"/>
              </a:rPr>
              <a:t>scale两类尺度变量，分别对权重量化步长和激活离群值进行协同建模，通过动态范围跟踪与梯度缩放提升scale更新稳定性</a:t>
            </a:r>
            <a:r>
              <a:rPr sz="1100" dirty="0">
                <a:latin typeface="微软雅黑"/>
                <a:ea typeface="微软雅黑"/>
                <a:cs typeface="微软雅黑"/>
              </a:rPr>
              <a:t>。</a:t>
            </a:r>
          </a:p>
          <a:p>
            <a:pPr marL="0" indent="457200">
              <a:lnSpc>
                <a:spcPct val="120000"/>
              </a:lnSpc>
              <a:buNone/>
            </a:pPr>
            <a:r>
              <a:rPr sz="1100" b="1" dirty="0">
                <a:latin typeface="微软雅黑"/>
                <a:ea typeface="微软雅黑"/>
                <a:cs typeface="微软雅黑"/>
              </a:rPr>
              <a:t>2：保护一种面向INT8 </a:t>
            </a:r>
            <a:r>
              <a:rPr sz="1100" b="1" dirty="0" err="1">
                <a:latin typeface="微软雅黑"/>
                <a:ea typeface="微软雅黑"/>
                <a:cs typeface="微软雅黑"/>
              </a:rPr>
              <a:t>RL训推一致性的量化偏差校准方法</a:t>
            </a:r>
            <a:endParaRPr sz="1100" b="1" dirty="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20000"/>
              </a:lnSpc>
              <a:buNone/>
            </a:pPr>
            <a:r>
              <a:rPr sz="1100" dirty="0">
                <a:latin typeface="微软雅黑"/>
                <a:ea typeface="微软雅黑"/>
                <a:cs typeface="微软雅黑"/>
              </a:rPr>
              <a:t>其特征在于结合敏感层精度回退、哈希随机舍入和scale稳定化更新，对W8A8 </a:t>
            </a:r>
            <a:r>
              <a:rPr sz="1100" dirty="0" err="1">
                <a:latin typeface="微软雅黑"/>
                <a:ea typeface="微软雅黑"/>
                <a:cs typeface="微软雅黑"/>
              </a:rPr>
              <a:t>rollout中的舍入偏差、敏感层误差和量化残差进行协同校准，提升低比特RL训练稳定性</a:t>
            </a:r>
            <a:r>
              <a:rPr sz="1100" dirty="0"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FD6C74D-AECA-429B-B4B1-182E34EF3234}"/>
              </a:ext>
            </a:extLst>
          </p:cNvPr>
          <p:cNvSpPr>
            <a:spLocks noGrp="1"/>
          </p:cNvSpPr>
          <p:nvPr/>
        </p:nvSpPr>
        <p:spPr>
          <a:xfrm>
            <a:off x="299356" y="3264558"/>
            <a:ext cx="6268412" cy="174861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4F7C9F3-E791-4548-9592-3DDB91694494}"/>
              </a:ext>
            </a:extLst>
          </p:cNvPr>
          <p:cNvSpPr>
            <a:spLocks noGrp="1"/>
          </p:cNvSpPr>
          <p:nvPr/>
        </p:nvSpPr>
        <p:spPr>
          <a:xfrm>
            <a:off x="6567768" y="3240227"/>
            <a:ext cx="5288872" cy="177294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B94B4AB0-FCD6-47CF-A5DA-5E1F9BA2C529}"/>
              </a:ext>
            </a:extLst>
          </p:cNvPr>
          <p:cNvSpPr>
            <a:spLocks noGrp="1"/>
          </p:cNvSpPr>
          <p:nvPr/>
        </p:nvSpPr>
        <p:spPr>
          <a:xfrm>
            <a:off x="8632130" y="3192317"/>
            <a:ext cx="16269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9302B16B-7F52-41E6-ACBE-B21358C8B491}"/>
              </a:ext>
            </a:extLst>
          </p:cNvPr>
          <p:cNvSpPr>
            <a:spLocks noGrp="1"/>
          </p:cNvSpPr>
          <p:nvPr/>
        </p:nvSpPr>
        <p:spPr>
          <a:xfrm>
            <a:off x="10650313" y="3200414"/>
            <a:ext cx="829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8AD5A706-8D69-8F26-E4E5-B1D73ED37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37" y="3496686"/>
            <a:ext cx="6188679" cy="1510311"/>
          </a:xfrm>
          <a:prstGeom prst="rect">
            <a:avLst/>
          </a:prstGeom>
        </p:spPr>
      </p:pic>
      <p:sp>
        <p:nvSpPr>
          <p:cNvPr id="64" name="矩形 63">
            <a:extLst>
              <a:ext uri="{FF2B5EF4-FFF2-40B4-BE49-F238E27FC236}">
                <a16:creationId xmlns:a16="http://schemas.microsoft.com/office/drawing/2014/main" id="{79228077-768B-E6EE-1222-F79BD264B950}"/>
              </a:ext>
            </a:extLst>
          </p:cNvPr>
          <p:cNvSpPr>
            <a:spLocks noGrp="1"/>
          </p:cNvSpPr>
          <p:nvPr/>
        </p:nvSpPr>
        <p:spPr>
          <a:xfrm>
            <a:off x="299740" y="3240227"/>
            <a:ext cx="6267777" cy="266700"/>
          </a:xfrm>
          <a:prstGeom prst="rect">
            <a:avLst/>
          </a:prstGeom>
          <a:solidFill>
            <a:srgbClr val="F2F2F2"/>
          </a:solidFill>
          <a:ln w="11430">
            <a:solidFill>
              <a:srgbClr val="111111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QAT伪量化过程中</a:t>
            </a:r>
            <a:r>
              <a:rPr lang="zh-CN" altLang="en-US" sz="1125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权重量化尺度</a:t>
            </a:r>
            <a:r>
              <a:rPr sz="1125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lang="zh-CN" altLang="en-US" sz="1125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激活</a:t>
            </a:r>
            <a:r>
              <a:rPr lang="en-US" altLang="zh-CN" sz="1125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lang="zh-CN" altLang="en-US" sz="1125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权重双向平滑尺度作用机理</a:t>
            </a:r>
            <a:endParaRPr sz="1125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58883B2-B742-E4F6-A35F-029C5CB3B057}"/>
              </a:ext>
            </a:extLst>
          </p:cNvPr>
          <p:cNvSpPr>
            <a:spLocks noGrp="1"/>
          </p:cNvSpPr>
          <p:nvPr/>
        </p:nvSpPr>
        <p:spPr>
          <a:xfrm>
            <a:off x="6561964" y="3243533"/>
            <a:ext cx="5294426" cy="266700"/>
          </a:xfrm>
          <a:prstGeom prst="rect">
            <a:avLst/>
          </a:prstGeom>
          <a:solidFill>
            <a:srgbClr val="F2F2F2"/>
          </a:solidFill>
          <a:ln w="11430">
            <a:solidFill>
              <a:srgbClr val="111111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QAT伪量化过程中的</a:t>
            </a:r>
            <a:r>
              <a:rPr sz="1125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smooth scale 与 weight scale </a:t>
            </a:r>
            <a:r>
              <a:rPr sz="1125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更新逻辑</a:t>
            </a:r>
            <a:endParaRPr sz="1125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81730B96-F56C-25EE-FCCF-D630E4E69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928" y="3558143"/>
            <a:ext cx="4756714" cy="142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91884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1785</TotalTime>
  <Words>502</Words>
  <Application>Microsoft Office PowerPoint</Application>
  <DocSecurity>0</DocSecurity>
  <PresentationFormat>宽屏</PresentationFormat>
  <Paragraphs>16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FrutigerNext LT Bold</vt:lpstr>
      <vt:lpstr>FrutigerNext LT Medium</vt:lpstr>
      <vt:lpstr>FrutigerNext LT Regular</vt:lpstr>
      <vt:lpstr>黑体</vt:lpstr>
      <vt:lpstr>Microsoft YaHei</vt:lpstr>
      <vt:lpstr>Microsoft YaHei</vt:lpstr>
      <vt:lpstr>Arial</vt:lpstr>
      <vt:lpstr>自定义设计方案</vt:lpstr>
      <vt:lpstr>PowerPoint 演示文稿</vt:lpstr>
      <vt:lpstr>双尺度协同感知INT8 RL训推优化方法的技术方案和保护点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英博 孙</cp:lastModifiedBy>
  <cp:revision>6</cp:revision>
  <dcterms:created xsi:type="dcterms:W3CDTF">2026-06-05T02:49:22Z</dcterms:created>
  <dcterms:modified xsi:type="dcterms:W3CDTF">2026-06-09T09:22:55Z</dcterms:modified>
</cp:coreProperties>
</file>