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5" d="100"/>
          <a:sy n="95" d="100"/>
        </p:scale>
        <p:origin x="69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588" y="784225"/>
            <a:ext cx="12190412" cy="3810000"/>
          </a:xfrm>
          <a:prstGeom prst="rect">
            <a:avLst/>
          </a:prstGeom>
          <a:ln>
            <a:noFill/>
          </a:ln>
        </p:spPr>
      </p:pic>
      <p:sp>
        <p:nvSpPr>
          <p:cNvPr id="3" name="Text Box 5">
            <a:extLst>
              <a:ext uri="{FF2B5EF4-FFF2-40B4-BE49-F238E27FC236}">
                <a16:creationId xmlns:a16="http://schemas.microsoft.com/office/drawing/2014/main" id="{57B5A208-1EA5-4D8C-AC1E-D9CDD3F5B959}"/>
              </a:ext>
            </a:extLst>
          </p:cNvPr>
          <p:cNvSpPr>
            <a:spLocks noGrp="1"/>
          </p:cNvSpPr>
          <p:nvPr/>
        </p:nvSpPr>
        <p:spPr>
          <a:xfrm>
            <a:off x="869950" y="6205538"/>
            <a:ext cx="2443163" cy="263525"/>
          </a:xfrm>
          <a:prstGeom prst="rect">
            <a:avLst/>
          </a:prstGeom>
          <a:noFill/>
          <a:ln>
            <a:noFill/>
          </a:ln>
        </p:spPr>
        <p:txBody>
          <a:bodyPr wrap="none" lIns="78270" tIns="39135" rIns="78270" bIns="39135">
            <a:spAutoFit/>
          </a:bodyPr>
          <a:lstStyle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</a:pPr>
            <a:r>
              <a:rPr sz="1200">
                <a:latin typeface="FrutigerNext LT Bold"/>
                <a:ea typeface="FrutigerNext LT Bold"/>
                <a:cs typeface="FrutigerNext LT Bold"/>
              </a:rPr>
              <a:t>HUAWEI TECHNOLOGIES CO., LTD.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76C1559E-D268-467D-AA8A-67D20C7FCAD1}"/>
              </a:ext>
            </a:extLst>
          </p:cNvPr>
          <p:cNvSpPr>
            <a:spLocks noGrp="1"/>
          </p:cNvSpPr>
          <p:nvPr/>
        </p:nvSpPr>
        <p:spPr>
          <a:xfrm>
            <a:off x="9663113" y="3984625"/>
            <a:ext cx="2003425" cy="325438"/>
          </a:xfrm>
          <a:prstGeom prst="rect">
            <a:avLst/>
          </a:prstGeom>
          <a:noFill/>
          <a:ln>
            <a:noFill/>
          </a:ln>
        </p:spPr>
        <p:txBody>
          <a:bodyPr lIns="91364" tIns="45680" rIns="91364" bIns="45680"/>
          <a:lstStyle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</a:pPr>
            <a:r>
              <a:rPr sz="1800"/>
              <a:t>www.huawei.com</a:t>
            </a:r>
          </a:p>
        </p:txBody>
      </p:sp>
      <p:pic>
        <p:nvPicPr>
          <p:cNvPr id="5" name="图片 1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840913" y="5445125"/>
            <a:ext cx="1519237" cy="11398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B2BB59-1819-4D09-A5AA-967009D1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F6266D-8134-48C5-BF9B-FA95853E2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D7177CC-528D-47D2-9D50-478209E3E0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2026/6/5</a:t>
            </a:fld>
            <a:fld id="{9CC16276-6ACB-4A2A-A03F-C44D353DD48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DCC55-58E7-4295-B2A1-DD123284A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3A31CE-2E10-4AFD-8898-EBD9B5C59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CCCD475-1D06-4C02-A373-08792731D51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2026/6/5</a:t>
            </a:fld>
            <a:fld id="{D9AC36A0-AC03-4F94-98EF-EA91A648A125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BD3F36-8FA8-4460-9F13-DA4CABAC1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9ECACF-D707-40BC-B8CC-7DEB46F1B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908050"/>
            <a:ext cx="5562600" cy="521811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20BA6A-817E-4940-B281-5131CAC0251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908050"/>
            <a:ext cx="5562600" cy="521811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47F9446-F69F-4F56-A72D-47D95138F5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2026/6/5</a:t>
            </a:fld>
            <a:fld id="{D2FF5886-5F88-43B0-8384-127CBE4CA9D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719615-9D27-457E-B6CD-F611FC29B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4DADF3-2829-4283-A3BB-181EA7905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729722-EF85-4789-B1D0-39F1657FB7B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6CCF04-4843-4EDD-8173-985979E356F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B41CB7D-8721-44E0-B90A-F9CAE273426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3D2A7C-D571-4482-9138-80C6CC3C57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2026/6/5</a:t>
            </a:fld>
            <a:fld id="{F47C3515-A20A-4CC4-AB65-EF2298B43A1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4C45BF-E823-4481-9BCA-4EBAADFA8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D5643DC-A818-40D6-96E7-75C0AF6B81A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2026/6/5</a:t>
            </a:fld>
            <a:fld id="{38A857C1-AAC1-41C4-AD07-95A97C85156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CD76168-5E34-4F64-A4D8-C338028FDF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2026/6/5</a:t>
            </a:fld>
            <a:fld id="{C41C4F78-A9C2-4F7D-B32A-D37166658E9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D3A5B1-3883-4432-BEDD-0A3F06E2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6A44DE-7990-4364-9F9D-185E1B51D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9F746E-B8B6-4DDB-A37F-B3D43E01386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F9E68A3-C031-4A9A-BE66-919782B5E28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2026/6/5</a:t>
            </a:fld>
            <a:fld id="{F8199A2E-82C0-4BB8-B204-8B61A41341B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7787E7-31CF-420B-BFCE-24D99BFF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3BBC05D-97EA-44F7-9B17-AFB816A118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buNone/>
            </a:pPr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2C47D75-416D-4D8C-B974-244D7A2AEF9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80C9DD0-DC4E-4265-BFD8-CFB619CB2B3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2026/6/5</a:t>
            </a:fld>
            <a:fld id="{3F7319A2-3A06-410D-AC34-40C219823E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48DA55-0C3E-4F5B-9318-97DB8E7CA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0DA1D1-6F10-4B07-BF14-30ED621D3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FBB1F58-9604-46C9-92C3-7390AC25B6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2026/6/5</a:t>
            </a:fld>
            <a:fld id="{E5B4CDA3-E8CF-443F-8DFE-C12DA662A4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0AE05A7-3833-4205-93AF-8F344B815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8101" y="115889"/>
            <a:ext cx="2832100" cy="6010275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23CE15-CBCB-430C-B3D4-3ADA9CA55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1" y="115889"/>
            <a:ext cx="8293100" cy="6010275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E47D120-E1EE-48C8-8931-0BA1E051480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2026/6/5</a:t>
            </a:fld>
            <a:fld id="{2A7F8B66-0DC9-42B9-A927-2EDE0806B88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67898C-D621-4DAF-A8CA-A0AEDC2CE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3" y="115888"/>
            <a:ext cx="10752667" cy="633412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72F9A21-61DB-4BE5-834B-D3A1230D0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908050"/>
            <a:ext cx="5562600" cy="5218113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DD9BE49-C44A-4EE4-AEF8-57560D84197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97600" y="908050"/>
            <a:ext cx="5562600" cy="5218113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82C419B-83CC-4336-AA86-DEA1DF4AEE6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2026/6/5</a:t>
            </a:fld>
            <a:fld id="{34E32DED-6DB2-4A9B-9A29-243C689DD2C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A8AFAF2-2C3D-4426-8E37-8BAAA2B7A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263" y="115888"/>
            <a:ext cx="10752137" cy="633412"/>
          </a:xfrm>
          <a:prstGeom prst="rect">
            <a:avLst/>
          </a:prstGeom>
          <a:noFill/>
          <a:ln>
            <a:noFill/>
          </a:ln>
        </p:spPr>
        <p:txBody>
          <a:bodyPr vert="horz" wrap="square" lIns="78270" tIns="39135" rIns="78270" bIns="39135" anchor="ctr"/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261BD5F-D894-438D-BA44-461384EEF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908050"/>
            <a:ext cx="11328400" cy="5218113"/>
          </a:xfrm>
          <a:prstGeom prst="rect">
            <a:avLst/>
          </a:prstGeom>
          <a:noFill/>
          <a:ln>
            <a:noFill/>
          </a:ln>
        </p:spPr>
        <p:txBody>
          <a:bodyPr vert="horz" wrap="square" lIns="78270" tIns="39135" rIns="78270" bIns="39135" anchor="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pic>
        <p:nvPicPr>
          <p:cNvPr id="1028" name="Picture 4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0" y="6221413"/>
            <a:ext cx="12190413" cy="636587"/>
          </a:xfrm>
          <a:prstGeom prst="rect">
            <a:avLst/>
          </a:prstGeom>
          <a:ln>
            <a:noFill/>
          </a:ln>
        </p:spPr>
      </p:pic>
      <p:sp>
        <p:nvSpPr>
          <p:cNvPr id="1029" name="Text Box 5">
            <a:extLst>
              <a:ext uri="{FF2B5EF4-FFF2-40B4-BE49-F238E27FC236}">
                <a16:creationId xmlns:a16="http://schemas.microsoft.com/office/drawing/2014/main" id="{10D1B781-CA80-4AF2-944F-31B86DE32991}"/>
              </a:ext>
            </a:extLst>
          </p:cNvPr>
          <p:cNvSpPr>
            <a:spLocks noGrp="1"/>
          </p:cNvSpPr>
          <p:nvPr/>
        </p:nvSpPr>
        <p:spPr>
          <a:xfrm>
            <a:off x="869950" y="6434138"/>
            <a:ext cx="1704975" cy="263525"/>
          </a:xfrm>
          <a:prstGeom prst="rect">
            <a:avLst/>
          </a:prstGeom>
          <a:noFill/>
          <a:ln>
            <a:noFill/>
          </a:ln>
        </p:spPr>
        <p:txBody>
          <a:bodyPr wrap="none" lIns="78276" tIns="39141" rIns="78276" bIns="39141">
            <a:spAutoFit/>
          </a:bodyPr>
          <a:lstStyle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buNone/>
            </a:pPr>
            <a:r>
              <a:rPr sz="1200">
                <a:latin typeface="FrutigerNext LT Bold"/>
                <a:ea typeface="FrutigerNext LT Bold"/>
                <a:cs typeface="FrutigerNext LT Bold"/>
              </a:rPr>
              <a:t>HUAWEI </a:t>
            </a:r>
            <a:r>
              <a:rPr sz="1200">
                <a:solidFill>
                  <a:srgbClr val="990000"/>
                </a:solidFill>
                <a:latin typeface="FrutigerNext LT Bold"/>
                <a:ea typeface="FrutigerNext LT Bold"/>
                <a:cs typeface="FrutigerNext LT Bold"/>
              </a:rPr>
              <a:t>CONFIDENTIAL</a:t>
            </a:r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76BD7857-8719-4AEF-B23F-1C3064BDEA72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7905750" y="6400800"/>
            <a:ext cx="1409700" cy="110172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anchor="t"/>
          <a:lstStyle>
            <a:lvl1pPr>
              <a:lnSpc>
                <a:spcPct val="85000"/>
              </a:lnSpc>
              <a:buNone/>
              <a:defRPr sz="1000">
                <a:latin typeface="FrutigerNext LT Medium"/>
                <a:ea typeface="FrutigerNext LT Medium"/>
                <a:cs typeface="FrutigerNext LT Medium"/>
              </a:defRPr>
            </a:lvl1pPr>
          </a:lstStyle>
          <a:p>
            <a:pPr>
              <a:buNone/>
            </a:pPr>
            <a:endParaRPr/>
          </a:p>
          <a:p>
            <a:pPr>
              <a:buNone/>
            </a:pPr>
            <a:fld id="{49904D6F-5DD4-245D-5D72-66C631BE28CC}" type="datetime1">
              <a:t>2026/6/5</a:t>
            </a:fld>
            <a:fld id="{C7A6A17C-8CE3-41D7-BD5F-4774EFB3B3E8}" type="slidenum">
              <a:t>‹#›</a:t>
            </a:fld>
            <a:endParaRPr/>
          </a:p>
        </p:txBody>
      </p:sp>
      <p:sp>
        <p:nvSpPr>
          <p:cNvPr id="1032" name="Text Box 8">
            <a:extLst>
              <a:ext uri="{FF2B5EF4-FFF2-40B4-BE49-F238E27FC236}">
                <a16:creationId xmlns:a16="http://schemas.microsoft.com/office/drawing/2014/main" id="{2458C209-3534-41EC-8D46-31D1BBB41916}"/>
              </a:ext>
            </a:extLst>
          </p:cNvPr>
          <p:cNvSpPr>
            <a:spLocks noGrp="1"/>
          </p:cNvSpPr>
          <p:nvPr/>
        </p:nvSpPr>
        <p:spPr>
          <a:xfrm>
            <a:off x="3709988" y="6407150"/>
            <a:ext cx="3705225" cy="307975"/>
          </a:xfrm>
          <a:prstGeom prst="rect">
            <a:avLst/>
          </a:prstGeom>
          <a:noFill/>
          <a:ln>
            <a:noFill/>
          </a:ln>
        </p:spPr>
        <p:txBody>
          <a:bodyPr lIns="78315" tIns="39159" rIns="78315" bIns="39159">
            <a:spAutoFit/>
          </a:bodyPr>
          <a:lstStyle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spcBef>
                <a:spcPts val="0"/>
              </a:spcBef>
              <a:buNone/>
            </a:pPr>
            <a:r>
              <a:rPr sz="1500"/>
              <a:t>内部资料 注意保密</a:t>
            </a:r>
          </a:p>
        </p:txBody>
      </p:sp>
      <p:pic>
        <p:nvPicPr>
          <p:cNvPr id="13320" name="图片 1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10091738" y="6442075"/>
            <a:ext cx="1668462" cy="273050"/>
          </a:xfrm>
          <a:prstGeom prst="rect">
            <a:avLst/>
          </a:prstGeom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/>
  <p:txStyles>
    <p:titleStyle>
      <a:lvl1pPr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+mj-lt"/>
          <a:ea typeface="+mj-lt"/>
          <a:cs typeface="+mj-lt"/>
        </a:defRPr>
      </a:lvl1pPr>
      <a:lvl2pPr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2pPr>
      <a:lvl3pPr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3pPr>
      <a:lvl4pPr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4pPr>
      <a:lvl5pPr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5pPr>
      <a:lvl6pPr marL="4572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6pPr>
      <a:lvl7pPr marL="9144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7pPr>
      <a:lvl8pPr marL="13716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8pPr>
      <a:lvl9pPr marL="18288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9pPr>
    </p:titleStyle>
    <p:bodyStyle>
      <a:lvl1pPr marL="252413" indent="-252413" algn="l">
        <a:lnSpc>
          <a:spcPct val="140000"/>
        </a:lnSpc>
        <a:spcBef>
          <a:spcPts val="0"/>
        </a:spcBef>
        <a:spcAft>
          <a:spcPts val="0"/>
        </a:spcAft>
        <a:buChar char="n"/>
        <a:defRPr sz="1600" b="1">
          <a:solidFill>
            <a:schemeClr val="tx1"/>
          </a:solidFill>
          <a:latin typeface="+mn-lt"/>
          <a:ea typeface="+mn-lt"/>
          <a:cs typeface="+mn-lt"/>
        </a:defRPr>
      </a:lvl1pPr>
      <a:lvl2pPr marL="546100" indent="-209550" algn="l">
        <a:lnSpc>
          <a:spcPct val="140000"/>
        </a:lnSpc>
        <a:spcBef>
          <a:spcPts val="0"/>
        </a:spcBef>
        <a:spcAft>
          <a:spcPts val="0"/>
        </a:spcAft>
        <a:buChar char="–"/>
        <a:defRPr sz="1900">
          <a:solidFill>
            <a:schemeClr val="tx1"/>
          </a:solidFill>
          <a:latin typeface="+mn-lt"/>
          <a:ea typeface="+mn-lt"/>
          <a:cs typeface="+mn-lt"/>
        </a:defRPr>
      </a:lvl2pPr>
      <a:lvl3pPr marL="839788" indent="-168275" algn="l">
        <a:lnSpc>
          <a:spcPct val="140000"/>
        </a:lnSpc>
        <a:spcBef>
          <a:spcPts val="0"/>
        </a:spcBef>
        <a:spcAft>
          <a:spcPts val="0"/>
        </a:spcAft>
        <a:buChar char="•"/>
        <a:defRPr sz="1900">
          <a:solidFill>
            <a:schemeClr val="tx1"/>
          </a:solidFill>
          <a:latin typeface="+mn-lt"/>
          <a:ea typeface="+mn-lt"/>
          <a:cs typeface="+mn-lt"/>
        </a:defRPr>
      </a:lvl3pPr>
      <a:lvl4pPr marL="1174750" indent="-168275" algn="l">
        <a:lnSpc>
          <a:spcPct val="140000"/>
        </a:lnSpc>
        <a:spcBef>
          <a:spcPts val="0"/>
        </a:spcBef>
        <a:spcAft>
          <a:spcPts val="0"/>
        </a:spcAft>
        <a:buChar char="–"/>
        <a:defRPr sz="1900">
          <a:solidFill>
            <a:schemeClr val="tx1"/>
          </a:solidFill>
          <a:latin typeface="+mn-lt"/>
          <a:ea typeface="+mn-lt"/>
          <a:cs typeface="+mn-lt"/>
        </a:defRPr>
      </a:lvl4pPr>
      <a:lvl5pPr marL="15097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5pPr>
      <a:lvl6pPr marL="19669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6pPr>
      <a:lvl7pPr marL="24241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7pPr>
      <a:lvl8pPr marL="28813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8pPr>
      <a:lvl9pPr marL="33385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CDE6994-6BFE-4D47-89AE-22E53C490901}"/>
              </a:ext>
            </a:extLst>
          </p:cNvPr>
          <p:cNvSpPr>
            <a:spLocks noGrp="1"/>
          </p:cNvSpPr>
          <p:nvPr/>
        </p:nvSpPr>
        <p:spPr>
          <a:xfrm>
            <a:off x="7943850" y="327025"/>
            <a:ext cx="2160588" cy="309563"/>
          </a:xfrm>
          <a:prstGeom prst="rect">
            <a:avLst/>
          </a:prstGeom>
          <a:noFill/>
          <a:ln>
            <a:noFill/>
          </a:ln>
        </p:spPr>
        <p:txBody>
          <a:bodyPr wrap="none" lIns="78309" tIns="39153" rIns="78309" bIns="39153">
            <a:spAutoFit/>
          </a:bodyPr>
          <a:lstStyle>
            <a:lvl1pPr>
              <a:lnSpc>
                <a:spcPct val="140000"/>
              </a:lnSpc>
              <a:buChar char="n"/>
              <a:defRPr sz="16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40000"/>
              </a:lnSpc>
              <a:buChar char="•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40000"/>
              </a:lnSpc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sz="1500" b="0">
                <a:solidFill>
                  <a:srgbClr val="666666"/>
                </a:solidFill>
                <a:latin typeface="FrutigerNext LT Regular"/>
                <a:ea typeface="FrutigerNext LT Regular"/>
                <a:cs typeface="FrutigerNext LT Regular"/>
              </a:rPr>
              <a:t>Security Level：Internal </a:t>
            </a:r>
          </a:p>
        </p:txBody>
      </p:sp>
      <p:sp>
        <p:nvSpPr>
          <p:cNvPr id="5124" name="Rectangle 6">
            <a:extLst>
              <a:ext uri="{FF2B5EF4-FFF2-40B4-BE49-F238E27FC236}">
                <a16:creationId xmlns:a16="http://schemas.microsoft.com/office/drawing/2014/main" id="{475F1CE7-CB0D-4DC9-87C2-A64428BBA388}"/>
              </a:ext>
            </a:extLst>
          </p:cNvPr>
          <p:cNvSpPr>
            <a:spLocks noGrp="1"/>
          </p:cNvSpPr>
          <p:nvPr/>
        </p:nvSpPr>
        <p:spPr>
          <a:xfrm>
            <a:off x="407368" y="2094674"/>
            <a:ext cx="9577064" cy="1806877"/>
          </a:xfrm>
          <a:prstGeom prst="rect">
            <a:avLst/>
          </a:prstGeom>
          <a:noFill/>
          <a:ln>
            <a:noFill/>
          </a:ln>
        </p:spPr>
        <p:txBody>
          <a:bodyPr wrap="square" lIns="82522" tIns="41261" rIns="82522" bIns="41261">
            <a:spAutoFit/>
          </a:bodyPr>
          <a:lstStyle>
            <a:lvl1pPr>
              <a:lnSpc>
                <a:spcPct val="140000"/>
              </a:lnSpc>
              <a:buChar char="n"/>
              <a:defRPr sz="16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40000"/>
              </a:lnSpc>
              <a:buChar char="•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40000"/>
              </a:lnSpc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100000"/>
              </a:lnSpc>
              <a:buNone/>
            </a:pPr>
            <a:r>
              <a:rPr sz="2800"/>
              <a:t>一种基于双尺度协同感知量化的INT8 RL训推优化方法</a:t>
            </a:r>
          </a:p>
          <a:p>
            <a:pPr>
              <a:lnSpc>
                <a:spcPct val="100000"/>
              </a:lnSpc>
              <a:buNone/>
            </a:pPr>
            <a:endParaRPr sz="2800"/>
          </a:p>
          <a:p>
            <a:pPr>
              <a:lnSpc>
                <a:spcPct val="100000"/>
              </a:lnSpc>
              <a:buNone/>
            </a:pPr>
            <a:r>
              <a:rPr sz="2800" b="0">
                <a:latin typeface="微软雅黑"/>
                <a:ea typeface="微软雅黑"/>
                <a:cs typeface="微软雅黑"/>
              </a:rPr>
              <a:t>推理架构项目组</a:t>
            </a:r>
          </a:p>
          <a:p>
            <a:pPr>
              <a:lnSpc>
                <a:spcPct val="100000"/>
              </a:lnSpc>
              <a:buNone/>
            </a:pPr>
            <a:endParaRPr sz="2800" b="0"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105910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>
            <a:extLst>
              <a:ext uri="{FF2B5EF4-FFF2-40B4-BE49-F238E27FC236}">
                <a16:creationId xmlns:a16="http://schemas.microsoft.com/office/drawing/2014/main" id="{B7511B11-1593-4B94-9DC1-4AADD0451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76" y="-35626"/>
            <a:ext cx="11449272" cy="633412"/>
          </a:xfrm>
        </p:spPr>
        <p:txBody>
          <a:bodyPr/>
          <a:lstStyle/>
          <a:p>
            <a:pPr>
              <a:buNone/>
            </a:pPr>
            <a:r>
              <a:rPr>
                <a:latin typeface="黑体"/>
                <a:ea typeface="黑体"/>
                <a:cs typeface="黑体"/>
              </a:rPr>
              <a:t>双尺度协同感知INT8 RL训推优化方法的技术方案和保护点</a:t>
            </a:r>
          </a:p>
        </p:txBody>
      </p:sp>
      <p:sp>
        <p:nvSpPr>
          <p:cNvPr id="24581" name="文本框 16">
            <a:extLst>
              <a:ext uri="{FF2B5EF4-FFF2-40B4-BE49-F238E27FC236}">
                <a16:creationId xmlns:a16="http://schemas.microsoft.com/office/drawing/2014/main" id="{DABCBADD-0457-4E6E-863C-11033DEC5FFF}"/>
              </a:ext>
            </a:extLst>
          </p:cNvPr>
          <p:cNvSpPr>
            <a:spLocks noGrp="1"/>
          </p:cNvSpPr>
          <p:nvPr/>
        </p:nvSpPr>
        <p:spPr>
          <a:xfrm>
            <a:off x="113532" y="531823"/>
            <a:ext cx="11809312" cy="273273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marL="342900" indent="-3429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457200">
              <a:lnSpc>
                <a:spcPct val="120000"/>
              </a:lnSpc>
              <a:buNone/>
            </a:pPr>
            <a:r>
              <a:rPr sz="1200">
                <a:latin typeface="微软雅黑"/>
                <a:ea typeface="微软雅黑"/>
                <a:cs typeface="微软雅黑"/>
              </a:rPr>
              <a:t>本发明涉及低比特RL后训练与推理加速的量化优化方法。针对W8A8 rollout中权重量化尺度难以自适应、激活离群值放大量化动态范围以及训推分布不一致问题，提出基于双尺度协同感知量化的INT8 RL训推优化方法，主体方案如下：</a:t>
            </a:r>
          </a:p>
          <a:p>
            <a:pPr marL="228600" indent="-228600">
              <a:lnSpc>
                <a:spcPct val="120000"/>
              </a:lnSpc>
              <a:buAutoNum type="arabicPeriod"/>
            </a:pPr>
            <a:r>
              <a:rPr sz="1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权重量化尺度自适应：引入可学习weight scale，将量化步长纳入QAT优化，并结合动态范围跟踪与LSQ梯度缩放，使weight scale随训练过程稳定更新。</a:t>
            </a:r>
          </a:p>
          <a:p>
            <a:pPr marL="228600" indent="-228600">
              <a:lnSpc>
                <a:spcPct val="120000"/>
              </a:lnSpc>
              <a:buAutoNum type="arabicPeriod"/>
            </a:pPr>
            <a:r>
              <a:rPr sz="1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激活-权重双向平滑：引入按输入通道定义的smooth scale，对输入执行x/s、对权重执行W*s，在保持浮点等价的前提下降低激活动态范围压力。</a:t>
            </a:r>
          </a:p>
          <a:p>
            <a:pPr marL="228600" indent="-228600">
              <a:lnSpc>
                <a:spcPct val="120000"/>
              </a:lnSpc>
              <a:buAutoNum type="arabicPeriod"/>
            </a:pPr>
            <a:r>
              <a:rPr sz="1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量化偏差协同校准：结合敏感层精度回退、哈希随机舍入和scale稳定化更新，校准W8A8 rollout中的舍入偏差与量化残差，抑制长序列误差累积。</a:t>
            </a:r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3BA95AE8-C2A4-4B46-9F35-32346FA6BF7D}"/>
              </a:ext>
            </a:extLst>
          </p:cNvPr>
          <p:cNvSpPr>
            <a:spLocks noGrp="1"/>
          </p:cNvSpPr>
          <p:nvPr/>
        </p:nvSpPr>
        <p:spPr>
          <a:xfrm>
            <a:off x="1524001" y="-200055"/>
            <a:ext cx="184731" cy="40011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44B0F85-585C-4C28-A5ED-09D1924D429D}"/>
              </a:ext>
            </a:extLst>
          </p:cNvPr>
          <p:cNvSpPr>
            <a:spLocks noGrp="1"/>
          </p:cNvSpPr>
          <p:nvPr/>
        </p:nvSpPr>
        <p:spPr>
          <a:xfrm>
            <a:off x="291351" y="5072345"/>
            <a:ext cx="11541059" cy="1090811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marL="0" indent="457200">
              <a:lnSpc>
                <a:spcPct val="120000"/>
              </a:lnSpc>
              <a:buNone/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提出一种基于双尺度协同感知量化的INT8 RL训推优化方法。主要保护点如下：</a:t>
            </a:r>
          </a:p>
          <a:p>
            <a:pPr marL="0" indent="457200">
              <a:lnSpc>
                <a:spcPct val="120000"/>
              </a:lnSpc>
              <a:buNone/>
            </a:pPr>
            <a:r>
              <a:rPr sz="1100" b="1">
                <a:latin typeface="微软雅黑"/>
                <a:ea typeface="微软雅黑"/>
                <a:cs typeface="微软雅黑"/>
              </a:rPr>
              <a:t>1：保护一种双尺度协同感知的QAT量化尺度建模方法</a:t>
            </a:r>
          </a:p>
          <a:p>
            <a:pPr marL="0" indent="457200">
              <a:lnSpc>
                <a:spcPct val="120000"/>
              </a:lnSpc>
              <a:buNone/>
            </a:pPr>
            <a:r>
              <a:rPr sz="1100">
                <a:latin typeface="微软雅黑"/>
                <a:ea typeface="微软雅黑"/>
                <a:cs typeface="微软雅黑"/>
              </a:rPr>
              <a:t>其特征在于联合构建可学习weight scale与smooth scale两类尺度变量，分别对权重量化步长和激活离群值进行协同建模，通过动态范围跟踪与梯度缩放提升scale更新稳定性。</a:t>
            </a:r>
          </a:p>
          <a:p>
            <a:pPr marL="0" indent="457200">
              <a:lnSpc>
                <a:spcPct val="120000"/>
              </a:lnSpc>
              <a:buNone/>
            </a:pPr>
            <a:r>
              <a:rPr sz="1100" b="1">
                <a:latin typeface="微软雅黑"/>
                <a:ea typeface="微软雅黑"/>
                <a:cs typeface="微软雅黑"/>
              </a:rPr>
              <a:t>2：保护一种面向INT8 RL训推一致性的量化偏差校准方法</a:t>
            </a:r>
          </a:p>
          <a:p>
            <a:pPr marL="0" indent="457200">
              <a:lnSpc>
                <a:spcPct val="120000"/>
              </a:lnSpc>
              <a:buNone/>
            </a:pPr>
            <a:r>
              <a:rPr sz="1100">
                <a:latin typeface="微软雅黑"/>
                <a:ea typeface="微软雅黑"/>
                <a:cs typeface="微软雅黑"/>
              </a:rPr>
              <a:t>其特征在于结合敏感层精度回退、哈希随机舍入和scale稳定化更新，对W8A8 rollout中的舍入偏差、敏感层误差和量化残差进行协同校准，提升低比特RL训练稳定性。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FD6C74D-AECA-429B-B4B1-182E34EF3234}"/>
              </a:ext>
            </a:extLst>
          </p:cNvPr>
          <p:cNvSpPr>
            <a:spLocks noGrp="1"/>
          </p:cNvSpPr>
          <p:nvPr/>
        </p:nvSpPr>
        <p:spPr>
          <a:xfrm>
            <a:off x="299356" y="3200414"/>
            <a:ext cx="4932548" cy="18127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64754E9-DFD2-4787-904B-9CD41F272A41}"/>
              </a:ext>
            </a:extLst>
          </p:cNvPr>
          <p:cNvSpPr>
            <a:spLocks noGrp="1"/>
          </p:cNvSpPr>
          <p:nvPr/>
        </p:nvSpPr>
        <p:spPr>
          <a:xfrm>
            <a:off x="299356" y="3197373"/>
            <a:ext cx="2700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>
                <a:latin typeface="微软雅黑"/>
                <a:ea typeface="微软雅黑"/>
                <a:cs typeface="微软雅黑"/>
              </a:rPr>
              <a:t>权重量化尺度自适应感知模块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4F7C9F3-E791-4548-9592-3DDB91694494}"/>
              </a:ext>
            </a:extLst>
          </p:cNvPr>
          <p:cNvSpPr>
            <a:spLocks noGrp="1"/>
          </p:cNvSpPr>
          <p:nvPr/>
        </p:nvSpPr>
        <p:spPr>
          <a:xfrm>
            <a:off x="5263382" y="3200413"/>
            <a:ext cx="6593258" cy="181276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08D28B7C-FA11-43D4-9992-2283CAC2D068}"/>
              </a:ext>
            </a:extLst>
          </p:cNvPr>
          <p:cNvSpPr>
            <a:spLocks noGrp="1"/>
          </p:cNvSpPr>
          <p:nvPr/>
        </p:nvSpPr>
        <p:spPr>
          <a:xfrm>
            <a:off x="5339915" y="3202754"/>
            <a:ext cx="29009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latin typeface="微软雅黑"/>
                <a:ea typeface="微软雅黑"/>
                <a:cs typeface="微软雅黑"/>
              </a:rPr>
              <a:t>激活-权重双向平滑重参数化模块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B10867B7-AFE9-4499-83B3-2B6B99E9DBA3}"/>
              </a:ext>
            </a:extLst>
          </p:cNvPr>
          <p:cNvSpPr>
            <a:spLocks noGrp="1"/>
          </p:cNvSpPr>
          <p:nvPr/>
        </p:nvSpPr>
        <p:spPr>
          <a:xfrm>
            <a:off x="8379680" y="4462572"/>
            <a:ext cx="3084584" cy="246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000">
                <a:latin typeface="微软雅黑"/>
                <a:ea typeface="微软雅黑"/>
                <a:cs typeface="微软雅黑"/>
              </a:rPr>
              <a:t>weight scale随训练阶段稳定调整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FC71B0E7-A455-4346-9C38-C42D6F9C7C85}"/>
              </a:ext>
            </a:extLst>
          </p:cNvPr>
          <p:cNvSpPr>
            <a:spLocks noGrp="1"/>
          </p:cNvSpPr>
          <p:nvPr/>
        </p:nvSpPr>
        <p:spPr>
          <a:xfrm>
            <a:off x="5242236" y="4462571"/>
            <a:ext cx="3084584" cy="246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000">
                <a:latin typeface="微软雅黑"/>
                <a:ea typeface="微软雅黑"/>
                <a:cs typeface="微软雅黑"/>
              </a:rPr>
              <a:t>smooth scale实现离群值平滑迁移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B94B4AB0-FCD6-47CF-A5DA-5E1F9BA2C529}"/>
              </a:ext>
            </a:extLst>
          </p:cNvPr>
          <p:cNvSpPr>
            <a:spLocks noGrp="1"/>
          </p:cNvSpPr>
          <p:nvPr/>
        </p:nvSpPr>
        <p:spPr>
          <a:xfrm>
            <a:off x="8632130" y="3192317"/>
            <a:ext cx="162693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9302B16B-7F52-41E6-ACBE-B21358C8B491}"/>
              </a:ext>
            </a:extLst>
          </p:cNvPr>
          <p:cNvSpPr>
            <a:spLocks noGrp="1"/>
          </p:cNvSpPr>
          <p:nvPr/>
        </p:nvSpPr>
        <p:spPr>
          <a:xfrm>
            <a:off x="10650313" y="3200414"/>
            <a:ext cx="829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4582" name="矩形 24581">
            <a:extLst>
              <a:ext uri="{FF2B5EF4-FFF2-40B4-BE49-F238E27FC236}">
                <a16:creationId xmlns:a16="http://schemas.microsoft.com/office/drawing/2014/main" id="{DE42804F-93D9-4F68-B770-20E702EDC619}"/>
              </a:ext>
            </a:extLst>
          </p:cNvPr>
          <p:cNvSpPr>
            <a:spLocks noGrp="1"/>
          </p:cNvSpPr>
          <p:nvPr/>
        </p:nvSpPr>
        <p:spPr>
          <a:xfrm>
            <a:off x="285750" y="2876550"/>
            <a:ext cx="11572875" cy="2133600"/>
          </a:xfrm>
          <a:prstGeom prst="rect">
            <a:avLst/>
          </a:prstGeom>
          <a:solidFill>
            <a:srgbClr val="FFFFFF"/>
          </a:solidFill>
          <a:ln w="11430">
            <a:solidFill>
              <a:srgbClr val="111111"/>
            </a:solidFill>
            <a:prstDash val="solid"/>
          </a:ln>
        </p:spPr>
        <p:txBody>
          <a:bodyPr lIns="57150" tIns="28575" rIns="57150" bIns="28575" anchor="ctr"/>
          <a:lstStyle/>
          <a:p>
            <a:endParaRPr/>
          </a:p>
        </p:txBody>
      </p:sp>
      <p:sp>
        <p:nvSpPr>
          <p:cNvPr id="24583" name="矩形 24582">
            <a:extLst>
              <a:ext uri="{FF2B5EF4-FFF2-40B4-BE49-F238E27FC236}">
                <a16:creationId xmlns:a16="http://schemas.microsoft.com/office/drawing/2014/main" id="{1D53C59C-FEB6-481F-9013-E83326C43370}"/>
              </a:ext>
            </a:extLst>
          </p:cNvPr>
          <p:cNvSpPr>
            <a:spLocks noGrp="1"/>
          </p:cNvSpPr>
          <p:nvPr/>
        </p:nvSpPr>
        <p:spPr>
          <a:xfrm>
            <a:off x="285750" y="2876550"/>
            <a:ext cx="11572875" cy="266700"/>
          </a:xfrm>
          <a:prstGeom prst="rect">
            <a:avLst/>
          </a:prstGeom>
          <a:solidFill>
            <a:srgbClr val="F2F2F2"/>
          </a:solidFill>
          <a:ln w="11430">
            <a:solidFill>
              <a:srgbClr val="111111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QAT伪量化过程中的 smooth scale 与 weight scale 更新逻辑</a:t>
            </a:r>
          </a:p>
        </p:txBody>
      </p:sp>
      <p:sp>
        <p:nvSpPr>
          <p:cNvPr id="24584" name="矩形 24583">
            <a:extLst>
              <a:ext uri="{FF2B5EF4-FFF2-40B4-BE49-F238E27FC236}">
                <a16:creationId xmlns:a16="http://schemas.microsoft.com/office/drawing/2014/main" id="{91F132B9-F6B1-4484-8E84-CABF8EDC00DF}"/>
              </a:ext>
            </a:extLst>
          </p:cNvPr>
          <p:cNvSpPr>
            <a:spLocks noGrp="1"/>
          </p:cNvSpPr>
          <p:nvPr/>
        </p:nvSpPr>
        <p:spPr>
          <a:xfrm>
            <a:off x="466725" y="3238500"/>
            <a:ext cx="5476875" cy="723900"/>
          </a:xfrm>
          <a:prstGeom prst="rect">
            <a:avLst/>
          </a:prstGeom>
          <a:solidFill>
            <a:srgbClr val="EEF5FF"/>
          </a:solidFill>
          <a:ln w="11430">
            <a:solidFill>
              <a:srgbClr val="2F5597"/>
            </a:solidFill>
            <a:prstDash val="solid"/>
          </a:ln>
        </p:spPr>
        <p:txBody>
          <a:bodyPr lIns="57150" tIns="28575" rIns="57150" bIns="28575" anchor="ctr"/>
          <a:lstStyle/>
          <a:p>
            <a:endParaRPr sz="2400"/>
          </a:p>
        </p:txBody>
      </p:sp>
      <p:sp>
        <p:nvSpPr>
          <p:cNvPr id="24585" name="矩形 24584">
            <a:extLst>
              <a:ext uri="{FF2B5EF4-FFF2-40B4-BE49-F238E27FC236}">
                <a16:creationId xmlns:a16="http://schemas.microsoft.com/office/drawing/2014/main" id="{4DA7A4DF-6657-4642-8A28-AEDA7CC5EACA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l">
              <a:defRPr sz="900" b="1">
                <a:solidFill>
                  <a:srgbClr val="0B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0B4F9C"/>
                </a:solidFill>
                <a:latin typeface="Microsoft YaHei"/>
                <a:ea typeface="Microsoft YaHei"/>
                <a:cs typeface="Microsoft YaHei"/>
              </a:rPr>
              <a:t>weight scale更新闭环</a:t>
            </a:r>
          </a:p>
        </p:txBody>
      </p:sp>
      <p:sp>
        <p:nvSpPr>
          <p:cNvPr id="24586" name="矩形 24585">
            <a:extLst>
              <a:ext uri="{FF2B5EF4-FFF2-40B4-BE49-F238E27FC236}">
                <a16:creationId xmlns:a16="http://schemas.microsoft.com/office/drawing/2014/main" id="{CCA6EE7F-1879-4184-818B-644543397989}"/>
              </a:ext>
            </a:extLst>
          </p:cNvPr>
          <p:cNvSpPr>
            <a:spLocks noGrp="1"/>
          </p:cNvSpPr>
          <p:nvPr/>
        </p:nvSpPr>
        <p:spPr>
          <a:xfrm>
            <a:off x="619125" y="3533775"/>
            <a:ext cx="742950" cy="285750"/>
          </a:xfrm>
          <a:prstGeom prst="rect">
            <a:avLst/>
          </a:prstGeom>
          <a:solidFill>
            <a:srgbClr val="D9EAFC"/>
          </a:solidFill>
          <a:ln w="11430">
            <a:solidFill>
              <a:srgbClr val="2F5597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dirty="0" err="1">
                <a:solidFill>
                  <a:srgbClr val="111111"/>
                </a:solidFill>
                <a:latin typeface="Microsoft YaHei"/>
                <a:ea typeface="Microsoft YaHei"/>
              </a:rPr>
              <a:t>W_fp</a:t>
            </a:r>
            <a:endParaRPr sz="900" b="1" dirty="0">
              <a:solidFill>
                <a:srgbClr val="111111"/>
              </a:solidFill>
              <a:latin typeface="Microsoft YaHei"/>
              <a:ea typeface="Microsoft YaHei"/>
            </a:endParaRPr>
          </a:p>
        </p:txBody>
      </p:sp>
      <p:sp>
        <p:nvSpPr>
          <p:cNvPr id="24587" name="矩形 24586">
            <a:extLst>
              <a:ext uri="{FF2B5EF4-FFF2-40B4-BE49-F238E27FC236}">
                <a16:creationId xmlns:a16="http://schemas.microsoft.com/office/drawing/2014/main" id="{2A2A934E-E1C7-4E0E-A3A7-7981656DFF01}"/>
              </a:ext>
            </a:extLst>
          </p:cNvPr>
          <p:cNvSpPr>
            <a:spLocks noGrp="1"/>
          </p:cNvSpPr>
          <p:nvPr/>
        </p:nvSpPr>
        <p:spPr>
          <a:xfrm>
            <a:off x="1362075" y="35718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20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588" name="矩形 24587">
            <a:extLst>
              <a:ext uri="{FF2B5EF4-FFF2-40B4-BE49-F238E27FC236}">
                <a16:creationId xmlns:a16="http://schemas.microsoft.com/office/drawing/2014/main" id="{888F89E7-D830-47BE-AB19-67419CD91E43}"/>
              </a:ext>
            </a:extLst>
          </p:cNvPr>
          <p:cNvSpPr>
            <a:spLocks noGrp="1"/>
          </p:cNvSpPr>
          <p:nvPr/>
        </p:nvSpPr>
        <p:spPr>
          <a:xfrm>
            <a:off x="1676400" y="3486150"/>
            <a:ext cx="112395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2F5597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伪量化</a:t>
            </a:r>
            <a:endParaRPr sz="90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round/clamp</a:t>
            </a:r>
          </a:p>
        </p:txBody>
      </p:sp>
      <p:sp>
        <p:nvSpPr>
          <p:cNvPr id="24589" name="矩形 24588">
            <a:extLst>
              <a:ext uri="{FF2B5EF4-FFF2-40B4-BE49-F238E27FC236}">
                <a16:creationId xmlns:a16="http://schemas.microsoft.com/office/drawing/2014/main" id="{597690EE-61E6-43B7-94B3-B6B21903A799}"/>
              </a:ext>
            </a:extLst>
          </p:cNvPr>
          <p:cNvSpPr>
            <a:spLocks noGrp="1"/>
          </p:cNvSpPr>
          <p:nvPr/>
        </p:nvSpPr>
        <p:spPr>
          <a:xfrm>
            <a:off x="2800350" y="35718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20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590" name="矩形 24589">
            <a:extLst>
              <a:ext uri="{FF2B5EF4-FFF2-40B4-BE49-F238E27FC236}">
                <a16:creationId xmlns:a16="http://schemas.microsoft.com/office/drawing/2014/main" id="{16B946F2-A285-4AE9-9ADB-BF237F29FBEA}"/>
              </a:ext>
            </a:extLst>
          </p:cNvPr>
          <p:cNvSpPr>
            <a:spLocks noGrp="1"/>
          </p:cNvSpPr>
          <p:nvPr/>
        </p:nvSpPr>
        <p:spPr>
          <a:xfrm>
            <a:off x="3114675" y="3486150"/>
            <a:ext cx="91440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2F5597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反量化</a:t>
            </a:r>
            <a:endParaRPr sz="90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W_hat</a:t>
            </a:r>
            <a:endParaRPr sz="90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591" name="矩形 24590">
            <a:extLst>
              <a:ext uri="{FF2B5EF4-FFF2-40B4-BE49-F238E27FC236}">
                <a16:creationId xmlns:a16="http://schemas.microsoft.com/office/drawing/2014/main" id="{B3BFC9CD-95AC-4B18-A47B-E344738FE0A0}"/>
              </a:ext>
            </a:extLst>
          </p:cNvPr>
          <p:cNvSpPr>
            <a:spLocks noGrp="1"/>
          </p:cNvSpPr>
          <p:nvPr/>
        </p:nvSpPr>
        <p:spPr>
          <a:xfrm>
            <a:off x="4029075" y="357187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20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592" name="矩形 24591">
            <a:extLst>
              <a:ext uri="{FF2B5EF4-FFF2-40B4-BE49-F238E27FC236}">
                <a16:creationId xmlns:a16="http://schemas.microsoft.com/office/drawing/2014/main" id="{9D4BBD0C-6490-412D-821A-3AE3E13719EB}"/>
              </a:ext>
            </a:extLst>
          </p:cNvPr>
          <p:cNvSpPr>
            <a:spLocks noGrp="1"/>
          </p:cNvSpPr>
          <p:nvPr/>
        </p:nvSpPr>
        <p:spPr>
          <a:xfrm>
            <a:off x="4292600" y="3486150"/>
            <a:ext cx="1514475" cy="381000"/>
          </a:xfrm>
          <a:prstGeom prst="rect">
            <a:avLst/>
          </a:prstGeom>
          <a:solidFill>
            <a:srgbClr val="D9EAFC"/>
          </a:solidFill>
          <a:ln w="11430">
            <a:solidFill>
              <a:srgbClr val="2F5597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1" dirty="0">
                <a:solidFill>
                  <a:srgbClr val="111111"/>
                </a:solidFill>
                <a:latin typeface="Microsoft YaHei"/>
                <a:ea typeface="Microsoft YaHei"/>
              </a:rPr>
              <a:t>STE</a:t>
            </a:r>
            <a:r>
              <a:rPr lang="zh-CN" altLang="en-US" sz="900" b="1" dirty="0">
                <a:solidFill>
                  <a:srgbClr val="111111"/>
                </a:solidFill>
                <a:latin typeface="Microsoft YaHei"/>
                <a:ea typeface="Microsoft YaHei"/>
              </a:rPr>
              <a:t>反传 </a:t>
            </a:r>
            <a:r>
              <a:rPr lang="en-US" altLang="zh-CN" sz="900" b="1" dirty="0">
                <a:solidFill>
                  <a:srgbClr val="111111"/>
                </a:solidFill>
                <a:latin typeface="Microsoft YaHei"/>
                <a:ea typeface="Microsoft YaHei"/>
              </a:rPr>
              <a:t>+ </a:t>
            </a:r>
            <a:r>
              <a:rPr lang="en-US" sz="900" b="1" dirty="0">
                <a:solidFill>
                  <a:srgbClr val="111111"/>
                </a:solidFill>
                <a:latin typeface="Microsoft YaHei"/>
                <a:ea typeface="Microsoft YaHei"/>
              </a:rPr>
              <a:t>LSQ</a:t>
            </a:r>
          </a:p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b="1" dirty="0">
                <a:solidFill>
                  <a:srgbClr val="111111"/>
                </a:solidFill>
                <a:latin typeface="Microsoft YaHei"/>
                <a:ea typeface="Microsoft YaHei"/>
              </a:rPr>
              <a:t>梯度缩放更新</a:t>
            </a:r>
            <a:r>
              <a:rPr lang="en-US" altLang="zh-CN" sz="900" b="1" dirty="0">
                <a:solidFill>
                  <a:srgbClr val="111111"/>
                </a:solidFill>
                <a:latin typeface="Microsoft YaHei"/>
                <a:ea typeface="Microsoft YaHei"/>
              </a:rPr>
              <a:t>weight scale</a:t>
            </a:r>
            <a:endParaRPr lang="en-US" sz="900" b="1" dirty="0">
              <a:solidFill>
                <a:srgbClr val="111111"/>
              </a:solidFill>
              <a:latin typeface="Microsoft YaHei"/>
              <a:ea typeface="Microsoft YaHei"/>
            </a:endParaRPr>
          </a:p>
        </p:txBody>
      </p:sp>
      <p:sp>
        <p:nvSpPr>
          <p:cNvPr id="24593" name="矩形 24592">
            <a:extLst>
              <a:ext uri="{FF2B5EF4-FFF2-40B4-BE49-F238E27FC236}">
                <a16:creationId xmlns:a16="http://schemas.microsoft.com/office/drawing/2014/main" id="{1BFD3AC4-FE08-4910-9D0F-0B4C4207C912}"/>
              </a:ext>
            </a:extLst>
          </p:cNvPr>
          <p:cNvSpPr>
            <a:spLocks noGrp="1"/>
          </p:cNvSpPr>
          <p:nvPr/>
        </p:nvSpPr>
        <p:spPr>
          <a:xfrm>
            <a:off x="457200" y="4057650"/>
            <a:ext cx="5476875" cy="819150"/>
          </a:xfrm>
          <a:prstGeom prst="rect">
            <a:avLst/>
          </a:prstGeom>
          <a:solidFill>
            <a:srgbClr val="FFF6DB"/>
          </a:solidFill>
          <a:ln w="11430">
            <a:solidFill>
              <a:srgbClr val="BF9000"/>
            </a:solidFill>
            <a:prstDash val="solid"/>
          </a:ln>
        </p:spPr>
        <p:txBody>
          <a:bodyPr lIns="57150" tIns="28575" rIns="57150" bIns="28575" anchor="ctr"/>
          <a:lstStyle/>
          <a:p>
            <a:endParaRPr/>
          </a:p>
        </p:txBody>
      </p:sp>
      <p:sp>
        <p:nvSpPr>
          <p:cNvPr id="24594" name="矩形 24593">
            <a:extLst>
              <a:ext uri="{FF2B5EF4-FFF2-40B4-BE49-F238E27FC236}">
                <a16:creationId xmlns:a16="http://schemas.microsoft.com/office/drawing/2014/main" id="{CEC6B96F-4201-4165-90D5-05D19157F6D7}"/>
              </a:ext>
            </a:extLst>
          </p:cNvPr>
          <p:cNvSpPr>
            <a:spLocks noGrp="1"/>
          </p:cNvSpPr>
          <p:nvPr/>
        </p:nvSpPr>
        <p:spPr>
          <a:xfrm>
            <a:off x="552450" y="411480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l">
              <a:defRPr sz="9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smooth scale更新闭环</a:t>
            </a:r>
          </a:p>
        </p:txBody>
      </p:sp>
      <p:sp>
        <p:nvSpPr>
          <p:cNvPr id="24595" name="矩形 24594">
            <a:extLst>
              <a:ext uri="{FF2B5EF4-FFF2-40B4-BE49-F238E27FC236}">
                <a16:creationId xmlns:a16="http://schemas.microsoft.com/office/drawing/2014/main" id="{2930BAF7-8D6F-4544-806F-07F8FF8BBA92}"/>
              </a:ext>
            </a:extLst>
          </p:cNvPr>
          <p:cNvSpPr>
            <a:spLocks noGrp="1"/>
          </p:cNvSpPr>
          <p:nvPr/>
        </p:nvSpPr>
        <p:spPr>
          <a:xfrm>
            <a:off x="577850" y="4371975"/>
            <a:ext cx="819150" cy="304800"/>
          </a:xfrm>
          <a:prstGeom prst="rect">
            <a:avLst/>
          </a:prstGeom>
          <a:solidFill>
            <a:srgbClr val="FFF2CC"/>
          </a:solidFill>
          <a:ln w="11430">
            <a:solidFill>
              <a:srgbClr val="BF9000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激活x</a:t>
            </a:r>
            <a:endParaRPr sz="9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权重W</a:t>
            </a:r>
            <a:endParaRPr sz="9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596" name="矩形 24595">
            <a:extLst>
              <a:ext uri="{FF2B5EF4-FFF2-40B4-BE49-F238E27FC236}">
                <a16:creationId xmlns:a16="http://schemas.microsoft.com/office/drawing/2014/main" id="{6B418A2B-F22D-42E5-A521-68BDDBF701CF}"/>
              </a:ext>
            </a:extLst>
          </p:cNvPr>
          <p:cNvSpPr>
            <a:spLocks noGrp="1"/>
          </p:cNvSpPr>
          <p:nvPr/>
        </p:nvSpPr>
        <p:spPr>
          <a:xfrm>
            <a:off x="1387475" y="441960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2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597" name="矩形 24596">
            <a:extLst>
              <a:ext uri="{FF2B5EF4-FFF2-40B4-BE49-F238E27FC236}">
                <a16:creationId xmlns:a16="http://schemas.microsoft.com/office/drawing/2014/main" id="{3B4B993C-6E4E-473B-88AD-C11959D20408}"/>
              </a:ext>
            </a:extLst>
          </p:cNvPr>
          <p:cNvSpPr>
            <a:spLocks noGrp="1"/>
          </p:cNvSpPr>
          <p:nvPr/>
        </p:nvSpPr>
        <p:spPr>
          <a:xfrm>
            <a:off x="1647824" y="4324350"/>
            <a:ext cx="1193801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BF9000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s_s</a:t>
            </a:r>
            <a:r>
              <a:rPr lang="en-US" altLang="zh-CN" sz="90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cale</a:t>
            </a:r>
            <a:r>
              <a:rPr sz="90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= exp(theta)</a:t>
            </a:r>
          </a:p>
          <a:p>
            <a:pPr algn="ctr">
              <a:def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按通道平滑</a:t>
            </a:r>
            <a:endParaRPr sz="90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598" name="矩形 24597">
            <a:extLst>
              <a:ext uri="{FF2B5EF4-FFF2-40B4-BE49-F238E27FC236}">
                <a16:creationId xmlns:a16="http://schemas.microsoft.com/office/drawing/2014/main" id="{348FD95B-62A4-4F10-A74A-22B37B76DC20}"/>
              </a:ext>
            </a:extLst>
          </p:cNvPr>
          <p:cNvSpPr>
            <a:spLocks noGrp="1"/>
          </p:cNvSpPr>
          <p:nvPr/>
        </p:nvSpPr>
        <p:spPr>
          <a:xfrm>
            <a:off x="2832100" y="441960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2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599" name="矩形 24598">
            <a:extLst>
              <a:ext uri="{FF2B5EF4-FFF2-40B4-BE49-F238E27FC236}">
                <a16:creationId xmlns:a16="http://schemas.microsoft.com/office/drawing/2014/main" id="{091BB578-E807-44A0-983B-8548499293BD}"/>
              </a:ext>
            </a:extLst>
          </p:cNvPr>
          <p:cNvSpPr>
            <a:spLocks noGrp="1"/>
          </p:cNvSpPr>
          <p:nvPr/>
        </p:nvSpPr>
        <p:spPr>
          <a:xfrm>
            <a:off x="3101975" y="4324350"/>
            <a:ext cx="10287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BF9000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11111"/>
                </a:solidFill>
                <a:latin typeface="Microsoft YaHei"/>
                <a:ea typeface="Microsoft YaHei"/>
              </a:rPr>
              <a:t>x / </a:t>
            </a:r>
            <a:r>
              <a:rPr sz="900" dirty="0" err="1">
                <a:solidFill>
                  <a:srgbClr val="111111"/>
                </a:solidFill>
                <a:latin typeface="Microsoft YaHei"/>
                <a:ea typeface="Microsoft YaHei"/>
              </a:rPr>
              <a:t>s_s</a:t>
            </a:r>
            <a:r>
              <a:rPr lang="en-US" altLang="zh-CN" sz="900" dirty="0" err="1">
                <a:solidFill>
                  <a:srgbClr val="111111"/>
                </a:solidFill>
                <a:latin typeface="Microsoft YaHei"/>
                <a:ea typeface="Microsoft YaHei"/>
              </a:rPr>
              <a:t>cale</a:t>
            </a:r>
            <a:endParaRPr sz="900" dirty="0">
              <a:solidFill>
                <a:srgbClr val="111111"/>
              </a:solidFill>
              <a:latin typeface="Microsoft YaHei"/>
              <a:ea typeface="Microsoft YaHei"/>
            </a:endParaRPr>
          </a:p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11111"/>
                </a:solidFill>
                <a:latin typeface="Microsoft YaHei"/>
                <a:ea typeface="Microsoft YaHei"/>
              </a:rPr>
              <a:t>W * </a:t>
            </a:r>
            <a:r>
              <a:rPr sz="900" dirty="0" err="1">
                <a:solidFill>
                  <a:srgbClr val="111111"/>
                </a:solidFill>
                <a:latin typeface="Microsoft YaHei"/>
                <a:ea typeface="Microsoft YaHei"/>
              </a:rPr>
              <a:t>s_s</a:t>
            </a:r>
            <a:r>
              <a:rPr lang="en-US" altLang="zh-CN" sz="900" dirty="0" err="1">
                <a:solidFill>
                  <a:srgbClr val="111111"/>
                </a:solidFill>
                <a:latin typeface="Microsoft YaHei"/>
                <a:ea typeface="Microsoft YaHei"/>
              </a:rPr>
              <a:t>cale</a:t>
            </a:r>
            <a:endParaRPr sz="900" dirty="0">
              <a:solidFill>
                <a:srgbClr val="111111"/>
              </a:solidFill>
              <a:latin typeface="Microsoft YaHei"/>
              <a:ea typeface="Microsoft YaHei"/>
            </a:endParaRPr>
          </a:p>
        </p:txBody>
      </p:sp>
      <p:sp>
        <p:nvSpPr>
          <p:cNvPr id="24600" name="矩形 24599">
            <a:extLst>
              <a:ext uri="{FF2B5EF4-FFF2-40B4-BE49-F238E27FC236}">
                <a16:creationId xmlns:a16="http://schemas.microsoft.com/office/drawing/2014/main" id="{D3C461D4-EB36-40D0-B477-90B6AEA84C88}"/>
              </a:ext>
            </a:extLst>
          </p:cNvPr>
          <p:cNvSpPr>
            <a:spLocks noGrp="1"/>
          </p:cNvSpPr>
          <p:nvPr/>
        </p:nvSpPr>
        <p:spPr>
          <a:xfrm>
            <a:off x="4121150" y="441960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2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01" name="矩形 24600">
            <a:extLst>
              <a:ext uri="{FF2B5EF4-FFF2-40B4-BE49-F238E27FC236}">
                <a16:creationId xmlns:a16="http://schemas.microsoft.com/office/drawing/2014/main" id="{CCD28A52-602A-40F5-A272-7A5DEB08F3EB}"/>
              </a:ext>
            </a:extLst>
          </p:cNvPr>
          <p:cNvSpPr>
            <a:spLocks noGrp="1"/>
          </p:cNvSpPr>
          <p:nvPr/>
        </p:nvSpPr>
        <p:spPr>
          <a:xfrm>
            <a:off x="4381499" y="4324350"/>
            <a:ext cx="1398205" cy="400050"/>
          </a:xfrm>
          <a:prstGeom prst="rect">
            <a:avLst/>
          </a:prstGeom>
          <a:solidFill>
            <a:srgbClr val="FFF2CC"/>
          </a:solidFill>
          <a:ln w="11430">
            <a:solidFill>
              <a:srgbClr val="BF9000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动态范围迁移</a:t>
            </a:r>
          </a:p>
          <a:p>
            <a:pPr algn="ctr">
              <a:def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QAT loss</a:t>
            </a:r>
            <a:r>
              <a:rPr lang="zh-CN" altLang="en-US" sz="9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反传更新</a:t>
            </a:r>
            <a:r>
              <a:rPr lang="en-US" altLang="zh-CN" sz="9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theta</a:t>
            </a:r>
            <a:endParaRPr lang="zh-CN" altLang="en-US" sz="9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602" name="矩形 24601">
            <a:extLst>
              <a:ext uri="{FF2B5EF4-FFF2-40B4-BE49-F238E27FC236}">
                <a16:creationId xmlns:a16="http://schemas.microsoft.com/office/drawing/2014/main" id="{56116DFA-268A-483E-9B99-BF700B7F4C0D}"/>
              </a:ext>
            </a:extLst>
          </p:cNvPr>
          <p:cNvSpPr>
            <a:spLocks noGrp="1"/>
          </p:cNvSpPr>
          <p:nvPr/>
        </p:nvSpPr>
        <p:spPr>
          <a:xfrm>
            <a:off x="6153150" y="3238500"/>
            <a:ext cx="5524500" cy="1638300"/>
          </a:xfrm>
          <a:prstGeom prst="rect">
            <a:avLst/>
          </a:prstGeom>
          <a:solidFill>
            <a:srgbClr val="FBFBFB"/>
          </a:solidFill>
          <a:ln w="11430">
            <a:solidFill>
              <a:srgbClr val="777777"/>
            </a:solidFill>
            <a:prstDash val="solid"/>
          </a:ln>
        </p:spPr>
        <p:txBody>
          <a:bodyPr lIns="57150" tIns="28575" rIns="57150" bIns="28575" anchor="ctr"/>
          <a:lstStyle/>
          <a:p>
            <a:endParaRPr/>
          </a:p>
        </p:txBody>
      </p:sp>
      <p:sp>
        <p:nvSpPr>
          <p:cNvPr id="24603" name="矩形 24602">
            <a:extLst>
              <a:ext uri="{FF2B5EF4-FFF2-40B4-BE49-F238E27FC236}">
                <a16:creationId xmlns:a16="http://schemas.microsoft.com/office/drawing/2014/main" id="{9EC7E76D-0FA3-46C8-972A-89352FCCBC0C}"/>
              </a:ext>
            </a:extLst>
          </p:cNvPr>
          <p:cNvSpPr>
            <a:spLocks noGrp="1"/>
          </p:cNvSpPr>
          <p:nvPr/>
        </p:nvSpPr>
        <p:spPr>
          <a:xfrm>
            <a:off x="6286500" y="3295650"/>
            <a:ext cx="2571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l">
              <a:defRPr sz="9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双尺度协同感知：平滑后权重驱动量化尺度稳定更新</a:t>
            </a:r>
          </a:p>
        </p:txBody>
      </p:sp>
      <p:sp>
        <p:nvSpPr>
          <p:cNvPr id="24604" name="矩形 24603">
            <a:extLst>
              <a:ext uri="{FF2B5EF4-FFF2-40B4-BE49-F238E27FC236}">
                <a16:creationId xmlns:a16="http://schemas.microsoft.com/office/drawing/2014/main" id="{C0353D11-450F-49B4-B891-C79717579607}"/>
              </a:ext>
            </a:extLst>
          </p:cNvPr>
          <p:cNvSpPr>
            <a:spLocks noGrp="1"/>
          </p:cNvSpPr>
          <p:nvPr/>
        </p:nvSpPr>
        <p:spPr>
          <a:xfrm>
            <a:off x="6429375" y="3609975"/>
            <a:ext cx="1257300" cy="400050"/>
          </a:xfrm>
          <a:prstGeom prst="rect">
            <a:avLst/>
          </a:prstGeom>
          <a:solidFill>
            <a:srgbClr val="FFF2CC"/>
          </a:solidFill>
          <a:ln w="11430">
            <a:solidFill>
              <a:srgbClr val="BF9000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smooth scale</a:t>
            </a:r>
          </a:p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产生W * s_s分布</a:t>
            </a:r>
          </a:p>
        </p:txBody>
      </p:sp>
      <p:sp>
        <p:nvSpPr>
          <p:cNvPr id="24605" name="矩形 24604">
            <a:extLst>
              <a:ext uri="{FF2B5EF4-FFF2-40B4-BE49-F238E27FC236}">
                <a16:creationId xmlns:a16="http://schemas.microsoft.com/office/drawing/2014/main" id="{3CFA2C8B-B3F4-4D6C-A97F-ACD6AEA118C6}"/>
              </a:ext>
            </a:extLst>
          </p:cNvPr>
          <p:cNvSpPr>
            <a:spLocks noGrp="1"/>
          </p:cNvSpPr>
          <p:nvPr/>
        </p:nvSpPr>
        <p:spPr>
          <a:xfrm>
            <a:off x="7791450" y="370522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06" name="矩形 24605">
            <a:extLst>
              <a:ext uri="{FF2B5EF4-FFF2-40B4-BE49-F238E27FC236}">
                <a16:creationId xmlns:a16="http://schemas.microsoft.com/office/drawing/2014/main" id="{7ABDE4C1-1593-4CF8-A071-C54438E82E67}"/>
              </a:ext>
            </a:extLst>
          </p:cNvPr>
          <p:cNvSpPr>
            <a:spLocks noGrp="1"/>
          </p:cNvSpPr>
          <p:nvPr/>
        </p:nvSpPr>
        <p:spPr>
          <a:xfrm>
            <a:off x="8077200" y="3609975"/>
            <a:ext cx="1333500" cy="400050"/>
          </a:xfrm>
          <a:prstGeom prst="rect">
            <a:avLst/>
          </a:prstGeom>
          <a:solidFill>
            <a:srgbClr val="EEEEEE"/>
          </a:solidFill>
          <a:ln w="11430">
            <a:solidFill>
              <a:srgbClr val="777777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EMA跟踪</a:t>
            </a:r>
          </a:p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平滑后动态范围</a:t>
            </a:r>
          </a:p>
        </p:txBody>
      </p:sp>
      <p:sp>
        <p:nvSpPr>
          <p:cNvPr id="24607" name="矩形 24606">
            <a:extLst>
              <a:ext uri="{FF2B5EF4-FFF2-40B4-BE49-F238E27FC236}">
                <a16:creationId xmlns:a16="http://schemas.microsoft.com/office/drawing/2014/main" id="{13223628-8AD1-4181-806C-4E47BE6E3C92}"/>
              </a:ext>
            </a:extLst>
          </p:cNvPr>
          <p:cNvSpPr>
            <a:spLocks noGrp="1"/>
          </p:cNvSpPr>
          <p:nvPr/>
        </p:nvSpPr>
        <p:spPr>
          <a:xfrm>
            <a:off x="9515475" y="370522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08" name="矩形 24607">
            <a:extLst>
              <a:ext uri="{FF2B5EF4-FFF2-40B4-BE49-F238E27FC236}">
                <a16:creationId xmlns:a16="http://schemas.microsoft.com/office/drawing/2014/main" id="{9FC9F377-4F23-459B-A435-7CED7EDEC989}"/>
              </a:ext>
            </a:extLst>
          </p:cNvPr>
          <p:cNvSpPr>
            <a:spLocks noGrp="1"/>
          </p:cNvSpPr>
          <p:nvPr/>
        </p:nvSpPr>
        <p:spPr>
          <a:xfrm>
            <a:off x="9801225" y="3609975"/>
            <a:ext cx="1581150" cy="400050"/>
          </a:xfrm>
          <a:prstGeom prst="rect">
            <a:avLst/>
          </a:prstGeom>
          <a:solidFill>
            <a:srgbClr val="D9EAFC"/>
          </a:solidFill>
          <a:ln w="11430">
            <a:solidFill>
              <a:srgbClr val="2F5597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辅助weight scale</a:t>
            </a:r>
          </a:p>
          <a:p>
            <a:pPr algn="ctr">
              <a:def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避免网格跳变</a:t>
            </a:r>
          </a:p>
        </p:txBody>
      </p:sp>
      <p:sp>
        <p:nvSpPr>
          <p:cNvPr id="24609" name="矩形 24608">
            <a:extLst>
              <a:ext uri="{FF2B5EF4-FFF2-40B4-BE49-F238E27FC236}">
                <a16:creationId xmlns:a16="http://schemas.microsoft.com/office/drawing/2014/main" id="{86A3197B-6297-4C7F-9436-74E7C45898DD}"/>
              </a:ext>
            </a:extLst>
          </p:cNvPr>
          <p:cNvSpPr>
            <a:spLocks noGrp="1"/>
          </p:cNvSpPr>
          <p:nvPr/>
        </p:nvSpPr>
        <p:spPr>
          <a:xfrm>
            <a:off x="6429375" y="4267200"/>
            <a:ext cx="152400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999999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前向：模拟W8A8 rollout噪声</a:t>
            </a:r>
          </a:p>
        </p:txBody>
      </p:sp>
      <p:sp>
        <p:nvSpPr>
          <p:cNvPr id="24610" name="矩形 24609">
            <a:extLst>
              <a:ext uri="{FF2B5EF4-FFF2-40B4-BE49-F238E27FC236}">
                <a16:creationId xmlns:a16="http://schemas.microsoft.com/office/drawing/2014/main" id="{0A7AA0BA-FA81-42AD-BFD6-CC5250F78DB6}"/>
              </a:ext>
            </a:extLst>
          </p:cNvPr>
          <p:cNvSpPr>
            <a:spLocks noGrp="1"/>
          </p:cNvSpPr>
          <p:nvPr/>
        </p:nvSpPr>
        <p:spPr>
          <a:xfrm>
            <a:off x="8058150" y="435292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11" name="矩形 24610">
            <a:extLst>
              <a:ext uri="{FF2B5EF4-FFF2-40B4-BE49-F238E27FC236}">
                <a16:creationId xmlns:a16="http://schemas.microsoft.com/office/drawing/2014/main" id="{E3108204-D350-42C9-9A2C-86E15E9D21A3}"/>
              </a:ext>
            </a:extLst>
          </p:cNvPr>
          <p:cNvSpPr>
            <a:spLocks noGrp="1"/>
          </p:cNvSpPr>
          <p:nvPr/>
        </p:nvSpPr>
        <p:spPr>
          <a:xfrm>
            <a:off x="8353425" y="4267200"/>
            <a:ext cx="139065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999999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反向：截断掩码</a:t>
            </a:r>
          </a:p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重构误差</a:t>
            </a:r>
          </a:p>
        </p:txBody>
      </p:sp>
      <p:sp>
        <p:nvSpPr>
          <p:cNvPr id="24612" name="矩形 24611">
            <a:extLst>
              <a:ext uri="{FF2B5EF4-FFF2-40B4-BE49-F238E27FC236}">
                <a16:creationId xmlns:a16="http://schemas.microsoft.com/office/drawing/2014/main" id="{4F9B5A06-70FE-45F6-8D1E-2553202321CE}"/>
              </a:ext>
            </a:extLst>
          </p:cNvPr>
          <p:cNvSpPr>
            <a:spLocks noGrp="1"/>
          </p:cNvSpPr>
          <p:nvPr/>
        </p:nvSpPr>
        <p:spPr>
          <a:xfrm>
            <a:off x="9848850" y="435292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613" name="矩形 24612">
            <a:extLst>
              <a:ext uri="{FF2B5EF4-FFF2-40B4-BE49-F238E27FC236}">
                <a16:creationId xmlns:a16="http://schemas.microsoft.com/office/drawing/2014/main" id="{087D45C1-816D-443C-8179-AD2EA752800A}"/>
              </a:ext>
            </a:extLst>
          </p:cNvPr>
          <p:cNvSpPr>
            <a:spLocks noGrp="1"/>
          </p:cNvSpPr>
          <p:nvPr/>
        </p:nvSpPr>
        <p:spPr>
          <a:xfrm>
            <a:off x="10144125" y="4267200"/>
            <a:ext cx="1238250" cy="381000"/>
          </a:xfrm>
          <a:prstGeom prst="rect">
            <a:avLst/>
          </a:prstGeom>
          <a:solidFill>
            <a:srgbClr val="FCE4D6"/>
          </a:solidFill>
          <a:ln w="11430">
            <a:solidFill>
              <a:srgbClr val="C00000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训推一致</a:t>
            </a:r>
          </a:p>
          <a:p>
            <a:pPr algn="ctr">
              <a:def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误差不累积</a:t>
            </a:r>
          </a:p>
        </p:txBody>
      </p:sp>
      <p:sp>
        <p:nvSpPr>
          <p:cNvPr id="24614" name="矩形 24613">
            <a:extLst>
              <a:ext uri="{FF2B5EF4-FFF2-40B4-BE49-F238E27FC236}">
                <a16:creationId xmlns:a16="http://schemas.microsoft.com/office/drawing/2014/main" id="{F6AF86AA-5278-4A3E-A14A-9C8906ABC3D1}"/>
              </a:ext>
            </a:extLst>
          </p:cNvPr>
          <p:cNvSpPr>
            <a:spLocks noGrp="1"/>
          </p:cNvSpPr>
          <p:nvPr/>
        </p:nvSpPr>
        <p:spPr>
          <a:xfrm>
            <a:off x="4704196" y="3269872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675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s_w回写量化网格</a:t>
            </a:r>
            <a:endParaRPr sz="900" dirty="0">
              <a:solidFill>
                <a:srgbClr val="2F559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615" name="矩形 24614">
            <a:extLst>
              <a:ext uri="{FF2B5EF4-FFF2-40B4-BE49-F238E27FC236}">
                <a16:creationId xmlns:a16="http://schemas.microsoft.com/office/drawing/2014/main" id="{ED05CF09-AFB1-418B-8D00-0B42C8DFE08A}"/>
              </a:ext>
            </a:extLst>
          </p:cNvPr>
          <p:cNvSpPr>
            <a:spLocks noGrp="1"/>
          </p:cNvSpPr>
          <p:nvPr/>
        </p:nvSpPr>
        <p:spPr>
          <a:xfrm>
            <a:off x="3423311" y="4093423"/>
            <a:ext cx="2520289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638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W * </a:t>
            </a:r>
            <a:r>
              <a:rPr sz="900" dirty="0" err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s_s改变权重分布</a:t>
            </a:r>
            <a:r>
              <a:rPr sz="900" dirty="0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900" dirty="0" err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触发s_w动态跟踪</a:t>
            </a:r>
            <a:endParaRPr sz="900" dirty="0">
              <a:solidFill>
                <a:srgbClr val="8A62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616" name="矩形 24615">
            <a:extLst>
              <a:ext uri="{FF2B5EF4-FFF2-40B4-BE49-F238E27FC236}">
                <a16:creationId xmlns:a16="http://schemas.microsoft.com/office/drawing/2014/main" id="{7BCC42B0-BD00-4C80-94CA-CCB34DA844A2}"/>
              </a:ext>
            </a:extLst>
          </p:cNvPr>
          <p:cNvSpPr>
            <a:spLocks noGrp="1"/>
          </p:cNvSpPr>
          <p:nvPr/>
        </p:nvSpPr>
        <p:spPr>
          <a:xfrm>
            <a:off x="5791200" y="3867150"/>
            <a:ext cx="5143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协同</a:t>
            </a:r>
            <a:endParaRPr sz="75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7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耦合</a:t>
            </a:r>
            <a:endParaRPr sz="75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372191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687DB2-E4E6-D032-3F23-2E8FC0B94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4F0C53-9263-55B6-4675-657860C969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buNone/>
            </a:pPr>
            <a:endParaRPr lang="zh-CN" altLang="en-US"/>
          </a:p>
          <a:p>
            <a:pPr>
              <a:buNone/>
            </a:pPr>
            <a:fld id="{49904D6F-5DD4-245D-5D72-66C631BE28CC}" type="datetime1">
              <a:rPr smtClean="0"/>
              <a:t>2026/6/5</a:t>
            </a:fld>
            <a:fld id="{9CC16276-6ACB-4A2A-A03F-C44D353DD48A}" type="slidenum">
              <a:rPr smtClean="0"/>
              <a:t>3</a:t>
            </a:fld>
            <a:endParaRPr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FF0D3F-5774-0090-47F0-D89957335073}"/>
              </a:ext>
            </a:extLst>
          </p:cNvPr>
          <p:cNvSpPr>
            <a:spLocks noGrp="1"/>
          </p:cNvSpPr>
          <p:nvPr/>
        </p:nvSpPr>
        <p:spPr>
          <a:xfrm>
            <a:off x="554355" y="1291590"/>
            <a:ext cx="5476875" cy="723900"/>
          </a:xfrm>
          <a:prstGeom prst="rect">
            <a:avLst/>
          </a:prstGeom>
          <a:solidFill>
            <a:srgbClr val="EEF5FF"/>
          </a:solidFill>
          <a:ln w="11430">
            <a:solidFill>
              <a:srgbClr val="2F5597"/>
            </a:solidFill>
            <a:prstDash val="solid"/>
          </a:ln>
        </p:spPr>
        <p:txBody>
          <a:bodyPr lIns="57150" tIns="28575" rIns="57150" bIns="28575" anchor="ctr"/>
          <a:lstStyle/>
          <a:p>
            <a:endParaRPr sz="24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8AA85A-CF3E-0E76-E7B4-A8F2E133328E}"/>
              </a:ext>
            </a:extLst>
          </p:cNvPr>
          <p:cNvSpPr>
            <a:spLocks noGrp="1"/>
          </p:cNvSpPr>
          <p:nvPr/>
        </p:nvSpPr>
        <p:spPr>
          <a:xfrm>
            <a:off x="640080" y="134874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l">
              <a:defRPr sz="900" b="1">
                <a:solidFill>
                  <a:srgbClr val="0B4F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0B4F9C"/>
                </a:solidFill>
                <a:latin typeface="Microsoft YaHei"/>
                <a:ea typeface="Microsoft YaHei"/>
                <a:cs typeface="Microsoft YaHei"/>
              </a:rPr>
              <a:t>weight scale更新闭环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D12EA6-73EC-BC48-6B44-18D82033B83B}"/>
              </a:ext>
            </a:extLst>
          </p:cNvPr>
          <p:cNvSpPr>
            <a:spLocks noGrp="1"/>
          </p:cNvSpPr>
          <p:nvPr/>
        </p:nvSpPr>
        <p:spPr>
          <a:xfrm>
            <a:off x="706755" y="1586865"/>
            <a:ext cx="742950" cy="285750"/>
          </a:xfrm>
          <a:prstGeom prst="rect">
            <a:avLst/>
          </a:prstGeom>
          <a:solidFill>
            <a:srgbClr val="D9EAFC"/>
          </a:solidFill>
          <a:ln w="11430">
            <a:solidFill>
              <a:srgbClr val="2F5597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dirty="0" err="1">
                <a:solidFill>
                  <a:srgbClr val="111111"/>
                </a:solidFill>
                <a:latin typeface="Microsoft YaHei"/>
                <a:ea typeface="Microsoft YaHei"/>
              </a:rPr>
              <a:t>W_fp</a:t>
            </a:r>
            <a:endParaRPr sz="900" b="1" dirty="0">
              <a:solidFill>
                <a:srgbClr val="111111"/>
              </a:solidFill>
              <a:latin typeface="Microsoft YaHei"/>
              <a:ea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50CE74-0902-FB43-5BD0-5CB6BC608DB9}"/>
              </a:ext>
            </a:extLst>
          </p:cNvPr>
          <p:cNvSpPr>
            <a:spLocks noGrp="1"/>
          </p:cNvSpPr>
          <p:nvPr/>
        </p:nvSpPr>
        <p:spPr>
          <a:xfrm>
            <a:off x="1449705" y="162496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20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84FA1C-377E-562D-9445-AADD811FB797}"/>
              </a:ext>
            </a:extLst>
          </p:cNvPr>
          <p:cNvSpPr>
            <a:spLocks noGrp="1"/>
          </p:cNvSpPr>
          <p:nvPr/>
        </p:nvSpPr>
        <p:spPr>
          <a:xfrm>
            <a:off x="1764030" y="1539240"/>
            <a:ext cx="112395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2F5597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伪量化</a:t>
            </a:r>
            <a:endParaRPr sz="90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round/clamp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EB037D-B72F-31CE-668C-FE272EF62F28}"/>
              </a:ext>
            </a:extLst>
          </p:cNvPr>
          <p:cNvSpPr>
            <a:spLocks noGrp="1"/>
          </p:cNvSpPr>
          <p:nvPr/>
        </p:nvSpPr>
        <p:spPr>
          <a:xfrm>
            <a:off x="2887980" y="162496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20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46B252-009A-7B27-3077-1C72263D5758}"/>
              </a:ext>
            </a:extLst>
          </p:cNvPr>
          <p:cNvSpPr>
            <a:spLocks noGrp="1"/>
          </p:cNvSpPr>
          <p:nvPr/>
        </p:nvSpPr>
        <p:spPr>
          <a:xfrm>
            <a:off x="3202305" y="1539240"/>
            <a:ext cx="914400" cy="381000"/>
          </a:xfrm>
          <a:prstGeom prst="rect">
            <a:avLst/>
          </a:prstGeom>
          <a:solidFill>
            <a:srgbClr val="FFFFFF"/>
          </a:solidFill>
          <a:ln w="11430">
            <a:solidFill>
              <a:srgbClr val="2F5597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反量化</a:t>
            </a:r>
            <a:endParaRPr sz="90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W_hat</a:t>
            </a:r>
            <a:endParaRPr sz="90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96C8F3-37B3-D7B6-51CC-880B40A3734F}"/>
              </a:ext>
            </a:extLst>
          </p:cNvPr>
          <p:cNvSpPr>
            <a:spLocks noGrp="1"/>
          </p:cNvSpPr>
          <p:nvPr/>
        </p:nvSpPr>
        <p:spPr>
          <a:xfrm>
            <a:off x="4116705" y="1624965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200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E31ED04-6C0B-3584-7459-06D92EAF07ED}"/>
              </a:ext>
            </a:extLst>
          </p:cNvPr>
          <p:cNvSpPr>
            <a:spLocks noGrp="1"/>
          </p:cNvSpPr>
          <p:nvPr/>
        </p:nvSpPr>
        <p:spPr>
          <a:xfrm>
            <a:off x="4380230" y="1539240"/>
            <a:ext cx="1514475" cy="381000"/>
          </a:xfrm>
          <a:prstGeom prst="rect">
            <a:avLst/>
          </a:prstGeom>
          <a:solidFill>
            <a:srgbClr val="D9EAFC"/>
          </a:solidFill>
          <a:ln w="11430">
            <a:solidFill>
              <a:srgbClr val="2F5597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1" dirty="0">
                <a:solidFill>
                  <a:srgbClr val="111111"/>
                </a:solidFill>
                <a:latin typeface="Microsoft YaHei"/>
                <a:ea typeface="Microsoft YaHei"/>
              </a:rPr>
              <a:t>STE</a:t>
            </a:r>
            <a:r>
              <a:rPr lang="zh-CN" altLang="en-US" sz="900" b="1" dirty="0">
                <a:solidFill>
                  <a:srgbClr val="111111"/>
                </a:solidFill>
                <a:latin typeface="Microsoft YaHei"/>
                <a:ea typeface="Microsoft YaHei"/>
              </a:rPr>
              <a:t>反传 </a:t>
            </a:r>
            <a:r>
              <a:rPr lang="en-US" altLang="zh-CN" sz="900" b="1" dirty="0">
                <a:solidFill>
                  <a:srgbClr val="111111"/>
                </a:solidFill>
                <a:latin typeface="Microsoft YaHei"/>
                <a:ea typeface="Microsoft YaHei"/>
              </a:rPr>
              <a:t>+ </a:t>
            </a:r>
            <a:r>
              <a:rPr lang="en-US" sz="900" b="1" dirty="0">
                <a:solidFill>
                  <a:srgbClr val="111111"/>
                </a:solidFill>
                <a:latin typeface="Microsoft YaHei"/>
                <a:ea typeface="Microsoft YaHei"/>
              </a:rPr>
              <a:t>LSQ</a:t>
            </a:r>
          </a:p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b="1" dirty="0">
                <a:solidFill>
                  <a:srgbClr val="111111"/>
                </a:solidFill>
                <a:latin typeface="Microsoft YaHei"/>
                <a:ea typeface="Microsoft YaHei"/>
              </a:rPr>
              <a:t>梯度缩放更新</a:t>
            </a:r>
            <a:r>
              <a:rPr lang="en-US" altLang="zh-CN" sz="900" b="1" dirty="0">
                <a:solidFill>
                  <a:srgbClr val="111111"/>
                </a:solidFill>
                <a:latin typeface="Microsoft YaHei"/>
                <a:ea typeface="Microsoft YaHei"/>
              </a:rPr>
              <a:t>weight scale</a:t>
            </a:r>
            <a:endParaRPr lang="en-US" sz="900" b="1" dirty="0">
              <a:solidFill>
                <a:srgbClr val="111111"/>
              </a:solidFill>
              <a:latin typeface="Microsoft YaHei"/>
              <a:ea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A7573D-A969-64E5-DCDF-FDAF48D2E972}"/>
              </a:ext>
            </a:extLst>
          </p:cNvPr>
          <p:cNvSpPr>
            <a:spLocks noGrp="1"/>
          </p:cNvSpPr>
          <p:nvPr/>
        </p:nvSpPr>
        <p:spPr>
          <a:xfrm>
            <a:off x="544830" y="2110740"/>
            <a:ext cx="5476875" cy="819150"/>
          </a:xfrm>
          <a:prstGeom prst="rect">
            <a:avLst/>
          </a:prstGeom>
          <a:solidFill>
            <a:srgbClr val="FFF6DB"/>
          </a:solidFill>
          <a:ln w="11430">
            <a:solidFill>
              <a:srgbClr val="BF9000"/>
            </a:solidFill>
            <a:prstDash val="solid"/>
          </a:ln>
        </p:spPr>
        <p:txBody>
          <a:bodyPr lIns="57150" tIns="28575" rIns="57150" bIns="28575" anchor="ctr"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57F21BE-F186-0FDA-4BC7-817576981F90}"/>
              </a:ext>
            </a:extLst>
          </p:cNvPr>
          <p:cNvSpPr>
            <a:spLocks noGrp="1"/>
          </p:cNvSpPr>
          <p:nvPr/>
        </p:nvSpPr>
        <p:spPr>
          <a:xfrm>
            <a:off x="640080" y="216789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l">
              <a:defRPr sz="9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smooth scale更新闭环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779EF69-A508-0001-084F-3E97F55A090C}"/>
              </a:ext>
            </a:extLst>
          </p:cNvPr>
          <p:cNvSpPr>
            <a:spLocks noGrp="1"/>
          </p:cNvSpPr>
          <p:nvPr/>
        </p:nvSpPr>
        <p:spPr>
          <a:xfrm>
            <a:off x="665480" y="2425065"/>
            <a:ext cx="819150" cy="304800"/>
          </a:xfrm>
          <a:prstGeom prst="rect">
            <a:avLst/>
          </a:prstGeom>
          <a:solidFill>
            <a:srgbClr val="FFF2CC"/>
          </a:solidFill>
          <a:ln w="11430">
            <a:solidFill>
              <a:srgbClr val="BF9000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激活x</a:t>
            </a:r>
            <a:endParaRPr sz="9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权重W</a:t>
            </a:r>
            <a:endParaRPr sz="9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0024E05-D24A-F7B1-4BAC-A91317651878}"/>
              </a:ext>
            </a:extLst>
          </p:cNvPr>
          <p:cNvSpPr>
            <a:spLocks noGrp="1"/>
          </p:cNvSpPr>
          <p:nvPr/>
        </p:nvSpPr>
        <p:spPr>
          <a:xfrm>
            <a:off x="1475105" y="247269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2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EEF0080-A5BF-8115-D56C-570F644CBF6D}"/>
              </a:ext>
            </a:extLst>
          </p:cNvPr>
          <p:cNvSpPr>
            <a:spLocks noGrp="1"/>
          </p:cNvSpPr>
          <p:nvPr/>
        </p:nvSpPr>
        <p:spPr>
          <a:xfrm>
            <a:off x="1735454" y="2377440"/>
            <a:ext cx="1193801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BF9000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s_s</a:t>
            </a:r>
            <a:r>
              <a:rPr lang="en-US" altLang="zh-CN" sz="90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cale</a:t>
            </a:r>
            <a:r>
              <a:rPr sz="90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= exp(theta)</a:t>
            </a:r>
          </a:p>
          <a:p>
            <a:pPr algn="ctr">
              <a:def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按通道平滑</a:t>
            </a:r>
            <a:endParaRPr sz="90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07F07FF-32EC-FC92-8E6B-5D520BC23B3F}"/>
              </a:ext>
            </a:extLst>
          </p:cNvPr>
          <p:cNvSpPr>
            <a:spLocks noGrp="1"/>
          </p:cNvSpPr>
          <p:nvPr/>
        </p:nvSpPr>
        <p:spPr>
          <a:xfrm>
            <a:off x="2919730" y="247269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2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098FE79-9D53-ECBF-2C26-17B4D2D25353}"/>
              </a:ext>
            </a:extLst>
          </p:cNvPr>
          <p:cNvSpPr>
            <a:spLocks noGrp="1"/>
          </p:cNvSpPr>
          <p:nvPr/>
        </p:nvSpPr>
        <p:spPr>
          <a:xfrm>
            <a:off x="3189605" y="2377440"/>
            <a:ext cx="10287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BF9000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11111"/>
                </a:solidFill>
                <a:latin typeface="Microsoft YaHei"/>
                <a:ea typeface="Microsoft YaHei"/>
              </a:rPr>
              <a:t>x / </a:t>
            </a:r>
            <a:r>
              <a:rPr sz="900" dirty="0" err="1">
                <a:solidFill>
                  <a:srgbClr val="111111"/>
                </a:solidFill>
                <a:latin typeface="Microsoft YaHei"/>
                <a:ea typeface="Microsoft YaHei"/>
              </a:rPr>
              <a:t>s_s</a:t>
            </a:r>
            <a:r>
              <a:rPr lang="en-US" altLang="zh-CN" sz="900" dirty="0" err="1">
                <a:solidFill>
                  <a:srgbClr val="111111"/>
                </a:solidFill>
                <a:latin typeface="Microsoft YaHei"/>
                <a:ea typeface="Microsoft YaHei"/>
              </a:rPr>
              <a:t>cale</a:t>
            </a:r>
            <a:endParaRPr sz="900" dirty="0">
              <a:solidFill>
                <a:srgbClr val="111111"/>
              </a:solidFill>
              <a:latin typeface="Microsoft YaHei"/>
              <a:ea typeface="Microsoft YaHei"/>
            </a:endParaRPr>
          </a:p>
          <a:p>
            <a:pPr algn="ctr">
              <a:defRPr sz="7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111111"/>
                </a:solidFill>
                <a:latin typeface="Microsoft YaHei"/>
                <a:ea typeface="Microsoft YaHei"/>
              </a:rPr>
              <a:t>W * </a:t>
            </a:r>
            <a:r>
              <a:rPr sz="900" dirty="0" err="1">
                <a:solidFill>
                  <a:srgbClr val="111111"/>
                </a:solidFill>
                <a:latin typeface="Microsoft YaHei"/>
                <a:ea typeface="Microsoft YaHei"/>
              </a:rPr>
              <a:t>s_s</a:t>
            </a:r>
            <a:r>
              <a:rPr lang="en-US" altLang="zh-CN" sz="900" dirty="0" err="1">
                <a:solidFill>
                  <a:srgbClr val="111111"/>
                </a:solidFill>
                <a:latin typeface="Microsoft YaHei"/>
                <a:ea typeface="Microsoft YaHei"/>
              </a:rPr>
              <a:t>cale</a:t>
            </a:r>
            <a:endParaRPr sz="900" dirty="0">
              <a:solidFill>
                <a:srgbClr val="111111"/>
              </a:solidFill>
              <a:latin typeface="Microsoft YaHei"/>
              <a:ea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CDF2BB3-F42F-F5E0-AF0B-97B15010E987}"/>
              </a:ext>
            </a:extLst>
          </p:cNvPr>
          <p:cNvSpPr>
            <a:spLocks noGrp="1"/>
          </p:cNvSpPr>
          <p:nvPr/>
        </p:nvSpPr>
        <p:spPr>
          <a:xfrm>
            <a:off x="4208780" y="2472690"/>
            <a:ext cx="28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1200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9F18FF7-E575-B995-4BEB-DE8F1937B836}"/>
              </a:ext>
            </a:extLst>
          </p:cNvPr>
          <p:cNvSpPr>
            <a:spLocks noGrp="1"/>
          </p:cNvSpPr>
          <p:nvPr/>
        </p:nvSpPr>
        <p:spPr>
          <a:xfrm>
            <a:off x="4469129" y="2377440"/>
            <a:ext cx="1398205" cy="400050"/>
          </a:xfrm>
          <a:prstGeom prst="rect">
            <a:avLst/>
          </a:prstGeom>
          <a:solidFill>
            <a:srgbClr val="FFF2CC"/>
          </a:solidFill>
          <a:ln w="11430">
            <a:solidFill>
              <a:srgbClr val="BF9000"/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动态范围迁移</a:t>
            </a:r>
          </a:p>
          <a:p>
            <a:pPr algn="ctr">
              <a:defRPr sz="713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QAT loss</a:t>
            </a:r>
            <a:r>
              <a:rPr lang="zh-CN" altLang="en-US" sz="9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反传更新</a:t>
            </a:r>
            <a:r>
              <a:rPr lang="en-US" altLang="zh-CN" sz="9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theta</a:t>
            </a:r>
            <a:endParaRPr lang="zh-CN" altLang="en-US" sz="9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105BBE9-4793-E583-205A-7DC0D7C7CA58}"/>
              </a:ext>
            </a:extLst>
          </p:cNvPr>
          <p:cNvSpPr>
            <a:spLocks noGrp="1"/>
          </p:cNvSpPr>
          <p:nvPr/>
        </p:nvSpPr>
        <p:spPr>
          <a:xfrm>
            <a:off x="4352925" y="1322962"/>
            <a:ext cx="1581901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675" b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00" dirty="0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weight scale </a:t>
            </a:r>
            <a:r>
              <a:rPr sz="900" dirty="0" err="1">
                <a:solidFill>
                  <a:srgbClr val="2F5597"/>
                </a:solidFill>
                <a:latin typeface="Microsoft YaHei"/>
                <a:ea typeface="Microsoft YaHei"/>
                <a:cs typeface="Microsoft YaHei"/>
              </a:rPr>
              <a:t>回写量化网格</a:t>
            </a:r>
            <a:endParaRPr sz="900" dirty="0">
              <a:solidFill>
                <a:srgbClr val="2F559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B826F9-4531-80F6-8219-9D9370285779}"/>
              </a:ext>
            </a:extLst>
          </p:cNvPr>
          <p:cNvSpPr>
            <a:spLocks noGrp="1"/>
          </p:cNvSpPr>
          <p:nvPr/>
        </p:nvSpPr>
        <p:spPr>
          <a:xfrm>
            <a:off x="2887981" y="2146513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638" b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W * </a:t>
            </a:r>
            <a:r>
              <a:rPr sz="900" dirty="0" err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s_s</a:t>
            </a:r>
            <a:r>
              <a:rPr lang="en-US" altLang="zh-CN" sz="900" dirty="0" err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cale</a:t>
            </a:r>
            <a:r>
              <a:rPr lang="en-US" altLang="zh-CN" sz="900" dirty="0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dirty="0" err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改变权重分布</a:t>
            </a:r>
            <a:r>
              <a:rPr sz="900" dirty="0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900" dirty="0" err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触发</a:t>
            </a:r>
            <a:r>
              <a:rPr lang="en-US" altLang="zh-CN" sz="900" dirty="0" err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weight</a:t>
            </a:r>
            <a:r>
              <a:rPr lang="en-US" altLang="zh-CN" sz="900" dirty="0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900" dirty="0" err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scale</a:t>
            </a:r>
            <a:r>
              <a:rPr sz="900" dirty="0" err="1">
                <a:solidFill>
                  <a:srgbClr val="8A6200"/>
                </a:solidFill>
                <a:latin typeface="Microsoft YaHei"/>
                <a:ea typeface="Microsoft YaHei"/>
                <a:cs typeface="Microsoft YaHei"/>
              </a:rPr>
              <a:t>动态跟踪</a:t>
            </a:r>
            <a:endParaRPr sz="900" dirty="0">
              <a:solidFill>
                <a:srgbClr val="8A62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9EA1289-3E89-1569-0CB4-4D972BB01E4D}"/>
              </a:ext>
            </a:extLst>
          </p:cNvPr>
          <p:cNvSpPr>
            <a:spLocks noGrp="1"/>
          </p:cNvSpPr>
          <p:nvPr/>
        </p:nvSpPr>
        <p:spPr>
          <a:xfrm>
            <a:off x="2735592" y="1905953"/>
            <a:ext cx="593408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28575" rIns="57150" bIns="28575" anchor="ctr"/>
          <a:lstStyle/>
          <a:p>
            <a:pPr algn="ctr">
              <a:defRPr sz="7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 dirty="0" err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协同耦合</a:t>
            </a:r>
            <a:endParaRPr sz="750" b="1" dirty="0">
              <a:solidFill>
                <a:srgbClr val="C00000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738664220"/>
      </p:ext>
    </p:extLst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</Words>
  <Application>Microsoft Office PowerPoint</Application>
  <DocSecurity>0</DocSecurity>
  <PresentationFormat>宽屏</PresentationFormat>
  <Paragraphs>90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FrutigerNext LT Bold</vt:lpstr>
      <vt:lpstr>FrutigerNext LT Medium</vt:lpstr>
      <vt:lpstr>FrutigerNext LT Regular</vt:lpstr>
      <vt:lpstr>黑体</vt:lpstr>
      <vt:lpstr>微软雅黑</vt:lpstr>
      <vt:lpstr>微软雅黑</vt:lpstr>
      <vt:lpstr>Arial</vt:lpstr>
      <vt:lpstr>自定义设计方案</vt:lpstr>
      <vt:lpstr>PowerPoint 演示文稿</vt:lpstr>
      <vt:lpstr>双尺度协同感知INT8 RL训推优化方法的技术方案和保护点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英博 孙</cp:lastModifiedBy>
  <cp:revision>1</cp:revision>
  <dcterms:created xsi:type="dcterms:W3CDTF">2026-06-05T07:21:25Z</dcterms:created>
  <dcterms:modified xsi:type="dcterms:W3CDTF">2026-06-05T08:49:07Z</dcterms:modified>
</cp:coreProperties>
</file>