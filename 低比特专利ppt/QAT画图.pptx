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4" y="6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BCF57-8EDF-41BD-813A-9E2434017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6E78E6-0F24-62D2-222E-F7C1E39AA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50139D-4677-0DFC-2794-827C5B7D11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B91AC4-59B4-4E0A-C7BE-C9FC3B46ED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57EE-1349-39C8-0477-5BEBD35A68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BE712-6E9A-3520-2F0E-E66EEA3C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46A330-F3AC-D1C3-4BE8-D6D1E5059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2E78D7-A2A9-54F4-F746-4838AB6462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3BB0FB-0984-2A7D-3863-286EE6D82F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594EA-57AC-0989-C5F7-C87347CCAB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4A8D7-8E55-5FBB-D5C2-B5E3E2A5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12B028-133F-16AF-CCDF-E68AEC93E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5F9C9-B166-369E-A426-BB89A951E5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AC640-0359-855F-D265-A2ADCE020B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24D838-D0C4-60F7-40CF-94BC73F1B4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9B9E9-D2D1-27E9-AE4B-B3F8AA4C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184B9-DDB6-7C0C-F044-CDCC53B85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94E10C-3660-264D-D87D-2F01FE8E8B6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F05F55-CD6C-010E-ACB4-8BE5217870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4486DE-C0AC-D0BA-D0DA-93AA2358D8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BF50EF-8F42-C575-D327-C606BE666D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B6B1B-B93E-7CC2-322B-9C364EE70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15915B-5648-FB99-A54E-813FC1367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440EE7-4019-EA52-7924-C7094548363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BCF2A9-D03E-5B00-D286-580EF4A3C6C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849551-128A-E829-58E4-7FC79ADF057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2B6052-8EA2-39F8-ED9D-C36934C23B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88DE2F-087D-E32F-8F37-27A2630203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342844-EE2F-9F03-2C60-166971FF65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B4C19-0BB0-D82C-7CDC-F2F60CED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9F8ABD-1910-05C4-3ADF-A143D67288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F259A5-8CA9-0F5B-AB7B-81BB615B9F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144304-59E5-430B-097A-E9DC95D475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39DB3D-3EA3-9106-E6BF-70D4C1ED56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60DC86-DE0E-746A-E5E1-DE2D24E4B9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C8FECD-3511-F2A4-AAAD-FC67CB5C44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11362-D097-26C6-7C49-86D60DDD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2D50A-55E8-A457-C3D5-FAB7CE496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B39A3F-0E7B-AA40-BD20-A9D193FC56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B55591-307B-44B8-CC6F-00A2617159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347083-40A7-1DBE-70D7-CE9FE85301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E86420-B530-F3F1-F816-61409B503F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2F8A4-E6EC-63E6-6920-3832FDDC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A44B8C-7097-5C55-882C-3BEA7C090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4FD1A1-5F81-3F4B-59AD-E63D030045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0E27C2-2B02-A608-2D6B-DD76025995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F1C450-7EEB-3914-14A6-4619BD394C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F6D65-E076-F88A-921F-279F43F853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1AC2F-E380-386C-6209-ABC0CF8A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A63637-1A4E-96A3-EA63-7AC5A3FCF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3A2DD-19B2-0C64-0AF0-A688D61BFF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14BB0-34B9-12C3-F1C8-B1DAD8DAFB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9D3937-B3C6-F4DB-2B20-67FDE2B75D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72D037-9508-79D7-EF30-8D99245B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89E3E8-D512-60AC-4635-FA632D434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65228E-755A-D604-FB30-72AF5766FB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E4D622-221F-37BF-4C80-0BE45934CE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B8DCFD-7C8C-7A51-9B08-842F8B11B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C0F9DD-9887-4402-B101-CAFEB060BE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7E9C27-F11B-EB61-E6CF-D16E7F00E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B94B38-335D-B431-01F2-0BC1C717F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F713A8-6274-111C-295D-D5AB0461A81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7593C-5878-41E1-BA80-F086ED431EC1}" type="datetimeFigureOut">
              <a:t>2026/6/15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69A3C5-5674-2DDC-21AA-197DB91C323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C8D99-249D-1A26-5490-EA824186FD0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0F9DD-9887-4402-B101-CAFEB060BE4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C6739A-FDD0-4B00-DDFA-553678E8F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0" y="1342519"/>
            <a:ext cx="11906520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9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A9E7996-E73F-B6F9-DFBC-E28719227F0E}"/>
              </a:ext>
            </a:extLst>
          </p:cNvPr>
          <p:cNvSpPr/>
          <p:nvPr/>
        </p:nvSpPr>
        <p:spPr>
          <a:xfrm>
            <a:off x="2037248" y="1653580"/>
            <a:ext cx="6599408" cy="2155630"/>
          </a:xfrm>
          <a:prstGeom prst="rect">
            <a:avLst/>
          </a:prstGeom>
          <a:solidFill>
            <a:srgbClr val="7030A0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1A1355C2-F694-68E3-C038-AB025F057C92}"/>
              </a:ext>
            </a:extLst>
          </p:cNvPr>
          <p:cNvGraphicFramePr>
            <a:graphicFrameLocks noGrp="1"/>
          </p:cNvGraphicFramePr>
          <p:nvPr/>
        </p:nvGraphicFramePr>
        <p:xfrm>
          <a:off x="401222" y="1744506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36209069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81167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183496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443587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EAE2B390-1215-1094-C581-E049B3561FB5}"/>
              </a:ext>
            </a:extLst>
          </p:cNvPr>
          <p:cNvGraphicFramePr>
            <a:graphicFrameLocks noGrp="1"/>
          </p:cNvGraphicFramePr>
          <p:nvPr/>
        </p:nvGraphicFramePr>
        <p:xfrm>
          <a:off x="401222" y="1960606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36209069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81167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183496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44358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3643DE7-4E97-D016-3A66-65D3DDED975B}"/>
              </a:ext>
            </a:extLst>
          </p:cNvPr>
          <p:cNvGraphicFramePr>
            <a:graphicFrameLocks noGrp="1"/>
          </p:cNvGraphicFramePr>
          <p:nvPr/>
        </p:nvGraphicFramePr>
        <p:xfrm>
          <a:off x="401222" y="2292030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36209069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81167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183496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443587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29FB6F3-D2B3-357E-A4D7-58C26491C25E}"/>
              </a:ext>
            </a:extLst>
          </p:cNvPr>
          <p:cNvSpPr txBox="1"/>
          <p:nvPr/>
        </p:nvSpPr>
        <p:spPr>
          <a:xfrm>
            <a:off x="546286" y="1951709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78" rt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12">
            <a:extLst>
              <a:ext uri="{FF2B5EF4-FFF2-40B4-BE49-F238E27FC236}">
                <a16:creationId xmlns:a16="http://schemas.microsoft.com/office/drawing/2014/main" id="{1EB14943-5016-DC02-ED94-B78EC05CC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961607"/>
              </p:ext>
            </p:extLst>
          </p:nvPr>
        </p:nvGraphicFramePr>
        <p:xfrm>
          <a:off x="364204" y="2985696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1595901259"/>
                    </a:ext>
                  </a:extLst>
                </a:gridCol>
              </a:tblGrid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857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89748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337863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56365"/>
                  </a:ext>
                </a:extLst>
              </a:tr>
            </a:tbl>
          </a:graphicData>
        </a:graphic>
      </p:graphicFrame>
      <p:graphicFrame>
        <p:nvGraphicFramePr>
          <p:cNvPr id="10" name="表格 12">
            <a:extLst>
              <a:ext uri="{FF2B5EF4-FFF2-40B4-BE49-F238E27FC236}">
                <a16:creationId xmlns:a16="http://schemas.microsoft.com/office/drawing/2014/main" id="{00B89249-BBC4-40F7-2B49-DB84B97F3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121738"/>
              </p:ext>
            </p:extLst>
          </p:nvPr>
        </p:nvGraphicFramePr>
        <p:xfrm>
          <a:off x="626206" y="2985696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1595901259"/>
                    </a:ext>
                  </a:extLst>
                </a:gridCol>
              </a:tblGrid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857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89748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337863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56365"/>
                  </a:ext>
                </a:extLst>
              </a:tr>
            </a:tbl>
          </a:graphicData>
        </a:graphic>
      </p:graphicFrame>
      <p:graphicFrame>
        <p:nvGraphicFramePr>
          <p:cNvPr id="11" name="表格 12">
            <a:extLst>
              <a:ext uri="{FF2B5EF4-FFF2-40B4-BE49-F238E27FC236}">
                <a16:creationId xmlns:a16="http://schemas.microsoft.com/office/drawing/2014/main" id="{DEE0BC4D-E908-7693-FA3D-54C865E1C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86920"/>
              </p:ext>
            </p:extLst>
          </p:nvPr>
        </p:nvGraphicFramePr>
        <p:xfrm>
          <a:off x="1011659" y="2982263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1595901259"/>
                    </a:ext>
                  </a:extLst>
                </a:gridCol>
              </a:tblGrid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857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89748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337863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56365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AB0E88E1-E922-AFF8-E27A-8FDBF1B7A952}"/>
              </a:ext>
            </a:extLst>
          </p:cNvPr>
          <p:cNvSpPr txBox="1"/>
          <p:nvPr/>
        </p:nvSpPr>
        <p:spPr>
          <a:xfrm rot="16200000">
            <a:off x="577802" y="315988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78" rt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3A00EF-013C-BF45-749E-29A6DF985A2C}"/>
              </a:ext>
            </a:extLst>
          </p:cNvPr>
          <p:cNvSpPr txBox="1"/>
          <p:nvPr/>
        </p:nvSpPr>
        <p:spPr>
          <a:xfrm>
            <a:off x="417925" y="1503583"/>
            <a:ext cx="833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759CEB-855E-600D-7E2A-FD07D9B7DA25}"/>
              </a:ext>
            </a:extLst>
          </p:cNvPr>
          <p:cNvSpPr txBox="1"/>
          <p:nvPr/>
        </p:nvSpPr>
        <p:spPr>
          <a:xfrm>
            <a:off x="304969" y="2739734"/>
            <a:ext cx="1059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5DCFC87-5EF0-4293-C256-E213A9CE0219}"/>
              </a:ext>
            </a:extLst>
          </p:cNvPr>
          <p:cNvCxnSpPr>
            <a:cxnSpLocks/>
          </p:cNvCxnSpPr>
          <p:nvPr/>
        </p:nvCxnSpPr>
        <p:spPr>
          <a:xfrm flipH="1" flipV="1">
            <a:off x="1764261" y="2091480"/>
            <a:ext cx="318730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88CCA8F-6EC8-0AE4-D20B-136ABFE02000}"/>
              </a:ext>
            </a:extLst>
          </p:cNvPr>
          <p:cNvCxnSpPr>
            <a:cxnSpLocks/>
          </p:cNvCxnSpPr>
          <p:nvPr/>
        </p:nvCxnSpPr>
        <p:spPr>
          <a:xfrm flipH="1" flipV="1">
            <a:off x="1757296" y="3336216"/>
            <a:ext cx="318730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3C1CA82-6942-0385-8A90-D81140CD6C24}"/>
              </a:ext>
            </a:extLst>
          </p:cNvPr>
          <p:cNvSpPr txBox="1"/>
          <p:nvPr/>
        </p:nvSpPr>
        <p:spPr>
          <a:xfrm>
            <a:off x="177408" y="1488544"/>
            <a:ext cx="710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0C70D3-B955-80DC-6937-B7FBEABDFDF8}"/>
              </a:ext>
            </a:extLst>
          </p:cNvPr>
          <p:cNvSpPr txBox="1"/>
          <p:nvPr/>
        </p:nvSpPr>
        <p:spPr>
          <a:xfrm>
            <a:off x="180480" y="2745025"/>
            <a:ext cx="710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graphicFrame>
        <p:nvGraphicFramePr>
          <p:cNvPr id="19" name="表格 12">
            <a:extLst>
              <a:ext uri="{FF2B5EF4-FFF2-40B4-BE49-F238E27FC236}">
                <a16:creationId xmlns:a16="http://schemas.microsoft.com/office/drawing/2014/main" id="{ABDA78F7-2EF7-5ED4-A284-CB0DBB6EBABB}"/>
              </a:ext>
            </a:extLst>
          </p:cNvPr>
          <p:cNvGraphicFramePr>
            <a:graphicFrameLocks noGrp="1"/>
          </p:cNvGraphicFramePr>
          <p:nvPr/>
        </p:nvGraphicFramePr>
        <p:xfrm>
          <a:off x="1496869" y="1746617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1595901259"/>
                    </a:ext>
                  </a:extLst>
                </a:gridCol>
              </a:tblGrid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857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89748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337863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56365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DDE6E09E-ADBA-EB16-AB21-5B007484ADE0}"/>
              </a:ext>
            </a:extLst>
          </p:cNvPr>
          <p:cNvSpPr txBox="1"/>
          <p:nvPr/>
        </p:nvSpPr>
        <p:spPr>
          <a:xfrm>
            <a:off x="905447" y="1268557"/>
            <a:ext cx="1374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78" rtl="0"/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(learnable)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78" rtl="0"/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smooth scale</a:t>
            </a:r>
          </a:p>
        </p:txBody>
      </p:sp>
      <p:graphicFrame>
        <p:nvGraphicFramePr>
          <p:cNvPr id="21" name="表格 12">
            <a:extLst>
              <a:ext uri="{FF2B5EF4-FFF2-40B4-BE49-F238E27FC236}">
                <a16:creationId xmlns:a16="http://schemas.microsoft.com/office/drawing/2014/main" id="{925B9FC2-2200-3F0B-1744-FBD2CD612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148404"/>
              </p:ext>
            </p:extLst>
          </p:nvPr>
        </p:nvGraphicFramePr>
        <p:xfrm>
          <a:off x="1504805" y="2974515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1595901259"/>
                    </a:ext>
                  </a:extLst>
                </a:gridCol>
              </a:tblGrid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b="1" kern="1200">
                          <a:solidFill>
                            <a:schemeClr val="bg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857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897486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337863"/>
                  </a:ext>
                </a:extLst>
              </a:tr>
              <a:tr h="178791">
                <a:tc>
                  <a:txBody>
                    <a:bodyPr/>
                    <a:lstStyle>
                      <a:lvl1pPr marL="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900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7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699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598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4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396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7297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1195" algn="l" defTabSz="1187798" rtl="0" eaLnBrk="1" latinLnBrk="0" hangingPunct="1">
                        <a:buNone/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5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56365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348B09DF-6EC6-56FB-4626-CC6A32F65E61}"/>
              </a:ext>
            </a:extLst>
          </p:cNvPr>
          <p:cNvSpPr txBox="1"/>
          <p:nvPr/>
        </p:nvSpPr>
        <p:spPr>
          <a:xfrm>
            <a:off x="1158819" y="1956663"/>
            <a:ext cx="424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÷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890BFC-B1DE-A67C-895B-E399512D8427}"/>
              </a:ext>
            </a:extLst>
          </p:cNvPr>
          <p:cNvSpPr txBox="1"/>
          <p:nvPr/>
        </p:nvSpPr>
        <p:spPr>
          <a:xfrm>
            <a:off x="1149376" y="3182327"/>
            <a:ext cx="424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5CBBA05-2460-1D94-2795-625BE90CBF24}"/>
              </a:ext>
            </a:extLst>
          </p:cNvPr>
          <p:cNvSpPr/>
          <p:nvPr/>
        </p:nvSpPr>
        <p:spPr>
          <a:xfrm>
            <a:off x="2104259" y="1859008"/>
            <a:ext cx="1868101" cy="51483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lnSpc>
                <a:spcPct val="12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量化映射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>
              <a:lnSpc>
                <a:spcPct val="120000"/>
              </a:lnSpc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/ scale +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zp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D5DA6DC-6203-929C-0A1E-2DC520081E2B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6070880" y="2112402"/>
            <a:ext cx="386517" cy="0"/>
          </a:xfrm>
          <a:prstGeom prst="straightConnector1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201691A-0764-CB24-74A0-E7CC5FE7D139}"/>
              </a:ext>
            </a:extLst>
          </p:cNvPr>
          <p:cNvSpPr/>
          <p:nvPr/>
        </p:nvSpPr>
        <p:spPr>
          <a:xfrm>
            <a:off x="4264968" y="1854984"/>
            <a:ext cx="1805912" cy="51483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lnSpc>
                <a:spcPct val="12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舍入 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截断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>
              <a:lnSpc>
                <a:spcPct val="120000"/>
              </a:lnSpc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Clamp(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04A658A-F757-655C-4479-FA37EDEF6304}"/>
              </a:ext>
            </a:extLst>
          </p:cNvPr>
          <p:cNvCxnSpPr>
            <a:cxnSpLocks/>
          </p:cNvCxnSpPr>
          <p:nvPr/>
        </p:nvCxnSpPr>
        <p:spPr>
          <a:xfrm flipH="1">
            <a:off x="3972360" y="2112402"/>
            <a:ext cx="292608" cy="0"/>
          </a:xfrm>
          <a:prstGeom prst="straightConnector1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D369554-D327-4E54-5A57-2DC44C57E848}"/>
              </a:ext>
            </a:extLst>
          </p:cNvPr>
          <p:cNvSpPr/>
          <p:nvPr/>
        </p:nvSpPr>
        <p:spPr>
          <a:xfrm>
            <a:off x="6457397" y="1854984"/>
            <a:ext cx="2095217" cy="51483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lnSpc>
                <a:spcPct val="12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反量化映射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>
              <a:lnSpc>
                <a:spcPct val="120000"/>
              </a:lnSpc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zp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*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FCBD2E4-B32D-192D-AAEF-0BB02A7E156D}"/>
              </a:ext>
            </a:extLst>
          </p:cNvPr>
          <p:cNvSpPr/>
          <p:nvPr/>
        </p:nvSpPr>
        <p:spPr>
          <a:xfrm>
            <a:off x="8926596" y="1943701"/>
            <a:ext cx="614477" cy="33740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5AA38C0-6315-4A0D-3A5B-3C7E224BA42C}"/>
              </a:ext>
            </a:extLst>
          </p:cNvPr>
          <p:cNvSpPr txBox="1"/>
          <p:nvPr/>
        </p:nvSpPr>
        <p:spPr>
          <a:xfrm>
            <a:off x="1610398" y="1820904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78" rtl="0"/>
            <a:r>
              <a:rPr lang="en-US" altLang="zh-CN" sz="1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endParaRPr lang="zh-CN" altLang="en-US" sz="1100" dirty="0">
              <a:solidFill>
                <a:srgbClr val="FF0000"/>
              </a:solidFill>
              <a:latin typeface="Calibri" panose="020F0502020204030204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1B6D7DC-3BA3-5B7B-6A5B-04E86216545C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>
            <a:off x="8552614" y="2112402"/>
            <a:ext cx="373982" cy="0"/>
          </a:xfrm>
          <a:prstGeom prst="straightConnector1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07BE3FF-A2B0-8EEE-6F9B-8ED4927D9DDC}"/>
              </a:ext>
            </a:extLst>
          </p:cNvPr>
          <p:cNvSpPr txBox="1"/>
          <p:nvPr/>
        </p:nvSpPr>
        <p:spPr>
          <a:xfrm>
            <a:off x="4917632" y="1631271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int 8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93405DE-6DBA-CFA8-1B72-BA2F03F42BAE}"/>
              </a:ext>
            </a:extLst>
          </p:cNvPr>
          <p:cNvSpPr/>
          <p:nvPr/>
        </p:nvSpPr>
        <p:spPr>
          <a:xfrm>
            <a:off x="2087510" y="3091587"/>
            <a:ext cx="1868101" cy="51483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lnSpc>
                <a:spcPct val="12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量化映射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>
              <a:lnSpc>
                <a:spcPct val="120000"/>
              </a:lnSpc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/ 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zp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2654BA8-CC7B-511D-9843-8D037FAC6F46}"/>
              </a:ext>
            </a:extLst>
          </p:cNvPr>
          <p:cNvCxnSpPr>
            <a:cxnSpLocks/>
            <a:stCxn id="37" idx="1"/>
            <a:endCxn id="35" idx="3"/>
          </p:cNvCxnSpPr>
          <p:nvPr/>
        </p:nvCxnSpPr>
        <p:spPr>
          <a:xfrm flipH="1">
            <a:off x="6054131" y="3344981"/>
            <a:ext cx="386517" cy="0"/>
          </a:xfrm>
          <a:prstGeom prst="straightConnector1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C6AF37F-2444-58B5-F68C-D8FE4716A631}"/>
              </a:ext>
            </a:extLst>
          </p:cNvPr>
          <p:cNvSpPr/>
          <p:nvPr/>
        </p:nvSpPr>
        <p:spPr>
          <a:xfrm>
            <a:off x="4248219" y="3087563"/>
            <a:ext cx="1805912" cy="51483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lnSpc>
                <a:spcPct val="12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舍入 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截断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>
              <a:lnSpc>
                <a:spcPct val="120000"/>
              </a:lnSpc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Clamp(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C70D4BB-A1FF-0D36-571E-732CA181EDB8}"/>
              </a:ext>
            </a:extLst>
          </p:cNvPr>
          <p:cNvCxnSpPr>
            <a:cxnSpLocks/>
          </p:cNvCxnSpPr>
          <p:nvPr/>
        </p:nvCxnSpPr>
        <p:spPr>
          <a:xfrm flipH="1">
            <a:off x="3955611" y="3344981"/>
            <a:ext cx="292608" cy="0"/>
          </a:xfrm>
          <a:prstGeom prst="straightConnector1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38D4677-5E63-7A93-0238-A7B1CF8BAFA7}"/>
              </a:ext>
            </a:extLst>
          </p:cNvPr>
          <p:cNvSpPr/>
          <p:nvPr/>
        </p:nvSpPr>
        <p:spPr>
          <a:xfrm>
            <a:off x="6440648" y="3087563"/>
            <a:ext cx="2095217" cy="51483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lnSpc>
                <a:spcPct val="12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反量化映射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>
              <a:lnSpc>
                <a:spcPct val="120000"/>
              </a:lnSpc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 kern="0" baseline="-25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zp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* 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 scale</a:t>
            </a:r>
            <a:endParaRPr lang="zh-CN" altLang="en-US" sz="12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8C0B0C1-9920-2FA8-2C92-1FC3542020E4}"/>
              </a:ext>
            </a:extLst>
          </p:cNvPr>
          <p:cNvSpPr/>
          <p:nvPr/>
        </p:nvSpPr>
        <p:spPr>
          <a:xfrm>
            <a:off x="8922382" y="3176280"/>
            <a:ext cx="614477" cy="33740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B40E0BA-3E6A-027D-0AA7-BDB23EF6E8A0}"/>
              </a:ext>
            </a:extLst>
          </p:cNvPr>
          <p:cNvSpPr txBox="1"/>
          <p:nvPr/>
        </p:nvSpPr>
        <p:spPr>
          <a:xfrm>
            <a:off x="1593649" y="3053483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78" rtl="0"/>
            <a:r>
              <a:rPr lang="en-US" altLang="zh-CN" sz="1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endParaRPr lang="zh-CN" altLang="en-US" sz="11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CFC0BAA-4D4D-F1F3-E98D-B6F9901CD841}"/>
              </a:ext>
            </a:extLst>
          </p:cNvPr>
          <p:cNvSpPr txBox="1"/>
          <p:nvPr/>
        </p:nvSpPr>
        <p:spPr>
          <a:xfrm>
            <a:off x="8439609" y="3096183"/>
            <a:ext cx="6125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 rtl="0"/>
            <a:r>
              <a:rPr lang="en-US" altLang="zh-CN" sz="1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endParaRPr lang="zh-CN" altLang="en-US" sz="11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302F9D0-C35C-FEF0-BFC2-640F81C6ED08}"/>
              </a:ext>
            </a:extLst>
          </p:cNvPr>
          <p:cNvCxnSpPr>
            <a:cxnSpLocks/>
            <a:stCxn id="38" idx="1"/>
            <a:endCxn id="37" idx="3"/>
          </p:cNvCxnSpPr>
          <p:nvPr/>
        </p:nvCxnSpPr>
        <p:spPr>
          <a:xfrm flipH="1">
            <a:off x="8535865" y="3344981"/>
            <a:ext cx="386517" cy="0"/>
          </a:xfrm>
          <a:prstGeom prst="straightConnector1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EB98523-571F-F81E-6CFC-3E316665498F}"/>
              </a:ext>
            </a:extLst>
          </p:cNvPr>
          <p:cNvSpPr txBox="1"/>
          <p:nvPr/>
        </p:nvSpPr>
        <p:spPr>
          <a:xfrm>
            <a:off x="2462315" y="3581723"/>
            <a:ext cx="1019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78" rtl="0"/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(learnable)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AE719BB-6474-B2D1-8B01-3EE5144C706D}"/>
              </a:ext>
            </a:extLst>
          </p:cNvPr>
          <p:cNvSpPr txBox="1"/>
          <p:nvPr/>
        </p:nvSpPr>
        <p:spPr>
          <a:xfrm>
            <a:off x="7429229" y="3580703"/>
            <a:ext cx="1019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78" rtl="0"/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(learnable)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FD1834-DD0B-7329-4E64-181D660F689F}"/>
              </a:ext>
            </a:extLst>
          </p:cNvPr>
          <p:cNvSpPr txBox="1"/>
          <p:nvPr/>
        </p:nvSpPr>
        <p:spPr>
          <a:xfrm>
            <a:off x="4900883" y="2869751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int 8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3D0DB18-B8C9-083F-3A74-CE2229E8C0EC}"/>
              </a:ext>
            </a:extLst>
          </p:cNvPr>
          <p:cNvSpPr txBox="1"/>
          <p:nvPr/>
        </p:nvSpPr>
        <p:spPr>
          <a:xfrm>
            <a:off x="8439609" y="1851508"/>
            <a:ext cx="6125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 rtl="0"/>
            <a:r>
              <a:rPr lang="en-US" altLang="zh-CN" sz="1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endParaRPr lang="zh-CN" altLang="en-US" sz="11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activation-smooth-branch-outline">
            <a:extLst>
              <a:ext uri="{FF2B5EF4-FFF2-40B4-BE49-F238E27FC236}">
                <a16:creationId xmlns:a16="http://schemas.microsoft.com/office/drawing/2014/main" id="{7D04E5DD-AF35-9AF1-085B-B0262ADD2B4D}"/>
              </a:ext>
            </a:extLst>
          </p:cNvPr>
          <p:cNvSpPr>
            <a:spLocks noGrp="1"/>
          </p:cNvSpPr>
          <p:nvPr/>
        </p:nvSpPr>
        <p:spPr>
          <a:xfrm>
            <a:off x="220914" y="1268557"/>
            <a:ext cx="9394575" cy="1276989"/>
          </a:xfrm>
          <a:prstGeom prst="roundRect">
            <a:avLst>
              <a:gd name="adj" fmla="val 8276"/>
            </a:avLst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47" name="weight-scale-branch-outline">
            <a:extLst>
              <a:ext uri="{FF2B5EF4-FFF2-40B4-BE49-F238E27FC236}">
                <a16:creationId xmlns:a16="http://schemas.microsoft.com/office/drawing/2014/main" id="{2C0F4BFC-30E9-CF22-5E4E-2870D92E31E7}"/>
              </a:ext>
            </a:extLst>
          </p:cNvPr>
          <p:cNvSpPr>
            <a:spLocks noGrp="1"/>
          </p:cNvSpPr>
          <p:nvPr/>
        </p:nvSpPr>
        <p:spPr>
          <a:xfrm>
            <a:off x="220914" y="2749949"/>
            <a:ext cx="9394575" cy="1233260"/>
          </a:xfrm>
          <a:prstGeom prst="roundRect">
            <a:avLst>
              <a:gd name="adj" fmla="val 9231"/>
            </a:avLst>
          </a:prstGeom>
          <a:noFill/>
          <a:ln w="19050">
            <a:solidFill>
              <a:srgbClr val="F97316"/>
            </a:solidFill>
            <a:prstDash val="dash"/>
          </a:ln>
        </p:spPr>
      </p:sp>
      <p:sp>
        <p:nvSpPr>
          <p:cNvPr id="48" name="smooth-scale-role-card">
            <a:extLst>
              <a:ext uri="{FF2B5EF4-FFF2-40B4-BE49-F238E27FC236}">
                <a16:creationId xmlns:a16="http://schemas.microsoft.com/office/drawing/2014/main" id="{5A50ACA7-708B-16D0-E259-A40BA89E7F8D}"/>
              </a:ext>
            </a:extLst>
          </p:cNvPr>
          <p:cNvSpPr>
            <a:spLocks noGrp="1"/>
          </p:cNvSpPr>
          <p:nvPr/>
        </p:nvSpPr>
        <p:spPr>
          <a:xfrm>
            <a:off x="3159679" y="971793"/>
            <a:ext cx="3003973" cy="633598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4288">
            <a:solidFill>
              <a:srgbClr val="14B8A6"/>
            </a:solidFill>
            <a:prstDash val="solid"/>
          </a:ln>
        </p:spPr>
        <p:txBody>
          <a:bodyPr/>
          <a:lstStyle/>
          <a:p>
            <a:pPr algn="ctr" defTabSz="914478" rtl="0">
              <a:def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rPr>
              <a:t>Smooth scale：激活侧平滑</a:t>
            </a:r>
          </a:p>
          <a:p>
            <a:pPr algn="ctr" defTabSz="914478" rtl="0">
              <a:def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rPr>
              <a:t>x' = x / s_smooth</a:t>
            </a:r>
          </a:p>
          <a:p>
            <a:pPr algn="ctr" defTabSz="914478" rtl="0">
              <a:def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rPr>
              <a:t>压缩离群值动态范围，降低A8截断/舍入扰动</a:t>
            </a:r>
          </a:p>
        </p:txBody>
      </p:sp>
      <p:sp>
        <p:nvSpPr>
          <p:cNvPr id="49" name="weight-scale-role-card">
            <a:extLst>
              <a:ext uri="{FF2B5EF4-FFF2-40B4-BE49-F238E27FC236}">
                <a16:creationId xmlns:a16="http://schemas.microsoft.com/office/drawing/2014/main" id="{84D7EF42-9358-17ED-A5F4-2EBDB4157937}"/>
              </a:ext>
            </a:extLst>
          </p:cNvPr>
          <p:cNvSpPr>
            <a:spLocks noGrp="1"/>
          </p:cNvSpPr>
          <p:nvPr/>
        </p:nvSpPr>
        <p:spPr>
          <a:xfrm>
            <a:off x="3241729" y="3855465"/>
            <a:ext cx="2941132" cy="675395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 defTabSz="914478" rtl="0">
              <a:def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Weight </a:t>
            </a:r>
            <a:r>
              <a:rPr sz="1100" dirty="0" err="1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scale：权重侧量化网格</a:t>
            </a:r>
            <a:endParaRPr sz="1100" dirty="0">
              <a:solidFill>
                <a:srgbClr val="7C2D12"/>
              </a:solidFill>
              <a:latin typeface="Microsoft YaHei"/>
              <a:ea typeface="Microsoft YaHei"/>
              <a:cs typeface="Microsoft YaHei"/>
            </a:endParaRPr>
          </a:p>
          <a:p>
            <a:pPr algn="ctr" defTabSz="914478" rtl="0">
              <a:def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 err="1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Δw随平滑后权重分布学习更新</a:t>
            </a:r>
            <a:endParaRPr sz="1100" dirty="0">
              <a:solidFill>
                <a:srgbClr val="7C2D12"/>
              </a:solidFill>
              <a:latin typeface="Microsoft YaHei"/>
              <a:ea typeface="Microsoft YaHei"/>
              <a:cs typeface="Microsoft YaHei"/>
            </a:endParaRPr>
          </a:p>
          <a:p>
            <a:pPr algn="ctr" defTabSz="914478" rtl="0">
              <a:def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 err="1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跟踪</a:t>
            </a:r>
            <a:r>
              <a:rPr sz="1100" dirty="0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 W' = W × </a:t>
            </a:r>
            <a:r>
              <a:rPr sz="1100" dirty="0" err="1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s_smooth</a:t>
            </a:r>
            <a:r>
              <a:rPr sz="1100" dirty="0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dirty="0" err="1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的动态范围</a:t>
            </a:r>
            <a:endParaRPr sz="1100" dirty="0">
              <a:solidFill>
                <a:srgbClr val="7C2D1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dual-scale-core-card">
            <a:extLst>
              <a:ext uri="{FF2B5EF4-FFF2-40B4-BE49-F238E27FC236}">
                <a16:creationId xmlns:a16="http://schemas.microsoft.com/office/drawing/2014/main" id="{6555843B-4B17-D291-F68D-26DC4AA03200}"/>
              </a:ext>
            </a:extLst>
          </p:cNvPr>
          <p:cNvSpPr>
            <a:spLocks noGrp="1"/>
          </p:cNvSpPr>
          <p:nvPr/>
        </p:nvSpPr>
        <p:spPr>
          <a:xfrm>
            <a:off x="9739978" y="2226248"/>
            <a:ext cx="2332005" cy="931643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 defTabSz="914478" rtl="0">
              <a:lnSpc>
                <a:spcPct val="150000"/>
              </a:lnSpc>
              <a:defRPr sz="99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双尺度协同量化</a:t>
            </a:r>
            <a:endParaRPr lang="en-US" sz="1100" b="1" dirty="0">
              <a:solidFill>
                <a:srgbClr val="1D4ED8"/>
              </a:solidFill>
              <a:latin typeface="Microsoft YaHei"/>
              <a:ea typeface="Microsoft YaHei"/>
              <a:cs typeface="Microsoft YaHei"/>
            </a:endParaRPr>
          </a:p>
          <a:p>
            <a:pPr algn="ctr" defTabSz="914478" rtl="0">
              <a:lnSpc>
                <a:spcPct val="150000"/>
              </a:lnSpc>
              <a:defRPr sz="99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100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mooth scale</a:t>
            </a:r>
            <a:r>
              <a:rPr lang="en-US" sz="1100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dirty="0" err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迁移激活异常值</a:t>
            </a:r>
            <a:endParaRPr lang="en-US" sz="1100" dirty="0">
              <a:solidFill>
                <a:srgbClr val="1E3A8A"/>
              </a:solidFill>
              <a:latin typeface="Microsoft YaHei"/>
              <a:ea typeface="Microsoft YaHei"/>
              <a:cs typeface="Microsoft YaHei"/>
            </a:endParaRPr>
          </a:p>
          <a:p>
            <a:pPr algn="ctr" defTabSz="914478" rtl="0">
              <a:lnSpc>
                <a:spcPct val="150000"/>
              </a:lnSpc>
              <a:defRPr sz="99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W</a:t>
            </a:r>
            <a:r>
              <a:rPr sz="1100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eight scale</a:t>
            </a:r>
            <a:r>
              <a:rPr lang="en-US" sz="1100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dirty="0" err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重配权重量化步长</a:t>
            </a:r>
            <a:endParaRPr sz="1100" dirty="0">
              <a:solidFill>
                <a:srgbClr val="1E3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activation-branch-tag">
            <a:extLst>
              <a:ext uri="{FF2B5EF4-FFF2-40B4-BE49-F238E27FC236}">
                <a16:creationId xmlns:a16="http://schemas.microsoft.com/office/drawing/2014/main" id="{3CAB9645-AAF6-65E0-9478-F2D1ACB6E9AE}"/>
              </a:ext>
            </a:extLst>
          </p:cNvPr>
          <p:cNvSpPr>
            <a:spLocks noGrp="1"/>
          </p:cNvSpPr>
          <p:nvPr/>
        </p:nvSpPr>
        <p:spPr>
          <a:xfrm>
            <a:off x="2947983" y="743518"/>
            <a:ext cx="2169905" cy="251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914478" rtl="0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激活路径：平滑后再伪量化</a:t>
            </a:r>
            <a:endParaRPr sz="1100" b="1" dirty="0">
              <a:solidFill>
                <a:srgbClr val="0F766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weight-branch-tag">
            <a:extLst>
              <a:ext uri="{FF2B5EF4-FFF2-40B4-BE49-F238E27FC236}">
                <a16:creationId xmlns:a16="http://schemas.microsoft.com/office/drawing/2014/main" id="{DB43B061-5C6D-1FFA-3A82-58AE7AAFD166}"/>
              </a:ext>
            </a:extLst>
          </p:cNvPr>
          <p:cNvSpPr>
            <a:spLocks noGrp="1"/>
          </p:cNvSpPr>
          <p:nvPr/>
        </p:nvSpPr>
        <p:spPr>
          <a:xfrm>
            <a:off x="3117736" y="4530860"/>
            <a:ext cx="226096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914478" rtl="0">
              <a:def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 err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权重路径：量化因子可学习更新</a:t>
            </a:r>
            <a:endParaRPr sz="1100" b="1" dirty="0">
              <a:solidFill>
                <a:srgbClr val="C2410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smooth-weight-coupling-arrow">
            <a:extLst>
              <a:ext uri="{FF2B5EF4-FFF2-40B4-BE49-F238E27FC236}">
                <a16:creationId xmlns:a16="http://schemas.microsoft.com/office/drawing/2014/main" id="{2E070CF8-2572-A480-C718-E75834FF4A41}"/>
              </a:ext>
            </a:extLst>
          </p:cNvPr>
          <p:cNvSpPr>
            <a:spLocks noGrp="1"/>
          </p:cNvSpPr>
          <p:nvPr/>
        </p:nvSpPr>
        <p:spPr>
          <a:xfrm>
            <a:off x="1364002" y="2260368"/>
            <a:ext cx="2252" cy="793115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4" name="coupling-equivalence-label">
            <a:extLst>
              <a:ext uri="{FF2B5EF4-FFF2-40B4-BE49-F238E27FC236}">
                <a16:creationId xmlns:a16="http://schemas.microsoft.com/office/drawing/2014/main" id="{1D9A7F07-CB86-3EE3-3231-2BA314979F3A}"/>
              </a:ext>
            </a:extLst>
          </p:cNvPr>
          <p:cNvSpPr>
            <a:spLocks noGrp="1"/>
          </p:cNvSpPr>
          <p:nvPr/>
        </p:nvSpPr>
        <p:spPr>
          <a:xfrm>
            <a:off x="173604" y="2516649"/>
            <a:ext cx="1319994" cy="2219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914478" rtl="0">
              <a:defRPr sz="938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38" b="1" dirty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激活</a:t>
            </a:r>
            <a:r>
              <a:rPr sz="938" b="1" dirty="0" err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平滑重参数化</a:t>
            </a:r>
            <a:endParaRPr sz="938" b="1" dirty="0">
              <a:solidFill>
                <a:srgbClr val="1D4ED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" name="smooth-weight-coupling-arrow">
            <a:extLst>
              <a:ext uri="{FF2B5EF4-FFF2-40B4-BE49-F238E27FC236}">
                <a16:creationId xmlns:a16="http://schemas.microsoft.com/office/drawing/2014/main" id="{435E60E6-FE3A-9F09-B90B-1ABCCF97B217}"/>
              </a:ext>
            </a:extLst>
          </p:cNvPr>
          <p:cNvSpPr>
            <a:spLocks noGrp="1"/>
          </p:cNvSpPr>
          <p:nvPr/>
        </p:nvSpPr>
        <p:spPr>
          <a:xfrm flipH="1">
            <a:off x="2037247" y="1274313"/>
            <a:ext cx="1122432" cy="13063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6" name="smooth-weight-coupling-arrow">
            <a:extLst>
              <a:ext uri="{FF2B5EF4-FFF2-40B4-BE49-F238E27FC236}">
                <a16:creationId xmlns:a16="http://schemas.microsoft.com/office/drawing/2014/main" id="{2A1ED867-DAA5-BADB-F06F-88B05F599BF6}"/>
              </a:ext>
            </a:extLst>
          </p:cNvPr>
          <p:cNvSpPr>
            <a:spLocks noGrp="1"/>
          </p:cNvSpPr>
          <p:nvPr/>
        </p:nvSpPr>
        <p:spPr>
          <a:xfrm>
            <a:off x="3424535" y="3730004"/>
            <a:ext cx="1194844" cy="119929"/>
          </a:xfrm>
          <a:prstGeom prst="line">
            <a:avLst/>
          </a:prstGeom>
          <a:noFill/>
          <a:ln w="28575">
            <a:solidFill>
              <a:srgbClr val="C2410C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8921C91-5AFE-AD6B-626E-7D9AFF3C8FA8}"/>
              </a:ext>
            </a:extLst>
          </p:cNvPr>
          <p:cNvSpPr>
            <a:spLocks noGrp="1"/>
          </p:cNvSpPr>
          <p:nvPr/>
        </p:nvSpPr>
        <p:spPr>
          <a:xfrm>
            <a:off x="6463473" y="3818561"/>
            <a:ext cx="5476875" cy="723900"/>
          </a:xfrm>
          <a:prstGeom prst="rect">
            <a:avLst/>
          </a:prstGeom>
          <a:solidFill>
            <a:srgbClr val="FFF7ED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 defTabSz="914478" rtl="0"/>
            <a:endParaRPr sz="1100">
              <a:solidFill>
                <a:srgbClr val="7C2D12"/>
              </a:solidFill>
              <a:latin typeface="Microsoft YaHei"/>
              <a:ea typeface="Microsoft YaHei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4507052-805A-70D2-0CD4-538427EE4AFB}"/>
              </a:ext>
            </a:extLst>
          </p:cNvPr>
          <p:cNvSpPr>
            <a:spLocks noGrp="1"/>
          </p:cNvSpPr>
          <p:nvPr/>
        </p:nvSpPr>
        <p:spPr>
          <a:xfrm>
            <a:off x="6549198" y="3875711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defTabSz="914478" rtl="0">
              <a:def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weight scale</a:t>
            </a:r>
            <a:r>
              <a:rPr lang="zh-CN" altLang="en-US" sz="1050" b="1" dirty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 更新流程</a:t>
            </a:r>
            <a:endParaRPr sz="1050" b="1" dirty="0">
              <a:solidFill>
                <a:srgbClr val="C2410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A01D02D-66F6-47CD-AD76-0CE78719930F}"/>
              </a:ext>
            </a:extLst>
          </p:cNvPr>
          <p:cNvSpPr>
            <a:spLocks noGrp="1"/>
          </p:cNvSpPr>
          <p:nvPr/>
        </p:nvSpPr>
        <p:spPr>
          <a:xfrm>
            <a:off x="6615873" y="4113836"/>
            <a:ext cx="74295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W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712502C-001C-32F6-3D34-38D3529C53D5}"/>
              </a:ext>
            </a:extLst>
          </p:cNvPr>
          <p:cNvSpPr>
            <a:spLocks noGrp="1"/>
          </p:cNvSpPr>
          <p:nvPr/>
        </p:nvSpPr>
        <p:spPr>
          <a:xfrm>
            <a:off x="7673148" y="4066211"/>
            <a:ext cx="112395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伪量化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round/clamp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4EF2F7B-3A9A-64E2-B045-3DD6BCAB7ED1}"/>
              </a:ext>
            </a:extLst>
          </p:cNvPr>
          <p:cNvSpPr>
            <a:spLocks noGrp="1"/>
          </p:cNvSpPr>
          <p:nvPr/>
        </p:nvSpPr>
        <p:spPr>
          <a:xfrm>
            <a:off x="9111423" y="4066211"/>
            <a:ext cx="9144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反量化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W_hat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A8BFA3D-AA67-CEB6-C589-92A7875B02D8}"/>
              </a:ext>
            </a:extLst>
          </p:cNvPr>
          <p:cNvSpPr>
            <a:spLocks noGrp="1"/>
          </p:cNvSpPr>
          <p:nvPr/>
        </p:nvSpPr>
        <p:spPr>
          <a:xfrm>
            <a:off x="10346202" y="4066211"/>
            <a:ext cx="1514475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梯度直通反</a:t>
            </a: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传 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+ </a:t>
            </a: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量化步长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更新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weight scale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996F6EF-04F8-3212-6D55-DDF5A9B8C7AF}"/>
              </a:ext>
            </a:extLst>
          </p:cNvPr>
          <p:cNvSpPr>
            <a:spLocks noGrp="1"/>
          </p:cNvSpPr>
          <p:nvPr/>
        </p:nvSpPr>
        <p:spPr>
          <a:xfrm>
            <a:off x="6460859" y="868574"/>
            <a:ext cx="5476875" cy="819150"/>
          </a:xfrm>
          <a:prstGeom prst="rect">
            <a:avLst/>
          </a:prstGeom>
          <a:solidFill>
            <a:srgbClr val="ECFDF5"/>
          </a:solidFill>
          <a:ln w="14288">
            <a:solidFill>
              <a:srgbClr val="14B8A6"/>
            </a:solidFill>
            <a:prstDash val="solid"/>
          </a:ln>
        </p:spPr>
        <p:txBody>
          <a:bodyPr/>
          <a:lstStyle/>
          <a:p>
            <a:pPr algn="ctr" defTabSz="914478" rtl="0"/>
            <a:endParaRPr sz="1100">
              <a:solidFill>
                <a:srgbClr val="0F513F"/>
              </a:solidFill>
              <a:latin typeface="Microsoft YaHei"/>
              <a:ea typeface="Microsoft YaHei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124DFB7-2333-FC32-BE2F-A0BA58D2190F}"/>
              </a:ext>
            </a:extLst>
          </p:cNvPr>
          <p:cNvSpPr>
            <a:spLocks noGrp="1"/>
          </p:cNvSpPr>
          <p:nvPr/>
        </p:nvSpPr>
        <p:spPr>
          <a:xfrm>
            <a:off x="6556109" y="925724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defTabSz="914478" rtl="0">
              <a:def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smooth scale</a:t>
            </a:r>
            <a:r>
              <a:rPr lang="en-US" sz="105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更新</a:t>
            </a:r>
            <a:r>
              <a:rPr lang="zh-CN" altLang="en-US" sz="105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流程</a:t>
            </a:r>
            <a:endParaRPr sz="1050" b="1" dirty="0">
              <a:solidFill>
                <a:srgbClr val="0F766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EDE20D8-607C-C785-F13F-CDE46011EC98}"/>
              </a:ext>
            </a:extLst>
          </p:cNvPr>
          <p:cNvSpPr>
            <a:spLocks noGrp="1"/>
          </p:cNvSpPr>
          <p:nvPr/>
        </p:nvSpPr>
        <p:spPr>
          <a:xfrm>
            <a:off x="6584684" y="1161326"/>
            <a:ext cx="819150" cy="352425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激活x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权重W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5C6C516-CDCD-ED3C-829B-795596BF2DCF}"/>
              </a:ext>
            </a:extLst>
          </p:cNvPr>
          <p:cNvSpPr>
            <a:spLocks noGrp="1"/>
          </p:cNvSpPr>
          <p:nvPr/>
        </p:nvSpPr>
        <p:spPr>
          <a:xfrm>
            <a:off x="7717814" y="1135274"/>
            <a:ext cx="1265938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s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_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s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cale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= exp(theta)</a:t>
            </a:r>
          </a:p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按通道平滑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488B6D-DDDC-3361-CBBF-409935C3388B}"/>
              </a:ext>
            </a:extLst>
          </p:cNvPr>
          <p:cNvSpPr>
            <a:spLocks noGrp="1"/>
          </p:cNvSpPr>
          <p:nvPr/>
        </p:nvSpPr>
        <p:spPr>
          <a:xfrm>
            <a:off x="9290416" y="1135274"/>
            <a:ext cx="10287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x / </a:t>
            </a: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s_s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cale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W * </a:t>
            </a: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s_s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</a:rPr>
              <a:t>cale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07B28AB-C53B-0828-C031-F109AA99E36A}"/>
              </a:ext>
            </a:extLst>
          </p:cNvPr>
          <p:cNvSpPr>
            <a:spLocks noGrp="1"/>
          </p:cNvSpPr>
          <p:nvPr/>
        </p:nvSpPr>
        <p:spPr>
          <a:xfrm>
            <a:off x="10636270" y="1135274"/>
            <a:ext cx="1175966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 lIns="57150" tIns="28575" rIns="57150" bIns="28575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动态范围迁移</a:t>
            </a:r>
          </a:p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loss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反传更新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theta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4CDE4F3-D9E2-9441-ED2F-D3F81E3FEA18}"/>
              </a:ext>
            </a:extLst>
          </p:cNvPr>
          <p:cNvSpPr>
            <a:spLocks noGrp="1"/>
          </p:cNvSpPr>
          <p:nvPr/>
        </p:nvSpPr>
        <p:spPr>
          <a:xfrm>
            <a:off x="10700944" y="3849933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 defTabSz="914478" rtl="0">
              <a:defRPr sz="675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1" dirty="0" err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900" b="1" baseline="-25000" dirty="0" err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w</a:t>
            </a:r>
            <a:r>
              <a:rPr lang="en-US" sz="900" b="1" baseline="-25000" dirty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dirty="0" err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回写量化网格</a:t>
            </a:r>
            <a:endParaRPr sz="900" b="1" dirty="0">
              <a:solidFill>
                <a:srgbClr val="C2410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B9414B8-C9C1-EC68-A42B-69B2A03E9C33}"/>
              </a:ext>
            </a:extLst>
          </p:cNvPr>
          <p:cNvSpPr>
            <a:spLocks noGrp="1"/>
          </p:cNvSpPr>
          <p:nvPr/>
        </p:nvSpPr>
        <p:spPr>
          <a:xfrm>
            <a:off x="9426970" y="904347"/>
            <a:ext cx="252028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 defTabSz="914478" rtl="0">
              <a:def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W * s</a:t>
            </a:r>
            <a:r>
              <a:rPr lang="en-US" altLang="zh-CN" sz="900" b="1" baseline="-25000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 </a:t>
            </a:r>
            <a:r>
              <a:rPr sz="90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改变权重分布</a:t>
            </a:r>
            <a:r>
              <a:rPr sz="9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90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触发</a:t>
            </a:r>
            <a:r>
              <a:rPr lang="en-US" sz="9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900" b="1" baseline="-25000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w</a:t>
            </a:r>
            <a:r>
              <a:rPr lang="en-US" sz="900" b="1" baseline="-25000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动态跟踪</a:t>
            </a:r>
            <a:endParaRPr sz="900" b="1" dirty="0">
              <a:solidFill>
                <a:srgbClr val="0F766E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51ED27C3-00A7-EFDB-C4D4-1CEBACB09839}"/>
              </a:ext>
            </a:extLst>
          </p:cNvPr>
          <p:cNvCxnSpPr>
            <a:cxnSpLocks/>
          </p:cNvCxnSpPr>
          <p:nvPr/>
        </p:nvCxnSpPr>
        <p:spPr>
          <a:xfrm flipH="1">
            <a:off x="7389991" y="4256711"/>
            <a:ext cx="27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405E9FE-7B4A-082E-FFE9-F29E511C49C7}"/>
              </a:ext>
            </a:extLst>
          </p:cNvPr>
          <p:cNvCxnSpPr>
            <a:cxnSpLocks/>
          </p:cNvCxnSpPr>
          <p:nvPr/>
        </p:nvCxnSpPr>
        <p:spPr>
          <a:xfrm flipH="1">
            <a:off x="8826341" y="4261416"/>
            <a:ext cx="27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6C967E83-3BDB-A72C-4FD1-EB3DC17C1E6E}"/>
              </a:ext>
            </a:extLst>
          </p:cNvPr>
          <p:cNvCxnSpPr>
            <a:cxnSpLocks/>
          </p:cNvCxnSpPr>
          <p:nvPr/>
        </p:nvCxnSpPr>
        <p:spPr>
          <a:xfrm flipH="1">
            <a:off x="10057225" y="4261416"/>
            <a:ext cx="27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C3E77142-8E59-0BC4-A761-763A97D42234}"/>
              </a:ext>
            </a:extLst>
          </p:cNvPr>
          <p:cNvCxnSpPr>
            <a:cxnSpLocks/>
          </p:cNvCxnSpPr>
          <p:nvPr/>
        </p:nvCxnSpPr>
        <p:spPr>
          <a:xfrm flipH="1">
            <a:off x="7432239" y="1335299"/>
            <a:ext cx="27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BA37B138-3132-F48C-2F97-4DDFC1F18966}"/>
              </a:ext>
            </a:extLst>
          </p:cNvPr>
          <p:cNvCxnSpPr>
            <a:cxnSpLocks/>
          </p:cNvCxnSpPr>
          <p:nvPr/>
        </p:nvCxnSpPr>
        <p:spPr>
          <a:xfrm flipH="1">
            <a:off x="9001248" y="1340004"/>
            <a:ext cx="27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BD7E7EA-5DEA-9B54-F319-1F3EFB8DEC36}"/>
              </a:ext>
            </a:extLst>
          </p:cNvPr>
          <p:cNvCxnSpPr>
            <a:cxnSpLocks/>
          </p:cNvCxnSpPr>
          <p:nvPr/>
        </p:nvCxnSpPr>
        <p:spPr>
          <a:xfrm flipH="1">
            <a:off x="10350579" y="1340004"/>
            <a:ext cx="27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56E1B8C2-85A9-DA4B-3794-5C923C81E3F4}"/>
              </a:ext>
            </a:extLst>
          </p:cNvPr>
          <p:cNvSpPr/>
          <p:nvPr/>
        </p:nvSpPr>
        <p:spPr>
          <a:xfrm>
            <a:off x="6202579" y="4080110"/>
            <a:ext cx="251369" cy="241382"/>
          </a:xfrm>
          <a:prstGeom prst="rightArrow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箭头: 右 77">
            <a:extLst>
              <a:ext uri="{FF2B5EF4-FFF2-40B4-BE49-F238E27FC236}">
                <a16:creationId xmlns:a16="http://schemas.microsoft.com/office/drawing/2014/main" id="{9104511A-FB79-EF2D-4B54-CF050A6BA3EB}"/>
              </a:ext>
            </a:extLst>
          </p:cNvPr>
          <p:cNvSpPr/>
          <p:nvPr/>
        </p:nvSpPr>
        <p:spPr>
          <a:xfrm>
            <a:off x="6190899" y="1190020"/>
            <a:ext cx="251369" cy="241382"/>
          </a:xfrm>
          <a:prstGeom prst="rightArrow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9" name="箭头: 右 78">
            <a:extLst>
              <a:ext uri="{FF2B5EF4-FFF2-40B4-BE49-F238E27FC236}">
                <a16:creationId xmlns:a16="http://schemas.microsoft.com/office/drawing/2014/main" id="{16E8E05E-ACC5-9C14-C44A-24B6EA2C68C8}"/>
              </a:ext>
            </a:extLst>
          </p:cNvPr>
          <p:cNvSpPr/>
          <p:nvPr/>
        </p:nvSpPr>
        <p:spPr>
          <a:xfrm rot="5400000">
            <a:off x="10735612" y="1781356"/>
            <a:ext cx="346321" cy="342961"/>
          </a:xfrm>
          <a:prstGeom prst="rightArrow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0" name="箭头: 右 79">
            <a:extLst>
              <a:ext uri="{FF2B5EF4-FFF2-40B4-BE49-F238E27FC236}">
                <a16:creationId xmlns:a16="http://schemas.microsoft.com/office/drawing/2014/main" id="{99AF4AEC-B63C-416E-8288-28913F50AC38}"/>
              </a:ext>
            </a:extLst>
          </p:cNvPr>
          <p:cNvSpPr/>
          <p:nvPr/>
        </p:nvSpPr>
        <p:spPr>
          <a:xfrm rot="16200000">
            <a:off x="10735612" y="3320299"/>
            <a:ext cx="346321" cy="342961"/>
          </a:xfrm>
          <a:prstGeom prst="rightArrow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52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214</Words>
  <Application>Microsoft Office PowerPoint</Application>
  <DocSecurity>0</DocSecurity>
  <PresentationFormat>宽屏</PresentationFormat>
  <Paragraphs>63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微软雅黑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英博 孙</cp:lastModifiedBy>
  <cp:revision>1</cp:revision>
  <dcterms:created xsi:type="dcterms:W3CDTF">2026-06-15T08:14:25Z</dcterms:created>
  <dcterms:modified xsi:type="dcterms:W3CDTF">2026-06-15T12:15:41Z</dcterms:modified>
</cp:coreProperties>
</file>