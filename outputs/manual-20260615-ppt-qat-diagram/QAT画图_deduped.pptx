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6e57825b814d46" /><Relationship Type="http://schemas.openxmlformats.org/officeDocument/2006/relationships/extended-properties" Target="/docProps/app.xml" Id="Ra057c36cb8aa4d6e" /><Relationship Type="http://schemas.openxmlformats.org/officeDocument/2006/relationships/officeDocument" Target="/ppt/presentation.xml" Id="R69400310a3d24d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4fd1a190154082"/>
  </p:sldMasterIdLst>
  <p:notesMasterIdLst>
    <p:notesMasterId xmlns:r="http://schemas.openxmlformats.org/officeDocument/2006/relationships" r:id="R1f810a1ced3441c3"/>
  </p:notesMasterIdLst>
  <p:sldIdLst>
    <p:sldId xmlns:r="http://schemas.openxmlformats.org/officeDocument/2006/relationships" id="256" r:id="R43393d6a85a241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6ab697a6d499b" /><Relationship Type="http://schemas.openxmlformats.org/officeDocument/2006/relationships/slideMaster" Target="/ppt/slideMasters/slideMaster1.xml" Id="Re84fd1a190154082" /><Relationship Type="http://schemas.openxmlformats.org/officeDocument/2006/relationships/notesMaster" Target="/ppt/notesMasters/notesMaster1.xml" Id="R1f810a1ced3441c3" /><Relationship Type="http://schemas.openxmlformats.org/officeDocument/2006/relationships/presProps" Target="/ppt/presProps.xml" Id="R9ce596fa79d14433" /><Relationship Type="http://schemas.openxmlformats.org/officeDocument/2006/relationships/tableStyles" Target="/ppt/tableStyles.xml" Id="R9b5f71b952e644a2" /><Relationship Type="http://schemas.openxmlformats.org/officeDocument/2006/relationships/slide" Target="/ppt/slides/slide1.xml" Id="R43393d6a85a241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2354e60fd9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06d4396b1c4384" /><Relationship Type="http://schemas.openxmlformats.org/officeDocument/2006/relationships/notesMaster" Target="/ppt/notesMasters/notesMaster1.xml" Id="R0a8bc15d7828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8360a914446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78024552a4c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4bf57c23f46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48b5cfe8146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5c4cd0dc64d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b4d22f20345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b742a054646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742d8148e479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ea169337b44e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4a6a1a813446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ebe1b98004e8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DBCF57-8EDF-41BD-813A-9E243401781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16E78E6-0F24-62D2-222E-F7C1E39AA0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C50139D-4677-0DFC-2794-827C5B7D11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B91AC4-59B4-4E0A-C7BE-C9FC3B46ED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DFF57EE-1349-39C8-0477-5BEBD35A68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7BE712-6E9A-3520-2F0E-E66EEA3C9D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46A330-F3AC-D1C3-4BE8-D6D1E5059E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C2E78D7-A2A9-54F4-F746-4838AB6462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3BB0FB-0984-2A7D-3863-286EE6D82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9594EA-57AC-0989-C5F7-C87347CCA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E4A8D7-8E55-5FBB-D5C2-B5E3E2A59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412B028-133F-16AF-CCDF-E68AEC93E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85F9C9-B166-369E-A426-BB89A951E5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70AC640-0359-855F-D265-A2ADCE020B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24D838-D0C4-60F7-40CF-94BC73F1B4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39B9E9-D2D1-27E9-AE4B-B3F8AA4CE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25184B9-DDB6-7C0C-F044-CDCC53B857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094E10C-3660-264D-D87D-2F01FE8E8B6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DF05F55-CD6C-010E-ACB4-8BE5217870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E4486DE-C0AC-D0BA-D0DA-93AA2358D8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2BF50EF-8F42-C575-D327-C606BE666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BEB6B1B-B93E-7CC2-322B-9C364EE70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515915B-5648-FB99-A54E-813FC1367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1440EE7-4019-EA52-7924-C709454836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7BCF2A9-D03E-5B00-D286-580EF4A3C6C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4849551-128A-E829-58E4-7FC79ADF05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E2B6052-8EA2-39F8-ED9D-C36934C23B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2F88DE2F-087D-E32F-8F37-27A2630203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5342844-EE2F-9F03-2C60-166971FF65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9CB4C19-0BB0-D82C-7CDC-F2F60CED7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59F8ABD-1910-05C4-3ADF-A143D67288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7F259A5-8CA9-0F5B-AB7B-81BB615B9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8144304-59E5-430B-097A-E9DC95D475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E39DB3D-3EA3-9106-E6BF-70D4C1ED56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260DC86-DE0E-746A-E5E1-DE2D24E4B9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8C8FECD-3511-F2A4-AAAD-FC67CB5C44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511362-D097-26C6-7C49-86D60DDD7E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D42D50A-55E8-A457-C3D5-FAB7CE496F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BB39A3F-0E7B-AA40-BD20-A9D193FC56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6B55591-307B-44B8-CC6F-00A261715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E347083-40A7-1DBE-70D7-CE9FE85301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BE86420-B530-F3F1-F816-61409B503F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B92F8A4-E6EC-63E6-6920-3832FDDCA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AA44B8C-7097-5C55-882C-3BEA7C09068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84FD1A1-5F81-3F4B-59AD-E63D030045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80E27C2-2B02-A608-2D6B-DD7602599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AF1C450-7EEB-3914-14A6-4619BD394C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9CF6D65-E076-F88A-921F-279F43F853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41AC2F-E380-386C-6209-ABC0CF8A5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5A63637-1A4E-96A3-EA63-7AC5A3FCFF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EC3A2DD-19B2-0C64-0AF0-A688D61BFF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6514BB0-34B9-12C3-F1C8-B1DAD8DAFB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09D3937-B3C6-F4DB-2B20-67FDE2B75D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D72D037-9508-79D7-EF30-8D99245B17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189E3E8-D512-60AC-4635-FA632D434D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65228E-755A-D604-FB30-72AF5766FB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8E4D622-221F-37BF-4C80-0BE45934CE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7B8DCFD-7C8C-7A51-9B08-842F8B11BF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304defc5f6419e" /><Relationship Type="http://schemas.openxmlformats.org/officeDocument/2006/relationships/slideLayout" Target="/ppt/slideLayouts/slideLayout1.xml" Id="Rc95d9b6e745a4fd4" /><Relationship Type="http://schemas.openxmlformats.org/officeDocument/2006/relationships/slideLayout" Target="/ppt/slideLayouts/slideLayout2.xml" Id="R5dbc4c449f2e4cf2" /><Relationship Type="http://schemas.openxmlformats.org/officeDocument/2006/relationships/slideLayout" Target="/ppt/slideLayouts/slideLayout3.xml" Id="R6af54c487556406b" /><Relationship Type="http://schemas.openxmlformats.org/officeDocument/2006/relationships/slideLayout" Target="/ppt/slideLayouts/slideLayout4.xml" Id="R8a6a02263f8c4e30" /><Relationship Type="http://schemas.openxmlformats.org/officeDocument/2006/relationships/slideLayout" Target="/ppt/slideLayouts/slideLayout5.xml" Id="Rab2b0e3dbc7c46ca" /><Relationship Type="http://schemas.openxmlformats.org/officeDocument/2006/relationships/slideLayout" Target="/ppt/slideLayouts/slideLayout6.xml" Id="R49a77cf2c9d24a71" /><Relationship Type="http://schemas.openxmlformats.org/officeDocument/2006/relationships/slideLayout" Target="/ppt/slideLayouts/slideLayout7.xml" Id="R0cdbd70d08334749" /><Relationship Type="http://schemas.openxmlformats.org/officeDocument/2006/relationships/slideLayout" Target="/ppt/slideLayouts/slideLayout8.xml" Id="Rbc8f308522084f73" /><Relationship Type="http://schemas.openxmlformats.org/officeDocument/2006/relationships/slideLayout" Target="/ppt/slideLayouts/slideLayout9.xml" Id="R0404a6c819ff4f81" /><Relationship Type="http://schemas.openxmlformats.org/officeDocument/2006/relationships/slideLayout" Target="/ppt/slideLayouts/slideLayout10.xml" Id="R1cc494ee00d34e51" /><Relationship Type="http://schemas.openxmlformats.org/officeDocument/2006/relationships/slideLayout" Target="/ppt/slideLayouts/slideLayout11.xml" Id="Rccc0886de16d41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57E9C27-F11B-EB61-E6CF-D16E7F00E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0B94B38-335D-B431-01F2-0BC1C717F7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F713A8-6274-111C-295D-D5AB0461A81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D77593C-5878-41E1-BA80-F086ED431EC1}" type="datetimeFigureOut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69A3C5-5674-2DDC-21AA-197DB91C323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4C8D99-249D-1A26-5490-EA824186FD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FC0F9DD-9887-4402-B101-CAFEB060BE4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5d9b6e745a4fd4"/>
    <p:sldLayoutId xmlns:r="http://schemas.openxmlformats.org/officeDocument/2006/relationships" id="2147483650" r:id="R5dbc4c449f2e4cf2"/>
    <p:sldLayoutId xmlns:r="http://schemas.openxmlformats.org/officeDocument/2006/relationships" id="2147483651" r:id="R6af54c487556406b"/>
    <p:sldLayoutId xmlns:r="http://schemas.openxmlformats.org/officeDocument/2006/relationships" id="2147483652" r:id="R8a6a02263f8c4e30"/>
    <p:sldLayoutId xmlns:r="http://schemas.openxmlformats.org/officeDocument/2006/relationships" id="2147483653" r:id="Rab2b0e3dbc7c46ca"/>
    <p:sldLayoutId xmlns:r="http://schemas.openxmlformats.org/officeDocument/2006/relationships" id="2147483654" r:id="R49a77cf2c9d24a71"/>
    <p:sldLayoutId xmlns:r="http://schemas.openxmlformats.org/officeDocument/2006/relationships" id="2147483655" r:id="R0cdbd70d08334749"/>
    <p:sldLayoutId xmlns:r="http://schemas.openxmlformats.org/officeDocument/2006/relationships" id="2147483656" r:id="Rbc8f308522084f73"/>
    <p:sldLayoutId xmlns:r="http://schemas.openxmlformats.org/officeDocument/2006/relationships" id="2147483657" r:id="R0404a6c819ff4f81"/>
    <p:sldLayoutId xmlns:r="http://schemas.openxmlformats.org/officeDocument/2006/relationships" id="2147483658" r:id="R1cc494ee00d34e51"/>
    <p:sldLayoutId xmlns:r="http://schemas.openxmlformats.org/officeDocument/2006/relationships" id="2147483659" r:id="Rccc0886de16d41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fa97164ba451d" /><Relationship Type="http://schemas.openxmlformats.org/officeDocument/2006/relationships/notesSlide" Target="/ppt/notesSlides/notesSlide1.xml" Id="R4f6bd42591a64ac8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矩形 3">
            <a:extLst>
              <a:ext uri="{FF2B5EF4-FFF2-40B4-BE49-F238E27FC236}">
                <ns2:creationId id="{3D2FFA21-1FD5-BD74-E118-73B97ADAE1B3}"/>
              </a:ext>
            </a:extLst>
          </p:cNvPr>
          <p:cNvSpPr>
            <a:spLocks noGrp="1"/>
          </p:cNvSpPr>
          <p:nvPr/>
        </p:nvSpPr>
        <p:spPr>
          <a:xfrm>
            <a:off x="2842646" y="1217574"/>
            <a:ext cx="6599408" cy="2112098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</a:p>
        </p:txBody>
      </p:sp>
      <p:graphicFrame>
        <p:nvGraphicFramePr>
          <p:cNvPr id="148" name="表格 6"/>
          <p:cNvGraphicFramePr/>
          <p:nvPr/>
        </p:nvGraphicFramePr>
        <p:xfrm>
          <a:off x="1206620" y="1308500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/>
                <a:gridCol w="208280"/>
                <a:gridCol w="208280"/>
                <a:gridCol w="208280"/>
              </a:tblGrid>
              <a:tr h="167640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表格 6"/>
          <p:cNvGraphicFramePr/>
          <p:nvPr/>
        </p:nvGraphicFramePr>
        <p:xfrm>
          <a:off x="1206620" y="1524600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/>
                <a:gridCol w="208280"/>
                <a:gridCol w="208280"/>
                <a:gridCol w="208280"/>
              </a:tblGrid>
              <a:tr h="167640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" name="表格 6"/>
          <p:cNvGraphicFramePr/>
          <p:nvPr/>
        </p:nvGraphicFramePr>
        <p:xfrm>
          <a:off x="1206620" y="1856024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/>
                <a:gridCol w="208280"/>
                <a:gridCol w="208280"/>
                <a:gridCol w="208280"/>
              </a:tblGrid>
              <a:tr h="167640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ns2:creationId id="{E173A6CA-7592-263E-2318-BB03DD2E190C}"/>
              </a:ext>
            </a:extLst>
          </p:cNvPr>
          <p:cNvSpPr>
            <a:spLocks noGrp="1"/>
          </p:cNvSpPr>
          <p:nvPr/>
        </p:nvSpPr>
        <p:spPr>
          <a:xfrm>
            <a:off x="1351684" y="1515703"/>
            <a:ext cx="5597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……</a:t>
            </a:r>
          </a:p>
        </p:txBody>
      </p:sp>
      <p:graphicFrame>
        <p:nvGraphicFramePr>
          <p:cNvPr id="152" name="表格 12"/>
          <p:cNvGraphicFramePr/>
          <p:nvPr/>
        </p:nvGraphicFramePr>
        <p:xfrm>
          <a:off x="1169602" y="2473882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/>
              </a:tblGrid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3" name="表格 12"/>
          <p:cNvGraphicFramePr/>
          <p:nvPr/>
        </p:nvGraphicFramePr>
        <p:xfrm>
          <a:off x="1431604" y="2473882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/>
              </a:tblGrid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表格 12"/>
          <p:cNvGraphicFramePr/>
          <p:nvPr/>
        </p:nvGraphicFramePr>
        <p:xfrm>
          <a:off x="1817057" y="2470449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/>
              </a:tblGrid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ns2:creationId id="{6E2ED201-9240-3A22-C400-6A26D009F7CC}"/>
              </a:ext>
            </a:extLst>
          </p:cNvPr>
          <p:cNvSpPr>
            <a:spLocks noGrp="1"/>
          </p:cNvSpPr>
          <p:nvPr/>
        </p:nvSpPr>
        <p:spPr>
          <a:xfrm rot="16200000">
            <a:off x="1383200" y="2648074"/>
            <a:ext cx="5597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……</a:t>
            </a:r>
          </a:p>
        </p:txBody>
      </p:sp>
      <p:sp>
        <p:nvSpPr>
          <p:cNvPr id="13" name="文本框 12">
            <a:extLst>
              <a:ext uri="{FF2B5EF4-FFF2-40B4-BE49-F238E27FC236}">
                <ns2:creationId id="{851C2728-533C-EF87-A6D2-6484CDBE2036}"/>
              </a:ext>
            </a:extLst>
          </p:cNvPr>
          <p:cNvSpPr>
            <a:spLocks noGrp="1"/>
          </p:cNvSpPr>
          <p:nvPr/>
        </p:nvSpPr>
        <p:spPr>
          <a:xfrm>
            <a:off x="1223323" y="1067577"/>
            <a:ext cx="833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4" name="文本框 13">
            <a:extLst>
              <a:ext uri="{FF2B5EF4-FFF2-40B4-BE49-F238E27FC236}">
                <ns2:creationId id="{A6604B59-05B4-03F5-A403-CCB7AF69739A}"/>
              </a:ext>
            </a:extLst>
          </p:cNvPr>
          <p:cNvSpPr>
            <a:spLocks noGrp="1"/>
          </p:cNvSpPr>
          <p:nvPr/>
        </p:nvSpPr>
        <p:spPr>
          <a:xfrm>
            <a:off x="1110367" y="2227920"/>
            <a:ext cx="1059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W</a:t>
            </a:r>
          </a:p>
        </p:txBody>
      </p:sp>
      <p:cxnSp>
        <p:nvCxnSpPr>
          <p:cNvPr id="158" name="直接箭头连接符 14"/>
          <p:cNvCxnSpPr/>
          <p:nvPr/>
        </p:nvCxnSpPr>
        <p:spPr>
          <a:xfrm flipH="1" flipV="1">
            <a:off x="2569659" y="1655474"/>
            <a:ext cx="318730" cy="0"/>
          </a:xfrm>
          <a:prstGeom prst="straightConnector1">
            <a:avLst/>
          </a:prstGeom>
          <a:ln w="28575" cap="flat">
            <a:solidFill>
              <a:sysClr val="windowText" lastClr="000000"/>
            </a:solidFill>
            <a:prstDash val="solid"/>
            <a:miter/>
            <a:headEnd type="triangle"/>
            <a:tailEnd type="none"/>
          </a:ln>
        </p:spPr>
      </p:cxnSp>
      <p:cxnSp>
        <p:nvCxnSpPr>
          <p:cNvPr id="159" name="直接箭头连接符 15"/>
          <p:cNvCxnSpPr/>
          <p:nvPr/>
        </p:nvCxnSpPr>
        <p:spPr>
          <a:xfrm flipH="1" flipV="1">
            <a:off x="2562694" y="2824402"/>
            <a:ext cx="318730" cy="0"/>
          </a:xfrm>
          <a:prstGeom prst="straightConnector1">
            <a:avLst/>
          </a:prstGeom>
          <a:ln w="28575" cap="flat">
            <a:solidFill>
              <a:sysClr val="windowText" lastClr="000000"/>
            </a:solidFill>
            <a:prstDash val="solid"/>
            <a:miter/>
            <a:headEnd type="triangle"/>
            <a:tailEnd type="none"/>
          </a:ln>
        </p:spPr>
      </p:cxnSp>
      <p:sp>
        <p:nvSpPr>
          <p:cNvPr id="17" name="文本框 16">
            <a:extLst>
              <a:ext uri="{FF2B5EF4-FFF2-40B4-BE49-F238E27FC236}">
                <ns2:creationId id="{0BC695AD-53B7-66E2-676D-260ADEE955FF}"/>
              </a:ext>
            </a:extLst>
          </p:cNvPr>
          <p:cNvSpPr>
            <a:spLocks noGrp="1"/>
          </p:cNvSpPr>
          <p:nvPr/>
        </p:nvSpPr>
        <p:spPr>
          <a:xfrm>
            <a:off x="982806" y="1052538"/>
            <a:ext cx="710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bf16</a:t>
            </a:r>
          </a:p>
        </p:txBody>
      </p:sp>
      <p:sp>
        <p:nvSpPr>
          <p:cNvPr id="18" name="文本框 17">
            <a:extLst>
              <a:ext uri="{FF2B5EF4-FFF2-40B4-BE49-F238E27FC236}">
                <ns2:creationId id="{A1504014-840F-1E27-E1D2-55E308964DD5}"/>
              </a:ext>
            </a:extLst>
          </p:cNvPr>
          <p:cNvSpPr>
            <a:spLocks noGrp="1"/>
          </p:cNvSpPr>
          <p:nvPr/>
        </p:nvSpPr>
        <p:spPr>
          <a:xfrm>
            <a:off x="995354" y="2204784"/>
            <a:ext cx="710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bf16</a:t>
            </a:r>
          </a:p>
        </p:txBody>
      </p:sp>
      <p:graphicFrame>
        <p:nvGraphicFramePr>
          <p:cNvPr id="162" name="表格 12"/>
          <p:cNvGraphicFramePr/>
          <p:nvPr/>
        </p:nvGraphicFramePr>
        <p:xfrm>
          <a:off x="2302267" y="1310611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/>
              </a:tblGrid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ns2:creationId id="{5FF3268A-1260-1398-FAD9-677B9FE79905}"/>
              </a:ext>
            </a:extLst>
          </p:cNvPr>
          <p:cNvSpPr>
            <a:spLocks noGrp="1"/>
          </p:cNvSpPr>
          <p:nvPr/>
        </p:nvSpPr>
        <p:spPr>
          <a:xfrm>
            <a:off x="1710845" y="832551"/>
            <a:ext cx="13740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learnable</a:t>
            </a:r>
          </a:p>
          <a:p>
            <a:pPr algn="ctr"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smooth scale</a:t>
            </a:r>
          </a:p>
        </p:txBody>
      </p:sp>
      <p:graphicFrame>
        <p:nvGraphicFramePr>
          <p:cNvPr id="164" name="表格 12"/>
          <p:cNvGraphicFramePr/>
          <p:nvPr/>
        </p:nvGraphicFramePr>
        <p:xfrm>
          <a:off x="2310203" y="2462701"/>
          <a:ext cx="208280" cy="715164"/>
        </p:xfrm>
        <a:graphic>
          <a:graphicData uri="http://schemas.openxmlformats.org/drawingml/2006/table">
            <a:tbl>
              <a:tblPr firstRow="1" bandRow="1"/>
              <a:tblGrid>
                <a:gridCol w="208280"/>
              </a:tblGrid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178791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ns2:creationId id="{7CA2F24D-BB24-BE25-A7C5-7FF5834F6219}"/>
              </a:ext>
            </a:extLst>
          </p:cNvPr>
          <p:cNvSpPr>
            <a:spLocks noGrp="1"/>
          </p:cNvSpPr>
          <p:nvPr/>
        </p:nvSpPr>
        <p:spPr>
          <a:xfrm>
            <a:off x="1964217" y="1520657"/>
            <a:ext cx="424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÷</a:t>
            </a:r>
          </a:p>
        </p:txBody>
      </p:sp>
      <p:sp>
        <p:nvSpPr>
          <p:cNvPr id="23" name="文本框 22">
            <a:extLst>
              <a:ext uri="{FF2B5EF4-FFF2-40B4-BE49-F238E27FC236}">
                <ns2:creationId id="{327D1902-2ACF-E6E3-10F1-F2B041781D8F}"/>
              </a:ext>
            </a:extLst>
          </p:cNvPr>
          <p:cNvSpPr>
            <a:spLocks noGrp="1"/>
          </p:cNvSpPr>
          <p:nvPr/>
        </p:nvSpPr>
        <p:spPr>
          <a:xfrm>
            <a:off x="1954774" y="2670513"/>
            <a:ext cx="4249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24" name="矩形: 圆角 23">
            <a:extLst>
              <a:ext uri="{FF2B5EF4-FFF2-40B4-BE49-F238E27FC236}">
                <ns2:creationId id="{7F6DF133-70F5-61BA-258A-0F30FDA26FD1}"/>
              </a:ext>
            </a:extLst>
          </p:cNvPr>
          <p:cNvSpPr>
            <a:spLocks noGrp="1"/>
          </p:cNvSpPr>
          <p:nvPr/>
        </p:nvSpPr>
        <p:spPr>
          <a:xfrm>
            <a:off x="2909657" y="1423002"/>
            <a:ext cx="1868101" cy="514836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量化映射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x / </a:t>
            </a:r>
            <a:r>
              <a:rPr sz="1200" b="1" i="0" u="none" cap="none" spc="0">
                <a:ln>
                  <a:noFill/>
                </a:ln>
                <a:latin typeface="微软雅黑"/>
                <a:ea typeface="微软雅黑"/>
                <a:cs typeface="微软雅黑"/>
              </a:rPr>
              <a:t>scale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+ 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zp</a:t>
            </a:r>
          </a:p>
        </p:txBody>
      </p:sp>
      <p:cxnSp>
        <p:nvCxnSpPr>
          <p:cNvPr id="168" name="直接箭头连接符 24"/>
          <p:cNvCxnSpPr>
            <a:stCxn id="28" idx="1"/>
            <a:endCxn id="26" idx="3"/>
          </p:cNvCxnSpPr>
          <p:nvPr/>
        </p:nvCxnSpPr>
        <p:spPr>
          <a:xfrm flipH="1">
            <a:off x="6876278" y="1676396"/>
            <a:ext cx="38651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ns2:creationId id="{ECFC4656-87F3-B2E8-5060-A67A340A2817}"/>
              </a:ext>
            </a:extLst>
          </p:cNvPr>
          <p:cNvSpPr>
            <a:spLocks noGrp="1"/>
          </p:cNvSpPr>
          <p:nvPr/>
        </p:nvSpPr>
        <p:spPr>
          <a:xfrm>
            <a:off x="5070366" y="1418978"/>
            <a:ext cx="1805912" cy="514836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舍入 </a:t>
            </a: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&amp; </a:t>
            </a: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截断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Clamp(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int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min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max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cxnSp>
        <p:nvCxnSpPr>
          <p:cNvPr id="170" name="直接箭头连接符 26"/>
          <p:cNvCxnSpPr/>
          <p:nvPr/>
        </p:nvCxnSpPr>
        <p:spPr>
          <a:xfrm flipH="1">
            <a:off x="4777758" y="1676396"/>
            <a:ext cx="2926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ns2:creationId id="{225D2535-4D29-4DCE-0D56-98281B78DB8D}"/>
              </a:ext>
            </a:extLst>
          </p:cNvPr>
          <p:cNvSpPr>
            <a:spLocks noGrp="1"/>
          </p:cNvSpPr>
          <p:nvPr/>
        </p:nvSpPr>
        <p:spPr>
          <a:xfrm>
            <a:off x="7262795" y="1418978"/>
            <a:ext cx="2095217" cy="514836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反量化映射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int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– 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zp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) *</a:t>
            </a:r>
            <a:r>
              <a:rPr sz="1200" b="1" i="0" u="none" cap="none" spc="0">
                <a:ln>
                  <a:noFill/>
                </a:ln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i="0" u="none" cap="none" spc="0">
                <a:ln>
                  <a:noFill/>
                </a:ln>
                <a:latin typeface="微软雅黑"/>
                <a:ea typeface="微软雅黑"/>
                <a:cs typeface="微软雅黑"/>
              </a:rPr>
              <a:t>scale</a:t>
            </a:r>
          </a:p>
        </p:txBody>
      </p:sp>
      <p:sp>
        <p:nvSpPr>
          <p:cNvPr id="29" name="矩形: 圆角 28">
            <a:extLst>
              <a:ext uri="{FF2B5EF4-FFF2-40B4-BE49-F238E27FC236}">
                <ns2:creationId id="{15FC8492-E356-E3A4-C47C-66BA9F0008E1}"/>
              </a:ext>
            </a:extLst>
          </p:cNvPr>
          <p:cNvSpPr>
            <a:spLocks noGrp="1"/>
          </p:cNvSpPr>
          <p:nvPr/>
        </p:nvSpPr>
        <p:spPr>
          <a:xfrm>
            <a:off x="9744529" y="1507695"/>
            <a:ext cx="614477" cy="337402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BF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30" name="文本框 29">
            <a:extLst>
              <a:ext uri="{FF2B5EF4-FFF2-40B4-BE49-F238E27FC236}">
                <ns2:creationId id="{C572B092-3C34-BC25-63C0-ED80CFF1F7BB}"/>
              </a:ext>
            </a:extLst>
          </p:cNvPr>
          <p:cNvSpPr>
            <a:spLocks noGrp="1"/>
          </p:cNvSpPr>
          <p:nvPr/>
        </p:nvSpPr>
        <p:spPr>
          <a:xfrm>
            <a:off x="2415796" y="1384898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IN</a:t>
            </a:r>
          </a:p>
        </p:txBody>
      </p:sp>
      <p:cxnSp>
        <p:nvCxnSpPr>
          <p:cNvPr id="174" name="直接箭头连接符 30"/>
          <p:cNvCxnSpPr>
            <a:stCxn id="29" idx="1"/>
            <a:endCxn id="28" idx="3"/>
          </p:cNvCxnSpPr>
          <p:nvPr/>
        </p:nvCxnSpPr>
        <p:spPr>
          <a:xfrm flipH="1">
            <a:off x="9358012" y="1676396"/>
            <a:ext cx="38651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ns2:creationId id="{29774BFC-40EA-6404-5C36-FB95BB68AA44}"/>
              </a:ext>
            </a:extLst>
          </p:cNvPr>
          <p:cNvSpPr>
            <a:spLocks noGrp="1"/>
          </p:cNvSpPr>
          <p:nvPr/>
        </p:nvSpPr>
        <p:spPr>
          <a:xfrm>
            <a:off x="5723030" y="1195265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int 8</a:t>
            </a:r>
          </a:p>
        </p:txBody>
      </p:sp>
      <p:sp>
        <p:nvSpPr>
          <p:cNvPr id="33" name="矩形: 圆角 32">
            <a:extLst>
              <a:ext uri="{FF2B5EF4-FFF2-40B4-BE49-F238E27FC236}">
                <ns2:creationId id="{B6A7E251-F7FD-9D5C-134C-7C8BA5720C0B}"/>
              </a:ext>
            </a:extLst>
          </p:cNvPr>
          <p:cNvSpPr>
            <a:spLocks noGrp="1"/>
          </p:cNvSpPr>
          <p:nvPr/>
        </p:nvSpPr>
        <p:spPr>
          <a:xfrm>
            <a:off x="2892908" y="2579773"/>
            <a:ext cx="1868101" cy="514836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量化映射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 u="none" cap="none">
                <a:ln>
                  <a:noFill/>
                </a:ln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 / weight scale + zp</a:t>
            </a:r>
          </a:p>
        </p:txBody>
      </p:sp>
      <p:cxnSp>
        <p:nvCxnSpPr>
          <p:cNvPr id="177" name="直接箭头连接符 33"/>
          <p:cNvCxnSpPr>
            <a:stCxn id="37" idx="1"/>
            <a:endCxn id="35" idx="3"/>
          </p:cNvCxnSpPr>
          <p:nvPr/>
        </p:nvCxnSpPr>
        <p:spPr>
          <a:xfrm flipH="1">
            <a:off x="6859529" y="2833167"/>
            <a:ext cx="38651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ns2:creationId id="{17D9CEC6-B736-A44D-DC6F-2D3EC24CE49F}"/>
              </a:ext>
            </a:extLst>
          </p:cNvPr>
          <p:cNvSpPr>
            <a:spLocks noGrp="1"/>
          </p:cNvSpPr>
          <p:nvPr/>
        </p:nvSpPr>
        <p:spPr>
          <a:xfrm>
            <a:off x="5053617" y="2575749"/>
            <a:ext cx="1805912" cy="514836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舍入 </a:t>
            </a: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&amp; </a:t>
            </a: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截断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Clamp(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x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int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min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, 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q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max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cxnSp>
        <p:nvCxnSpPr>
          <p:cNvPr id="179" name="直接箭头连接符 35"/>
          <p:cNvCxnSpPr/>
          <p:nvPr/>
        </p:nvCxnSpPr>
        <p:spPr>
          <a:xfrm flipH="1">
            <a:off x="4761009" y="2833167"/>
            <a:ext cx="292608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ns2:creationId id="{F350A86A-3B6C-CEB9-C5F7-F157F5DD30E2}"/>
              </a:ext>
            </a:extLst>
          </p:cNvPr>
          <p:cNvSpPr>
            <a:spLocks noGrp="1"/>
          </p:cNvSpPr>
          <p:nvPr/>
        </p:nvSpPr>
        <p:spPr>
          <a:xfrm>
            <a:off x="7246046" y="2575749"/>
            <a:ext cx="2095217" cy="514836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反量化映射</a:t>
            </a: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 u="none" cap="none">
                <a:ln>
                  <a:noFill/>
                </a:ln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(Wint - zp) * weight scale</a:t>
            </a:r>
          </a:p>
        </p:txBody>
      </p:sp>
      <p:sp>
        <p:nvSpPr>
          <p:cNvPr id="38" name="矩形: 圆角 37">
            <a:extLst>
              <a:ext uri="{FF2B5EF4-FFF2-40B4-BE49-F238E27FC236}">
                <ns2:creationId id="{753E27BC-6F71-4E11-495C-ED751CF04C58}"/>
              </a:ext>
            </a:extLst>
          </p:cNvPr>
          <p:cNvSpPr>
            <a:spLocks noGrp="1"/>
          </p:cNvSpPr>
          <p:nvPr/>
        </p:nvSpPr>
        <p:spPr>
          <a:xfrm>
            <a:off x="9727780" y="2664466"/>
            <a:ext cx="614477" cy="337402"/>
          </a:xfrm>
          <a:prstGeom prst="roundRect">
            <a:avLst/>
          </a:prstGeom>
          <a:solidFill>
            <a:srgbClr val="FFFFFF"/>
          </a:solidFill>
          <a:ln w="12700" cmpd="sng">
            <a:solidFill>
              <a:srgbClr val="1D1D1A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BF</a:t>
            </a:r>
            <a:r>
              <a:rPr sz="1200" b="1" i="0" u="none" cap="none" spc="0">
                <a:ln>
                  <a:noFill/>
                </a:ln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39" name="文本框 38">
            <a:extLst>
              <a:ext uri="{FF2B5EF4-FFF2-40B4-BE49-F238E27FC236}">
                <ns2:creationId id="{8EF4E20E-C47F-BD74-256D-625C9D0AB787}"/>
              </a:ext>
            </a:extLst>
          </p:cNvPr>
          <p:cNvSpPr>
            <a:spLocks noGrp="1"/>
          </p:cNvSpPr>
          <p:nvPr/>
        </p:nvSpPr>
        <p:spPr>
          <a:xfrm>
            <a:off x="2399047" y="2541669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IN</a:t>
            </a:r>
          </a:p>
        </p:txBody>
      </p:sp>
      <p:sp>
        <p:nvSpPr>
          <p:cNvPr id="40" name="文本框 39">
            <a:extLst>
              <a:ext uri="{FF2B5EF4-FFF2-40B4-BE49-F238E27FC236}">
                <ns2:creationId id="{E59F0427-2A14-6841-181F-A987280FE2F5}"/>
              </a:ext>
            </a:extLst>
          </p:cNvPr>
          <p:cNvSpPr>
            <a:spLocks noGrp="1"/>
          </p:cNvSpPr>
          <p:nvPr/>
        </p:nvSpPr>
        <p:spPr>
          <a:xfrm>
            <a:off x="9245007" y="2584369"/>
            <a:ext cx="6125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OUT</a:t>
            </a:r>
          </a:p>
        </p:txBody>
      </p:sp>
      <p:cxnSp>
        <p:nvCxnSpPr>
          <p:cNvPr id="184" name="直接箭头连接符 40"/>
          <p:cNvCxnSpPr>
            <a:stCxn id="38" idx="1"/>
            <a:endCxn id="37" idx="3"/>
          </p:cNvCxnSpPr>
          <p:nvPr/>
        </p:nvCxnSpPr>
        <p:spPr>
          <a:xfrm flipH="1">
            <a:off x="9341263" y="2833167"/>
            <a:ext cx="38651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ns2:creationId id="{1476E812-5246-3877-5A2A-9C0C6CECE9D6}"/>
              </a:ext>
            </a:extLst>
          </p:cNvPr>
          <p:cNvSpPr>
            <a:spLocks noGrp="1"/>
          </p:cNvSpPr>
          <p:nvPr/>
        </p:nvSpPr>
        <p:spPr>
          <a:xfrm>
            <a:off x="3267713" y="3069909"/>
            <a:ext cx="1019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(learnable)</a:t>
            </a:r>
          </a:p>
        </p:txBody>
      </p:sp>
      <p:sp>
        <p:nvSpPr>
          <p:cNvPr id="43" name="文本框 42">
            <a:extLst>
              <a:ext uri="{FF2B5EF4-FFF2-40B4-BE49-F238E27FC236}">
                <ns2:creationId id="{6CC136E6-06E0-ABF5-F2B4-C33FF71D0CE0}"/>
              </a:ext>
            </a:extLst>
          </p:cNvPr>
          <p:cNvSpPr>
            <a:spLocks noGrp="1"/>
          </p:cNvSpPr>
          <p:nvPr/>
        </p:nvSpPr>
        <p:spPr>
          <a:xfrm>
            <a:off x="8234627" y="3068889"/>
            <a:ext cx="1019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(learnable)</a:t>
            </a:r>
          </a:p>
        </p:txBody>
      </p:sp>
      <p:sp>
        <p:nvSpPr>
          <p:cNvPr id="44" name="文本框 43">
            <a:extLst>
              <a:ext uri="{FF2B5EF4-FFF2-40B4-BE49-F238E27FC236}">
                <ns2:creationId id="{C7ACE95D-F0AD-ADC1-62FF-5996EC9F4BE4}"/>
              </a:ext>
            </a:extLst>
          </p:cNvPr>
          <p:cNvSpPr>
            <a:spLocks noGrp="1"/>
          </p:cNvSpPr>
          <p:nvPr/>
        </p:nvSpPr>
        <p:spPr>
          <a:xfrm>
            <a:off x="5706281" y="2357937"/>
            <a:ext cx="6125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int 8</a:t>
            </a:r>
          </a:p>
        </p:txBody>
      </p:sp>
      <p:sp>
        <p:nvSpPr>
          <p:cNvPr id="45" name="矩形: 圆角 44">
            <a:extLst>
              <a:ext uri="{FF2B5EF4-FFF2-40B4-BE49-F238E27FC236}">
                <ns2:creationId id="{38B501DE-ED2D-0D1F-9890-4BDB14A80751}"/>
              </a:ext>
            </a:extLst>
          </p:cNvPr>
          <p:cNvSpPr>
            <a:spLocks noGrp="1"/>
          </p:cNvSpPr>
          <p:nvPr/>
        </p:nvSpPr>
        <p:spPr>
          <a:xfrm>
            <a:off x="2977440" y="924838"/>
            <a:ext cx="1583361" cy="292736"/>
          </a:xfrm>
          <a:prstGeom prst="roundRect">
            <a:avLst/>
          </a:prstGeom>
          <a:noFill/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平滑感知QAT伪量化过程</a:t>
            </a:r>
          </a:p>
        </p:txBody>
      </p:sp>
      <p:sp>
        <p:nvSpPr>
          <p:cNvPr id="46" name="文本框 45">
            <a:extLst>
              <a:ext uri="{FF2B5EF4-FFF2-40B4-BE49-F238E27FC236}">
                <ns2:creationId id="{DACDC949-7E47-243D-B6BF-9AC29ADED158}"/>
              </a:ext>
            </a:extLst>
          </p:cNvPr>
          <p:cNvSpPr>
            <a:spLocks noGrp="1"/>
          </p:cNvSpPr>
          <p:nvPr/>
        </p:nvSpPr>
        <p:spPr>
          <a:xfrm>
            <a:off x="9245007" y="1415502"/>
            <a:ext cx="61252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OUT</a:t>
            </a:r>
          </a:p>
        </p:txBody>
      </p:sp>
      <p:cxnSp>
        <p:nvCxnSpPr>
          <p:cNvPr id="190" name="直接箭头连接符 46"/>
          <p:cNvCxnSpPr>
            <a:endCxn id="38" idx="0"/>
          </p:cNvCxnSpPr>
          <p:nvPr/>
        </p:nvCxnSpPr>
        <p:spPr>
          <a:xfrm flipH="1">
            <a:off x="10035019" y="2355503"/>
            <a:ext cx="11834" cy="308963"/>
          </a:xfrm>
          <a:prstGeom prst="straightConnector1">
            <a:avLst/>
          </a:prstGeom>
          <a:ln w="28575" cap="flat">
            <a:solidFill>
              <a:sysClr val="windowText" lastClr="000000"/>
            </a:solidFill>
            <a:prstDash val="solid"/>
            <a:miter/>
            <a:headEnd type="triangle"/>
            <a:tailEnd type="none"/>
          </a:ln>
        </p:spPr>
      </p:cxnSp>
      <p:cxnSp>
        <p:nvCxnSpPr>
          <p:cNvPr id="191" name="直接箭头连接符 47"/>
          <p:cNvCxnSpPr>
            <a:stCxn id="55" idx="0"/>
            <a:endCxn id="29" idx="2"/>
          </p:cNvCxnSpPr>
          <p:nvPr/>
        </p:nvCxnSpPr>
        <p:spPr>
          <a:xfrm flipV="1">
            <a:off x="10039233" y="1845097"/>
            <a:ext cx="12535" cy="280634"/>
          </a:xfrm>
          <a:prstGeom prst="straightConnector1">
            <a:avLst/>
          </a:prstGeom>
          <a:ln w="28575" cap="flat">
            <a:solidFill>
              <a:sysClr val="windowText" lastClr="000000"/>
            </a:solidFill>
            <a:prstDash val="solid"/>
            <a:miter/>
            <a:headEnd type="triangle"/>
            <a:tailEnd type="none"/>
          </a:ln>
        </p:spPr>
      </p:cxnSp>
      <p:cxnSp>
        <p:nvCxnSpPr>
          <p:cNvPr id="192" name="直接箭头连接符 48"/>
          <p:cNvCxnSpPr>
            <a:endCxn id="55" idx="6"/>
          </p:cNvCxnSpPr>
          <p:nvPr/>
        </p:nvCxnSpPr>
        <p:spPr>
          <a:xfrm flipH="1">
            <a:off x="10149723" y="2238712"/>
            <a:ext cx="502373" cy="0"/>
          </a:xfrm>
          <a:prstGeom prst="straightConnector1">
            <a:avLst/>
          </a:prstGeom>
          <a:ln w="28575" cap="flat">
            <a:solidFill>
              <a:sysClr val="windowText" lastClr="000000"/>
            </a:solidFill>
            <a:prstDash val="solid"/>
            <a:miter/>
            <a:headEnd type="triangle"/>
            <a:tailEnd type="none"/>
          </a:ln>
        </p:spPr>
      </p:cxnSp>
      <p:graphicFrame>
        <p:nvGraphicFramePr>
          <p:cNvPr id="193" name="表格 6"/>
          <p:cNvGraphicFramePr/>
          <p:nvPr/>
        </p:nvGraphicFramePr>
        <p:xfrm>
          <a:off x="10751651" y="1903625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/>
                <a:gridCol w="208280"/>
                <a:gridCol w="208280"/>
                <a:gridCol w="208280"/>
              </a:tblGrid>
              <a:tr h="167640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4" name="表格 6"/>
          <p:cNvGraphicFramePr/>
          <p:nvPr/>
        </p:nvGraphicFramePr>
        <p:xfrm>
          <a:off x="10751651" y="2119725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/>
                <a:gridCol w="208280"/>
                <a:gridCol w="208280"/>
                <a:gridCol w="208280"/>
              </a:tblGrid>
              <a:tr h="167640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5" name="表格 6"/>
          <p:cNvGraphicFramePr/>
          <p:nvPr/>
        </p:nvGraphicFramePr>
        <p:xfrm>
          <a:off x="10751651" y="2451149"/>
          <a:ext cx="833120" cy="167640"/>
        </p:xfrm>
        <a:graphic>
          <a:graphicData uri="http://schemas.openxmlformats.org/drawingml/2006/table">
            <a:tbl>
              <a:tblPr firstRow="1" bandRow="1"/>
              <a:tblGrid>
                <a:gridCol w="208280"/>
                <a:gridCol w="208280"/>
                <a:gridCol w="208280"/>
                <a:gridCol w="208280"/>
              </a:tblGrid>
              <a:tr h="167640"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40" marR="91440" marT="45720" marB="45720">
                    <a:lnL w="12700" cmpd="sng">
                      <a:solidFill>
                        <a:sysClr val="windowText" lastClr="000000"/>
                      </a:solidFill>
                      <a:prstDash val="solid"/>
                    </a:lnL>
                    <a:lnR w="12700" cmpd="sng">
                      <a:solidFill>
                        <a:sysClr val="windowText" lastClr="000000"/>
                      </a:solidFill>
                      <a:prstDash val="solid"/>
                    </a:lnR>
                    <a:lnT w="12700" cmpd="sng">
                      <a:solidFill>
                        <a:sysClr val="windowText" lastClr="000000"/>
                      </a:solidFill>
                      <a:prstDash val="solid"/>
                    </a:lnT>
                    <a:lnB w="12700" cmpd="sng">
                      <a:solidFill>
                        <a:sysClr val="windowText" lastClr="000000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40000"/>
                        <a:lumOff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3" name="文本框 52">
            <a:extLst>
              <a:ext uri="{FF2B5EF4-FFF2-40B4-BE49-F238E27FC236}">
                <ns2:creationId id="{775C3E46-A136-1621-7304-92083B1F6233}"/>
              </a:ext>
            </a:extLst>
          </p:cNvPr>
          <p:cNvSpPr>
            <a:spLocks noGrp="1"/>
          </p:cNvSpPr>
          <p:nvPr/>
        </p:nvSpPr>
        <p:spPr>
          <a:xfrm>
            <a:off x="10896715" y="2110828"/>
            <a:ext cx="559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……</a:t>
            </a:r>
          </a:p>
        </p:txBody>
      </p:sp>
      <p:sp>
        <p:nvSpPr>
          <p:cNvPr id="54" name="文本框 53">
            <a:extLst>
              <a:ext uri="{FF2B5EF4-FFF2-40B4-BE49-F238E27FC236}">
                <ns2:creationId id="{F8ADADCD-2B11-4A2D-DBB7-0784BF1271A8}"/>
              </a:ext>
            </a:extLst>
          </p:cNvPr>
          <p:cNvSpPr>
            <a:spLocks noGrp="1"/>
          </p:cNvSpPr>
          <p:nvPr/>
        </p:nvSpPr>
        <p:spPr>
          <a:xfrm>
            <a:off x="10770072" y="1631878"/>
            <a:ext cx="833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2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y_q</a:t>
            </a:r>
            <a:r>
              <a:rPr sz="12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sp>
        <p:nvSpPr>
          <p:cNvPr id="55" name="流程图: 汇总连接 54">
            <a:extLst>
              <a:ext uri="{FF2B5EF4-FFF2-40B4-BE49-F238E27FC236}">
                <ns2:creationId id="{89D4A92B-4D81-FDAB-6300-B896061E884B}"/>
              </a:ext>
            </a:extLst>
          </p:cNvPr>
          <p:cNvSpPr>
            <a:spLocks noGrp="1"/>
          </p:cNvSpPr>
          <p:nvPr/>
        </p:nvSpPr>
        <p:spPr>
          <a:xfrm>
            <a:off x="9928743" y="2125731"/>
            <a:ext cx="220980" cy="225962"/>
          </a:xfrm>
          <a:prstGeom prst="flowChartSummingJunction">
            <a:avLst/>
          </a:prstGeom>
          <a:solidFill>
            <a:sysClr val="window" lastClr="FFFFFF"/>
          </a:solidFill>
          <a:ln w="12700" cmpd="sng">
            <a:solidFill>
              <a:sysClr val="windowText" lastClr="000000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" name="文本框 55">
            <a:extLst>
              <a:ext uri="{FF2B5EF4-FFF2-40B4-BE49-F238E27FC236}">
                <ns2:creationId id="{56E2C3E4-4FD8-495C-7FE0-5DDE25B13690}"/>
              </a:ext>
            </a:extLst>
          </p:cNvPr>
          <p:cNvSpPr>
            <a:spLocks noGrp="1"/>
          </p:cNvSpPr>
          <p:nvPr/>
        </p:nvSpPr>
        <p:spPr>
          <a:xfrm>
            <a:off x="10180280" y="1976434"/>
            <a:ext cx="7108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bf16</a:t>
            </a:r>
          </a:p>
        </p:txBody>
      </p:sp>
      <p:sp>
        <p:nvSpPr>
          <p:cNvPr id="68" name="activation-smooth-branch-outline">
            <a:extLst>
              <a:ext uri="{FF2B5EF4-FFF2-40B4-BE49-F238E27FC236}">
                <ns2:creationId id="{7427B345-C9BC-41D1-9E14-0C142E2E808C}"/>
              </a:ext>
            </a:extLst>
          </p:cNvPr>
          <p:cNvSpPr>
            <a:spLocks noGrp="1"/>
          </p:cNvSpPr>
          <p:nvPr/>
        </p:nvSpPr>
        <p:spPr>
          <a:xfrm>
            <a:off x="876300" y="742950"/>
            <a:ext cx="9696450" cy="1381125"/>
          </a:xfrm>
          <a:prstGeom prst="roundRect">
            <a:avLst>
              <a:gd name="adj" fmla="val 8276"/>
            </a:avLst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69" name="weight-scale-branch-outline">
            <a:extLst>
              <a:ext uri="{FF2B5EF4-FFF2-40B4-BE49-F238E27FC236}">
                <ns2:creationId id="{E1665AE2-A050-4FE4-8745-DB6869BE6876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9696450" cy="1238250"/>
          </a:xfrm>
          <a:prstGeom prst="roundRect">
            <a:avLst>
              <a:gd name="adj" fmla="val 9231"/>
            </a:avLst>
          </a:prstGeom>
          <a:noFill/>
          <a:ln w="19050">
            <a:solidFill>
              <a:srgbClr val="F97316"/>
            </a:solidFill>
            <a:prstDash val="dash"/>
          </a:ln>
        </p:spPr>
      </p:sp>
      <p:sp>
        <p:nvSpPr>
          <p:cNvPr id="70" name="smooth-scale-role-card">
            <a:extLst>
              <a:ext uri="{FF2B5EF4-FFF2-40B4-BE49-F238E27FC236}">
                <ns2:creationId id="{5917A273-36D6-49C3-8C7A-C76EDED7649E}"/>
              </a:ext>
            </a:extLst>
          </p:cNvPr>
          <p:cNvSpPr>
            <a:spLocks noGrp="1"/>
          </p:cNvSpPr>
          <p:nvPr/>
        </p:nvSpPr>
        <p:spPr>
          <a:xfrm>
            <a:off x="3219450" y="342900"/>
            <a:ext cx="3429000" cy="552450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14288">
            <a:solidFill>
              <a:srgbClr val="14B8A6"/>
            </a:solidFill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rPr>
              <a:t>Smooth scale：激活侧平滑</a:t>
            </a:r>
          </a:p>
          <a:p>
            <a:pPr algn="ctr">
              <a:buNone/>
              <a:def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rPr>
              <a:t>x' = x / s_smooth</a:t>
            </a:r>
          </a:p>
          <a:p>
            <a:pPr algn="ctr">
              <a:buNone/>
              <a:def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0F513F"/>
                </a:solidFill>
                <a:latin typeface="Microsoft YaHei"/>
                <a:ea typeface="Microsoft YaHei"/>
                <a:cs typeface="Microsoft YaHei"/>
              </a:rPr>
              <a:t>压缩离群值动态范围，降低A8截断/舍入扰动</a:t>
            </a:r>
          </a:p>
        </p:txBody>
      </p:sp>
      <p:sp>
        <p:nvSpPr>
          <p:cNvPr id="71" name="weight-scale-role-card">
            <a:extLst>
              <a:ext uri="{FF2B5EF4-FFF2-40B4-BE49-F238E27FC236}">
                <ns2:creationId id="{45C3A397-14AE-4245-9E2D-35AB8C9A322B}"/>
              </a:ext>
            </a:extLst>
          </p:cNvPr>
          <p:cNvSpPr>
            <a:spLocks noGrp="1"/>
          </p:cNvSpPr>
          <p:nvPr/>
        </p:nvSpPr>
        <p:spPr>
          <a:xfrm>
            <a:off x="3219450" y="3371850"/>
            <a:ext cx="3714750" cy="60960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4288">
            <a:solidFill>
              <a:srgbClr val="F97316"/>
            </a:solidFill>
            <a:prstDash val="solid"/>
          </a:ln>
        </p:spPr>
        <p:txBody>
          <a:bodyPr/>
          <a:lstStyle/>
          <a:p>
            <a:pPr algn="ctr">
              <a:buNone/>
              <a:def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Weight scale：权重侧量化网格</a:t>
            </a:r>
          </a:p>
          <a:p>
            <a:pPr algn="ctr">
              <a:buNone/>
              <a:def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Δw随平滑后权重分布学习更新</a:t>
            </a:r>
          </a:p>
          <a:p>
            <a:pPr algn="ctr">
              <a:buNone/>
              <a:def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7C2D12"/>
                </a:solidFill>
                <a:latin typeface="Microsoft YaHei"/>
                <a:ea typeface="Microsoft YaHei"/>
                <a:cs typeface="Microsoft YaHei"/>
              </a:rPr>
              <a:t>跟踪 W' = W × s_smooth 的动态范围</a:t>
            </a:r>
          </a:p>
        </p:txBody>
      </p:sp>
      <p:sp>
        <p:nvSpPr>
          <p:cNvPr id="72" name="dual-scale-core-card">
            <a:extLst>
              <a:ext uri="{FF2B5EF4-FFF2-40B4-BE49-F238E27FC236}">
                <ns2:creationId id="{592AB01C-A442-4C15-80CF-9E905533130F}"/>
              </a:ext>
            </a:extLst>
          </p:cNvPr>
          <p:cNvSpPr>
            <a:spLocks noGrp="1"/>
          </p:cNvSpPr>
          <p:nvPr/>
        </p:nvSpPr>
        <p:spPr>
          <a:xfrm>
            <a:off x="7067550" y="3371850"/>
            <a:ext cx="3581400" cy="60960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pPr algn="ctr">
              <a:buNone/>
              <a:def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双尺度协同：smooth scale迁移激活异常值，weight scale重配权重量化步长</a:t>
            </a:r>
          </a:p>
          <a:p>
            <a:pPr algn="ctr">
              <a:buNone/>
              <a:def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前向保持线性层等价，反向通过STE近似梯度联合更新</a:t>
            </a:r>
          </a:p>
        </p:txBody>
      </p:sp>
      <p:sp>
        <p:nvSpPr>
          <p:cNvPr id="73" name="activation-branch-tag">
            <a:extLst>
              <a:ext uri="{FF2B5EF4-FFF2-40B4-BE49-F238E27FC236}">
                <ns2:creationId id="{7D57210B-1EBA-467A-91A3-7CC7EBD33A44}"/>
              </a:ext>
            </a:extLst>
          </p:cNvPr>
          <p:cNvSpPr>
            <a:spLocks noGrp="1"/>
          </p:cNvSpPr>
          <p:nvPr/>
        </p:nvSpPr>
        <p:spPr>
          <a:xfrm>
            <a:off x="8705850" y="895350"/>
            <a:ext cx="16383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激活路径：平滑后再伪量化</a:t>
            </a:r>
          </a:p>
        </p:txBody>
      </p:sp>
      <p:sp>
        <p:nvSpPr>
          <p:cNvPr id="74" name="weight-branch-tag">
            <a:extLst>
              <a:ext uri="{FF2B5EF4-FFF2-40B4-BE49-F238E27FC236}">
                <ns2:creationId id="{94A44526-95BB-4154-BAFC-F9B5E4495E4D}"/>
              </a:ext>
            </a:extLst>
          </p:cNvPr>
          <p:cNvSpPr>
            <a:spLocks noGrp="1"/>
          </p:cNvSpPr>
          <p:nvPr/>
        </p:nvSpPr>
        <p:spPr>
          <a:xfrm>
            <a:off x="8477250" y="3171825"/>
            <a:ext cx="1962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权重路径：量化因子可学习更新</a:t>
            </a:r>
          </a:p>
        </p:txBody>
      </p:sp>
      <p:sp>
        <p:nvSpPr>
          <p:cNvPr id="75" name="smooth-card-to-divide-arrow">
            <a:extLst>
              <a:ext uri="{FF2B5EF4-FFF2-40B4-BE49-F238E27FC236}">
                <ns2:creationId id="{BFBB0F30-EA73-43F3-9004-B363AB2841B2}"/>
              </a:ext>
            </a:extLst>
          </p:cNvPr>
          <p:cNvSpPr>
            <a:spLocks noGrp="1"/>
          </p:cNvSpPr>
          <p:nvPr/>
        </p:nvSpPr>
        <p:spPr>
          <a:xfrm>
            <a:off x="2457450" y="1047750"/>
            <a:ext cx="714375" cy="60960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76" name="weight-card-to-scale-arrow">
            <a:extLst>
              <a:ext uri="{FF2B5EF4-FFF2-40B4-BE49-F238E27FC236}">
                <ns2:creationId id="{ED6D0186-4DDB-4CCF-AD7C-BDD5C65E4B40}"/>
              </a:ext>
            </a:extLst>
          </p:cNvPr>
          <p:cNvSpPr>
            <a:spLocks noGrp="1"/>
          </p:cNvSpPr>
          <p:nvPr/>
        </p:nvSpPr>
        <p:spPr>
          <a:xfrm>
            <a:off x="3771900" y="3371850"/>
            <a:ext cx="0" cy="-32385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77" name="smooth-weight-coupling-arrow">
            <a:extLst>
              <a:ext uri="{FF2B5EF4-FFF2-40B4-BE49-F238E27FC236}">
                <ns2:creationId id="{C060EA22-3B73-4483-96C2-5DE65E3C7B54}"/>
              </a:ext>
            </a:extLst>
          </p:cNvPr>
          <p:cNvSpPr>
            <a:spLocks noGrp="1"/>
          </p:cNvSpPr>
          <p:nvPr/>
        </p:nvSpPr>
        <p:spPr>
          <a:xfrm>
            <a:off x="2133600" y="1838325"/>
            <a:ext cx="0" cy="8382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8" name="coupling-equivalence-label">
            <a:extLst>
              <a:ext uri="{FF2B5EF4-FFF2-40B4-BE49-F238E27FC236}">
                <ns2:creationId id="{67556B0F-CCB1-4C58-9039-67E144304115}"/>
              </a:ext>
            </a:extLst>
          </p:cNvPr>
          <p:cNvSpPr>
            <a:spLocks noGrp="1"/>
          </p:cNvSpPr>
          <p:nvPr/>
        </p:nvSpPr>
        <p:spPr>
          <a:xfrm>
            <a:off x="2171700" y="1971675"/>
            <a:ext cx="1104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38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平滑重参数化</a:t>
            </a:r>
          </a:p>
          <a:p>
            <a:pPr algn="ctr">
              <a:buNone/>
              <a:defRPr sz="938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x'/W'协同补偿</a:t>
            </a:r>
          </a:p>
        </p:txBody>
      </p:sp>
    </p:spTree>
    <p:extLst>
      <p:ext uri="{BB962C8B-B14F-4D97-AF65-F5344CB8AC3E}">
        <ns3:creationId val="352479668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2026-06-15T08:14:25.9050000Z</dcterms:created>
  <dcterms:modified xsi:type="dcterms:W3CDTF">2026-06-15T08:14:25.9050000Z</dcterms:modified>
</coreProperties>
</file>