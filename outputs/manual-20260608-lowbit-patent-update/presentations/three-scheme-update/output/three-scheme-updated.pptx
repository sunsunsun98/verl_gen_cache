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12b80114e44d13" /><Relationship Type="http://schemas.openxmlformats.org/officeDocument/2006/relationships/extended-properties" Target="/docProps/app.xml" Id="Rc7ba6fefb39d41b8" /><Relationship Type="http://schemas.openxmlformats.org/officeDocument/2006/relationships/officeDocument" Target="/ppt/presentation.xml" Id="R218eb233aaec46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d0a7906484d34"/>
  </p:sldMasterIdLst>
  <p:notesMasterIdLst>
    <p:notesMasterId xmlns:r="http://schemas.openxmlformats.org/officeDocument/2006/relationships" r:id="R0354a21e4bd740b3"/>
  </p:notesMasterIdLst>
  <p:sldIdLst>
    <p:sldId xmlns:r="http://schemas.openxmlformats.org/officeDocument/2006/relationships" id="256" r:id="Re8490a4746ae41be"/>
    <p:sldId xmlns:r="http://schemas.openxmlformats.org/officeDocument/2006/relationships" id="257" r:id="R074269de5b6c4b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403c245d9445d6" /><Relationship Type="http://schemas.openxmlformats.org/officeDocument/2006/relationships/slideMaster" Target="/ppt/slideMasters/slideMaster1.xml" Id="R819d0a7906484d34" /><Relationship Type="http://schemas.openxmlformats.org/officeDocument/2006/relationships/notesMaster" Target="/ppt/notesMasters/notesMaster1.xml" Id="R0354a21e4bd740b3" /><Relationship Type="http://schemas.openxmlformats.org/officeDocument/2006/relationships/presProps" Target="/ppt/presProps.xml" Id="R97b50167651f4201" /><Relationship Type="http://schemas.openxmlformats.org/officeDocument/2006/relationships/viewProps" Target="/ppt/viewProps.xml" Id="R925b16a4abf34290" /><Relationship Type="http://schemas.openxmlformats.org/officeDocument/2006/relationships/tableStyles" Target="/ppt/tableStyles.xml" Id="Rd046e69fe1664ce9" /><Relationship Type="http://schemas.openxmlformats.org/officeDocument/2006/relationships/slide" Target="/ppt/slides/slide1.xml" Id="Re8490a4746ae41be" /><Relationship Type="http://schemas.openxmlformats.org/officeDocument/2006/relationships/slide" Target="/ppt/slides/slide2.xml" Id="R074269de5b6c4b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271d9b13a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ac7be61814866" /><Relationship Type="http://schemas.openxmlformats.org/officeDocument/2006/relationships/notesMaster" Target="/ppt/notesMasters/notesMaster1.xml" Id="R2755edb9ad7849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faf3414a40445d" /><Relationship Type="http://schemas.openxmlformats.org/officeDocument/2006/relationships/notesMaster" Target="/ppt/notesMasters/notesMaster1.xml" Id="R0902d3cf9e5b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867722fe545f8" /><Relationship Type="http://schemas.openxmlformats.org/officeDocument/2006/relationships/image" Target="/ppt/media/image3.png" Id="R00d86a05681140ac" /><Relationship Type="http://schemas.openxmlformats.org/officeDocument/2006/relationships/image" Target="/ppt/media/image4.png" Id="R54dd2b1d841d41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0b9777b304e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413f352eb4a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58ba7c8cd4e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007d07b7341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8980ede0845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5d88d74d249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ad0b19cae420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4d776e2d042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b3fb78bf2439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c92f7c4df4c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12b5e6c594225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86a05681140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" y="784225"/>
            <a:ext cx="12190412" cy="3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Text Box 5">
            <a:extLst xmlns:a="http://schemas.openxmlformats.org/drawingml/2006/main"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205538"/>
            <a:ext cx="2443163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0" tIns="39135" rIns="78270" bIns="39135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 xmlns:a="http://schemas.openxmlformats.org/drawingml/2006/main"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984625"/>
            <a:ext cx="2003425" cy="325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364" tIns="45680" rIns="91364" bIns="45680"/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d2b1d841d41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0913" y="5445125"/>
            <a:ext cx="1519237" cy="1139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9CC16276-6ACB-4A2A-A03F-C44D353DD48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D9AC36A0-AC03-4F94-98EF-EA91A648A12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D2FF5886-5F88-43B0-8384-127CBE4CA9D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F47C3515-A20A-4CC4-AB65-EF2298B43A1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8A857C1-AAC1-41C4-AD07-95A97C85156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C41C4F78-A9C2-4F7D-B32A-D37166658E9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F8199A2E-82C0-4BB8-B204-8B61A41341B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F7319A2-3A06-410D-AC34-40C219823E4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E5B4CDA3-E8CF-443F-8DFE-C12DA662A44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28101" y="115889"/>
            <a:ext cx="2832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1" y="115889"/>
            <a:ext cx="8293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2A7F8B66-0DC9-42B9-A927-2EDE0806B881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733" y="115888"/>
            <a:ext cx="10752667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34E32DED-6DB2-4A9B-9A29-243C689DD2C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845e93ed056492f" /><Relationship Type="http://schemas.openxmlformats.org/officeDocument/2006/relationships/image" Target="/ppt/media/image2.png" Id="R2f246263d74f4fd8" /><Relationship Type="http://schemas.openxmlformats.org/officeDocument/2006/relationships/theme" Target="/ppt/slideMasters/theme/theme2.xml" Id="R75b3295a248947b8" /><Relationship Type="http://schemas.openxmlformats.org/officeDocument/2006/relationships/slideLayout" Target="/ppt/slideLayouts/slideLayout1.xml" Id="R9fafa6c95e034471" /><Relationship Type="http://schemas.openxmlformats.org/officeDocument/2006/relationships/slideLayout" Target="/ppt/slideLayouts/slideLayout2.xml" Id="Ref4a6d1aa8c04ee6" /><Relationship Type="http://schemas.openxmlformats.org/officeDocument/2006/relationships/slideLayout" Target="/ppt/slideLayouts/slideLayout3.xml" Id="Rdce027d153f842ea" /><Relationship Type="http://schemas.openxmlformats.org/officeDocument/2006/relationships/slideLayout" Target="/ppt/slideLayouts/slideLayout4.xml" Id="R3bf5726cbe2548e0" /><Relationship Type="http://schemas.openxmlformats.org/officeDocument/2006/relationships/slideLayout" Target="/ppt/slideLayouts/slideLayout5.xml" Id="Rad653d28957e4643" /><Relationship Type="http://schemas.openxmlformats.org/officeDocument/2006/relationships/slideLayout" Target="/ppt/slideLayouts/slideLayout6.xml" Id="Ra5b9419311d147e3" /><Relationship Type="http://schemas.openxmlformats.org/officeDocument/2006/relationships/slideLayout" Target="/ppt/slideLayouts/slideLayout7.xml" Id="R44130006f8074e05" /><Relationship Type="http://schemas.openxmlformats.org/officeDocument/2006/relationships/slideLayout" Target="/ppt/slideLayouts/slideLayout8.xml" Id="R562c597f4b1745bd" /><Relationship Type="http://schemas.openxmlformats.org/officeDocument/2006/relationships/slideLayout" Target="/ppt/slideLayouts/slideLayout9.xml" Id="R97ed46ec79f14ef8" /><Relationship Type="http://schemas.openxmlformats.org/officeDocument/2006/relationships/slideLayout" Target="/ppt/slideLayouts/slideLayout10.xml" Id="Ra4e277a2a84a47f0" /><Relationship Type="http://schemas.openxmlformats.org/officeDocument/2006/relationships/slideLayout" Target="/ppt/slideLayouts/slideLayout11.xml" Id="R2dba7e3b63624150" /><Relationship Type="http://schemas.openxmlformats.org/officeDocument/2006/relationships/slideLayout" Target="/ppt/slideLayouts/slideLayout12.xml" Id="R9c7640f305554ac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0263" y="115888"/>
            <a:ext cx="10752137" cy="63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11328400" cy="521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5e93ed05649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21413"/>
            <a:ext cx="12190413" cy="6365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9" name="Text Box 5">
            <a:extLst xmlns:a="http://schemas.openxmlformats.org/drawingml/2006/main"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434138"/>
            <a:ext cx="1704975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6" tIns="39141" rIns="78276" bIns="39141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905750" y="6400800"/>
            <a:ext cx="1409700" cy="110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2026/6/5</a:t>
            </a:fld>
            <a:fld id="{C7A6A17C-8CE3-41D7-BD5F-4774EFB3B3E8}" type="slidenum">
              <a:t>‹#›</a:t>
            </a:fld>
          </a:p>
        </p:txBody>
      </p:sp>
      <p:sp>
        <p:nvSpPr>
          <p:cNvPr id="1032" name="Text Box 8">
            <a:extLst xmlns:a="http://schemas.openxmlformats.org/drawingml/2006/main"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6407150"/>
            <a:ext cx="3705225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8315" tIns="39159" rIns="78315" bIns="39159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46263d74f4f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738" y="6442075"/>
            <a:ext cx="1668462" cy="273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fa6c95e034471"/>
    <p:sldLayoutId xmlns:r="http://schemas.openxmlformats.org/officeDocument/2006/relationships" id="2147483650" r:id="Ref4a6d1aa8c04ee6"/>
    <p:sldLayoutId xmlns:r="http://schemas.openxmlformats.org/officeDocument/2006/relationships" id="2147483651" r:id="Rdce027d153f842ea"/>
    <p:sldLayoutId xmlns:r="http://schemas.openxmlformats.org/officeDocument/2006/relationships" id="2147483652" r:id="R3bf5726cbe2548e0"/>
    <p:sldLayoutId xmlns:r="http://schemas.openxmlformats.org/officeDocument/2006/relationships" id="2147483653" r:id="Rad653d28957e4643"/>
    <p:sldLayoutId xmlns:r="http://schemas.openxmlformats.org/officeDocument/2006/relationships" id="2147483654" r:id="Ra5b9419311d147e3"/>
    <p:sldLayoutId xmlns:r="http://schemas.openxmlformats.org/officeDocument/2006/relationships" id="2147483655" r:id="R44130006f8074e05"/>
    <p:sldLayoutId xmlns:r="http://schemas.openxmlformats.org/officeDocument/2006/relationships" id="2147483656" r:id="R562c597f4b1745bd"/>
    <p:sldLayoutId xmlns:r="http://schemas.openxmlformats.org/officeDocument/2006/relationships" id="2147483657" r:id="R97ed46ec79f14ef8"/>
    <p:sldLayoutId xmlns:r="http://schemas.openxmlformats.org/officeDocument/2006/relationships" id="2147483658" r:id="Ra4e277a2a84a47f0"/>
    <p:sldLayoutId xmlns:r="http://schemas.openxmlformats.org/officeDocument/2006/relationships" id="2147483659" r:id="R2dba7e3b63624150"/>
    <p:sldLayoutId xmlns:r="http://schemas.openxmlformats.org/officeDocument/2006/relationships" id="2147483660" r:id="R9c7640f305554acb"/>
  </p:sldLayoutIdLst>
  <p:hf sldNum="0" hdr="0" ftr="0"/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e4ddfefff4aea" /><Relationship Type="http://schemas.openxmlformats.org/officeDocument/2006/relationships/notesSlide" Target="/ppt/notesSlides/notesSlide1.xml" Id="R8fb79fecc16341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b8ea961d24803" /><Relationship Type="http://schemas.openxmlformats.org/officeDocument/2006/relationships/image" Target="/ppt/media/image5.png" Id="Rc642db935fb04fd1" /><Relationship Type="http://schemas.openxmlformats.org/officeDocument/2006/relationships/image" Target="/ppt/media/image6.png" Id="Ra952b49cb9de499f" /><Relationship Type="http://schemas.openxmlformats.org/officeDocument/2006/relationships/notesSlide" Target="/ppt/notesSlides/notesSlide2.xml" Id="R81433664bac348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025"/>
            <a:ext cx="216058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309" tIns="39153" rIns="78309" bIns="39153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Level：Internal </a:t>
            </a:r>
          </a:p>
        </p:txBody>
      </p:sp>
      <p:sp>
        <p:nvSpPr>
          <p:cNvPr id="512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2094674"/>
            <a:ext cx="9577064" cy="180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82522" tIns="41261" rIns="82522" bIns="41261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3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376" y="-35626"/>
            <a:ext cx="11449272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5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-200055"/>
            <a:ext cx="1847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2534" name="图片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2db935fb0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937" y="3496686"/>
            <a:ext cx="6188679" cy="1510311"/>
          </a:xfrm>
          <a:prstGeom xmlns:a="http://schemas.openxmlformats.org/drawingml/2006/main" prst="rect">
            <a:avLst/>
          </a:prstGeom>
        </p:spPr>
      </p:pic>
      <p:pic>
        <p:nvPicPr>
          <p:cNvPr id="22535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2b49cb9de49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8928" y="3558143"/>
            <a:ext cx="4756714" cy="1429123"/>
          </a:xfrm>
          <a:prstGeom xmlns:a="http://schemas.openxmlformats.org/drawingml/2006/main" prst="rect">
            <a:avLst/>
          </a:prstGeom>
        </p:spPr>
      </p:pic>
      <p:sp>
        <p:nvSpPr>
          <p:cNvPr id="24584" name="">
            <a:extLst xmlns:a="http://schemas.openxmlformats.org/drawingml/2006/main">
              <a:ext uri="{FF2B5EF4-FFF2-40B4-BE49-F238E27FC236}">
                <a16:creationId xmlns:a16="http://schemas.microsoft.com/office/drawing/2014/main" id="{74D2C850-CEFA-42F2-9182-9B72EDA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本发明涉及低比特RL后训练与推理加速的量化优化方法。针对W8A8 rollout中的尺度自适应不足、激活离群值、舍入偏置与敏感层误差累积问题，提出三类协同优化方案：</a:t>
            </a:r>
          </a:p>
        </p:txBody>
      </p:sp>
      <p:sp>
        <p:nvSpPr>
          <p:cNvPr id="24585" name="">
            <a:extLst xmlns:a="http://schemas.openxmlformats.org/drawingml/2006/main">
              <a:ext uri="{FF2B5EF4-FFF2-40B4-BE49-F238E27FC236}">
                <a16:creationId xmlns:a16="http://schemas.microsoft.com/office/drawing/2014/main" id="{534E16D4-A5FB-4826-A3AF-F7FEF7E3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81075"/>
            <a:ext cx="11382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1. 双尺度QAT协同感知：联合引入weight scale与smooth scale，分别自适应权重量化网格与平滑激活离群值；反向仅在有效量化区间传递梯度，越界值受边界约束，并归一化更新幅度，防止离群值引发梯度振荡。</a:t>
            </a:r>
          </a:p>
        </p:txBody>
      </p:sp>
      <p:sp>
        <p:nvSpPr>
          <p:cNvPr id="24586" name="">
            <a:extLst xmlns:a="http://schemas.openxmlformats.org/drawingml/2006/main">
              <a:ext uri="{FF2B5EF4-FFF2-40B4-BE49-F238E27FC236}">
                <a16:creationId xmlns:a16="http://schemas.microsoft.com/office/drawing/2014/main" id="{2EEC553E-584C-416C-88ED-1EC0B22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52575"/>
            <a:ext cx="1138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2. 哈希随机舍入：基于待量化数值比特生成确定性伪随机数，与小数残差比较决定舍入方向，使舍入误差统计无偏，并保证训练侧伪量化与推理侧真实量化对同一输入舍入一致。</a:t>
            </a:r>
          </a:p>
        </p:txBody>
      </p:sp>
      <p:sp>
        <p:nvSpPr>
          <p:cNvPr id="24587" name="">
            <a:extLst xmlns:a="http://schemas.openxmlformats.org/drawingml/2006/main">
              <a:ext uri="{FF2B5EF4-FFF2-40B4-BE49-F238E27FC236}">
                <a16:creationId xmlns:a16="http://schemas.microsoft.com/office/drawing/2014/main" id="{3ADAF482-C207-4B8E-90BB-B35575E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90725"/>
            <a:ext cx="11382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3. 敏感层自适应回退：训练中实时统计各层累计量化误差，以动量方式更新敏感度分数；对持续高敏感层执行高精度回退，降低关键层噪声对长序列rollout策略分布的累积扰动。</a:t>
            </a:r>
          </a:p>
        </p:txBody>
      </p:sp>
      <p:sp>
        <p:nvSpPr>
          <p:cNvPr id="24588" name="">
            <a:extLst xmlns:a="http://schemas.openxmlformats.org/drawingml/2006/main">
              <a:ext uri="{FF2B5EF4-FFF2-40B4-BE49-F238E27FC236}">
                <a16:creationId xmlns:a16="http://schemas.microsoft.com/office/drawing/2014/main" id="{D809811F-A75E-432F-8A4E-A0912659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1157287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89" name="">
            <a:extLst xmlns:a="http://schemas.openxmlformats.org/drawingml/2006/main">
              <a:ext uri="{FF2B5EF4-FFF2-40B4-BE49-F238E27FC236}">
                <a16:creationId xmlns:a16="http://schemas.microsoft.com/office/drawing/2014/main" id="{8013F95F-0DA6-480E-A540-E5C6EDA0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11572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三类主题方案：双尺度QAT建模、哈希舍入抑偏、敏感层自适应回退</a:t>
            </a:r>
          </a:p>
        </p:txBody>
      </p:sp>
      <p:sp>
        <p:nvSpPr>
          <p:cNvPr id="24590" name="">
            <a:extLst xmlns:a="http://schemas.openxmlformats.org/drawingml/2006/main">
              <a:ext uri="{FF2B5EF4-FFF2-40B4-BE49-F238E27FC236}">
                <a16:creationId xmlns:a16="http://schemas.microsoft.com/office/drawing/2014/main" id="{D33BE9CA-390E-4071-A927-EC54997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6480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591" name="">
            <a:extLst xmlns:a="http://schemas.openxmlformats.org/drawingml/2006/main">
              <a:ext uri="{FF2B5EF4-FFF2-40B4-BE49-F238E27FC236}">
                <a16:creationId xmlns:a16="http://schemas.microsoft.com/office/drawing/2014/main" id="{C192DD37-677E-4F17-9CE7-EBD0382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1. 双尺度QAT协同感知</a:t>
            </a:r>
          </a:p>
        </p:txBody>
      </p:sp>
      <p:sp>
        <p:nvSpPr>
          <p:cNvPr id="24592" name="">
            <a:extLst xmlns:a="http://schemas.openxmlformats.org/drawingml/2006/main">
              <a:ext uri="{FF2B5EF4-FFF2-40B4-BE49-F238E27FC236}">
                <a16:creationId xmlns:a16="http://schemas.microsoft.com/office/drawing/2014/main" id="{6987319E-3641-402C-92C6-83352ED9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weight scale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跟踪权重网格</a:t>
            </a:r>
          </a:p>
        </p:txBody>
      </p:sp>
      <p:sp>
        <p:nvSpPr>
          <p:cNvPr id="24593" name="">
            <a:extLst xmlns:a="http://schemas.openxmlformats.org/drawingml/2006/main">
              <a:ext uri="{FF2B5EF4-FFF2-40B4-BE49-F238E27FC236}">
                <a16:creationId xmlns:a16="http://schemas.microsoft.com/office/drawing/2014/main" id="{616407A7-B84D-4440-AD1E-FDD2137E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4" name="">
            <a:extLst xmlns:a="http://schemas.openxmlformats.org/drawingml/2006/main">
              <a:ext uri="{FF2B5EF4-FFF2-40B4-BE49-F238E27FC236}">
                <a16:creationId xmlns:a16="http://schemas.microsoft.com/office/drawing/2014/main" id="{04E37D61-8550-4CCC-8366-D4659CD9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smooth scale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平滑激活离群值</a:t>
            </a:r>
          </a:p>
        </p:txBody>
      </p:sp>
      <p:sp>
        <p:nvSpPr>
          <p:cNvPr id="24595" name="">
            <a:extLst xmlns:a="http://schemas.openxmlformats.org/drawingml/2006/main">
              <a:ext uri="{FF2B5EF4-FFF2-40B4-BE49-F238E27FC236}">
                <a16:creationId xmlns:a16="http://schemas.microsoft.com/office/drawing/2014/main" id="{1EBB98A3-8FE5-494D-A4EA-BF9E1C5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6" name="">
            <a:extLst xmlns:a="http://schemas.openxmlformats.org/drawingml/2006/main">
              <a:ext uri="{FF2B5EF4-FFF2-40B4-BE49-F238E27FC236}">
                <a16:creationId xmlns:a16="http://schemas.microsoft.com/office/drawing/2014/main" id="{986AFCB4-C4F6-43B2-B2C6-DA3C533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5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x/s, W*s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伪量化</a:t>
            </a:r>
          </a:p>
        </p:txBody>
      </p:sp>
      <p:sp>
        <p:nvSpPr>
          <p:cNvPr id="24597" name="">
            <a:extLst xmlns:a="http://schemas.openxmlformats.org/drawingml/2006/main">
              <a:ext uri="{FF2B5EF4-FFF2-40B4-BE49-F238E27FC236}">
                <a16:creationId xmlns:a16="http://schemas.microsoft.com/office/drawing/2014/main" id="{97155263-B9B5-44C0-8425-7E06ABB9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有效区间传梯度</a:t>
            </a:r>
          </a:p>
          <a:p xmlns:a="http://schemas.openxmlformats.org/drawingml/2006/main">
            <a:pPr algn="ctr">
              <a:def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越界值受边界约束</a:t>
            </a:r>
          </a:p>
        </p:txBody>
      </p:sp>
      <p:sp>
        <p:nvSpPr>
          <p:cNvPr id="24598" name="">
            <a:extLst xmlns:a="http://schemas.openxmlformats.org/drawingml/2006/main">
              <a:ext uri="{FF2B5EF4-FFF2-40B4-BE49-F238E27FC236}">
                <a16:creationId xmlns:a16="http://schemas.microsoft.com/office/drawing/2014/main" id="{F09D0A46-F239-4B0C-9EE9-985D731F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3338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9" name="">
            <a:extLst xmlns:a="http://schemas.openxmlformats.org/drawingml/2006/main">
              <a:ext uri="{FF2B5EF4-FFF2-40B4-BE49-F238E27FC236}">
                <a16:creationId xmlns:a16="http://schemas.microsoft.com/office/drawing/2014/main" id="{B0EFAF3F-DF03-44E9-92BD-35518CA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2910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C"/>
          </a:solidFill>
          <a:ln xmlns:a="http://schemas.openxmlformats.org/drawingml/2006/main" w="10478">
            <a:solidFill>
              <a:srgbClr val="2F5597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按量化上界/通道规模</a:t>
            </a:r>
          </a:p>
          <a:p xmlns:a="http://schemas.openxmlformats.org/drawingml/2006/main">
            <a:pPr algn="ctr">
              <a:def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归一化更新幅度</a:t>
            </a:r>
          </a:p>
        </p:txBody>
      </p:sp>
      <p:sp>
        <p:nvSpPr>
          <p:cNvPr id="24600" name="">
            <a:extLst xmlns:a="http://schemas.openxmlformats.org/drawingml/2006/main">
              <a:ext uri="{FF2B5EF4-FFF2-40B4-BE49-F238E27FC236}">
                <a16:creationId xmlns:a16="http://schemas.microsoft.com/office/drawing/2014/main" id="{FC6DBB48-D43A-4FE5-B824-918109C8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86300"/>
            <a:ext cx="257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目标：抑制离群值导致的量化网格跳变与梯度振荡</a:t>
            </a:r>
          </a:p>
        </p:txBody>
      </p:sp>
      <p:sp>
        <p:nvSpPr>
          <p:cNvPr id="24601" name="">
            <a:extLst xmlns:a="http://schemas.openxmlformats.org/drawingml/2006/main">
              <a:ext uri="{FF2B5EF4-FFF2-40B4-BE49-F238E27FC236}">
                <a16:creationId xmlns:a16="http://schemas.microsoft.com/office/drawing/2014/main" id="{3CBFFD57-EABD-461C-9C2F-2E5B6E0E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19450"/>
            <a:ext cx="36480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02" name="">
            <a:extLst xmlns:a="http://schemas.openxmlformats.org/drawingml/2006/main">
              <a:ext uri="{FF2B5EF4-FFF2-40B4-BE49-F238E27FC236}">
                <a16:creationId xmlns:a16="http://schemas.microsoft.com/office/drawing/2014/main" id="{D2B412FC-36B7-4CA6-844C-8CB280F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147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2. 哈希随机舍入误差抑制</a:t>
            </a:r>
          </a:p>
        </p:txBody>
      </p:sp>
      <p:sp>
        <p:nvSpPr>
          <p:cNvPr id="24603" name="">
            <a:extLst xmlns:a="http://schemas.openxmlformats.org/drawingml/2006/main">
              <a:ext uri="{FF2B5EF4-FFF2-40B4-BE49-F238E27FC236}">
                <a16:creationId xmlns:a16="http://schemas.microsoft.com/office/drawing/2014/main" id="{538B9CD5-A6DC-4627-A0A9-D8FE47AB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957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浮点值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小数残差</a:t>
            </a:r>
          </a:p>
        </p:txBody>
      </p:sp>
      <p:sp>
        <p:nvSpPr>
          <p:cNvPr id="24604" name="">
            <a:extLst xmlns:a="http://schemas.openxmlformats.org/drawingml/2006/main">
              <a:ext uri="{FF2B5EF4-FFF2-40B4-BE49-F238E27FC236}">
                <a16:creationId xmlns:a16="http://schemas.microsoft.com/office/drawing/2014/main" id="{829357AA-C426-4075-B125-541598B7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5" name="">
            <a:extLst xmlns:a="http://schemas.openxmlformats.org/drawingml/2006/main">
              <a:ext uri="{FF2B5EF4-FFF2-40B4-BE49-F238E27FC236}">
                <a16:creationId xmlns:a16="http://schemas.microsoft.com/office/drawing/2014/main" id="{A6D39A50-3C2D-417E-977B-11B25F6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6957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比特哈希</a:t>
            </a:r>
          </a:p>
          <a:p xmlns:a="http://schemas.openxmlformats.org/drawingml/2006/main">
            <a:pPr algn="ctr">
              <a:def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生成u</a:t>
            </a:r>
          </a:p>
        </p:txBody>
      </p:sp>
      <p:sp>
        <p:nvSpPr>
          <p:cNvPr id="24606" name="">
            <a:extLst xmlns:a="http://schemas.openxmlformats.org/drawingml/2006/main">
              <a:ext uri="{FF2B5EF4-FFF2-40B4-BE49-F238E27FC236}">
                <a16:creationId xmlns:a16="http://schemas.microsoft.com/office/drawing/2014/main" id="{23318B45-CCB5-4119-A8A7-50124025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7" name="">
            <a:extLst xmlns:a="http://schemas.openxmlformats.org/drawingml/2006/main">
              <a:ext uri="{FF2B5EF4-FFF2-40B4-BE49-F238E27FC236}">
                <a16:creationId xmlns:a16="http://schemas.microsoft.com/office/drawing/2014/main" id="{8FC5932C-684B-4D8C-8231-35749503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957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比较u与残差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决定舍入</a:t>
            </a:r>
          </a:p>
        </p:txBody>
      </p:sp>
      <p:sp>
        <p:nvSpPr>
          <p:cNvPr id="24608" name="">
            <a:extLst xmlns:a="http://schemas.openxmlformats.org/drawingml/2006/main">
              <a:ext uri="{FF2B5EF4-FFF2-40B4-BE49-F238E27FC236}">
                <a16:creationId xmlns:a16="http://schemas.microsoft.com/office/drawing/2014/main" id="{0020E959-7DD7-4112-8020-1EA9B992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相同输入</a:t>
            </a:r>
          </a:p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训练/推理舍入一致</a:t>
            </a:r>
          </a:p>
        </p:txBody>
      </p:sp>
      <p:sp>
        <p:nvSpPr>
          <p:cNvPr id="24609" name="">
            <a:extLst xmlns:a="http://schemas.openxmlformats.org/drawingml/2006/main">
              <a:ext uri="{FF2B5EF4-FFF2-40B4-BE49-F238E27FC236}">
                <a16:creationId xmlns:a16="http://schemas.microsoft.com/office/drawing/2014/main" id="{F3296618-1684-4647-8B7F-D4B0A1C0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338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0" name="">
            <a:extLst xmlns:a="http://schemas.openxmlformats.org/drawingml/2006/main">
              <a:ext uri="{FF2B5EF4-FFF2-40B4-BE49-F238E27FC236}">
                <a16:creationId xmlns:a16="http://schemas.microsoft.com/office/drawing/2014/main" id="{85075B5C-6FBC-4B63-A636-10CF4520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0478">
            <a:solidFill>
              <a:srgbClr val="BF9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误差期望趋零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削弱系统性偏置</a:t>
            </a:r>
          </a:p>
        </p:txBody>
      </p:sp>
      <p:sp>
        <p:nvSpPr>
          <p:cNvPr id="24611" name="">
            <a:extLst xmlns:a="http://schemas.openxmlformats.org/drawingml/2006/main">
              <a:ext uri="{FF2B5EF4-FFF2-40B4-BE49-F238E27FC236}">
                <a16:creationId xmlns:a16="http://schemas.microsoft.com/office/drawing/2014/main" id="{EB1055A4-F30A-4E77-BDBA-0587081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863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目标：长序列rollout中不累积固定方向舍入误差</a:t>
            </a:r>
          </a:p>
        </p:txBody>
      </p:sp>
      <p:sp>
        <p:nvSpPr>
          <p:cNvPr id="24612" name="">
            <a:extLst xmlns:a="http://schemas.openxmlformats.org/drawingml/2006/main">
              <a:ext uri="{FF2B5EF4-FFF2-40B4-BE49-F238E27FC236}">
                <a16:creationId xmlns:a16="http://schemas.microsoft.com/office/drawing/2014/main" id="{E8A6F407-0057-4AD8-8DFA-D8FFBE56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6480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13" name="">
            <a:extLst xmlns:a="http://schemas.openxmlformats.org/drawingml/2006/main">
              <a:ext uri="{FF2B5EF4-FFF2-40B4-BE49-F238E27FC236}">
                <a16:creationId xmlns:a16="http://schemas.microsoft.com/office/drawing/2014/main" id="{AA8C37B5-5C72-4109-9E7B-E32AE52A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3. 敏感层精度自适应回退</a:t>
            </a:r>
          </a:p>
        </p:txBody>
      </p:sp>
      <p:sp>
        <p:nvSpPr>
          <p:cNvPr id="24614" name="">
            <a:extLst xmlns:a="http://schemas.openxmlformats.org/drawingml/2006/main">
              <a:ext uri="{FF2B5EF4-FFF2-40B4-BE49-F238E27FC236}">
                <a16:creationId xmlns:a16="http://schemas.microsoft.com/office/drawing/2014/main" id="{A3345055-9F9C-43A7-9289-DAE5031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实时统计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层级量化误差</a:t>
            </a:r>
          </a:p>
        </p:txBody>
      </p:sp>
      <p:sp>
        <p:nvSpPr>
          <p:cNvPr id="24615" name="">
            <a:extLst xmlns:a="http://schemas.openxmlformats.org/drawingml/2006/main">
              <a:ext uri="{FF2B5EF4-FFF2-40B4-BE49-F238E27FC236}">
                <a16:creationId xmlns:a16="http://schemas.microsoft.com/office/drawing/2014/main" id="{58A0E3E4-9890-4DE9-8201-4CE322BA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6" name="">
            <a:extLst xmlns:a="http://schemas.openxmlformats.org/drawingml/2006/main">
              <a:ext uri="{FF2B5EF4-FFF2-40B4-BE49-F238E27FC236}">
                <a16:creationId xmlns:a16="http://schemas.microsoft.com/office/drawing/2014/main" id="{A1ED3CF3-D8C1-4170-A3AC-A4C776D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动量更新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敏感度分数</a:t>
            </a:r>
          </a:p>
        </p:txBody>
      </p:sp>
      <p:sp>
        <p:nvSpPr>
          <p:cNvPr id="24617" name="">
            <a:extLst xmlns:a="http://schemas.openxmlformats.org/drawingml/2006/main">
              <a:ext uri="{FF2B5EF4-FFF2-40B4-BE49-F238E27FC236}">
                <a16:creationId xmlns:a16="http://schemas.microsoft.com/office/drawing/2014/main" id="{E7EE7161-11A2-460E-9BEF-DD12AB79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909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8" name="">
            <a:extLst xmlns:a="http://schemas.openxmlformats.org/drawingml/2006/main">
              <a:ext uri="{FF2B5EF4-FFF2-40B4-BE49-F238E27FC236}">
                <a16:creationId xmlns:a16="http://schemas.microsoft.com/office/drawing/2014/main" id="{19E1AB63-C39B-404F-9AB8-BC0A16BD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9570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阈值判定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高敏感层</a:t>
            </a:r>
          </a:p>
        </p:txBody>
      </p:sp>
      <p:sp>
        <p:nvSpPr>
          <p:cNvPr id="24619" name="">
            <a:extLst xmlns:a="http://schemas.openxmlformats.org/drawingml/2006/main">
              <a:ext uri="{FF2B5EF4-FFF2-40B4-BE49-F238E27FC236}">
                <a16:creationId xmlns:a16="http://schemas.microsoft.com/office/drawing/2014/main" id="{9B4081A0-E304-41D6-A15C-52E745F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Attention等关键层</a:t>
            </a:r>
          </a:p>
          <a:p xmlns:a="http://schemas.openxmlformats.org/drawingml/2006/main">
            <a:pPr algn="ctr">
              <a:def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保持高精度路径</a:t>
            </a:r>
          </a:p>
        </p:txBody>
      </p:sp>
      <p:sp>
        <p:nvSpPr>
          <p:cNvPr id="24620" name="">
            <a:extLst xmlns:a="http://schemas.openxmlformats.org/drawingml/2006/main">
              <a:ext uri="{FF2B5EF4-FFF2-40B4-BE49-F238E27FC236}">
                <a16:creationId xmlns:a16="http://schemas.microsoft.com/office/drawing/2014/main" id="{BDEEDF1F-2F14-4E6C-AE0A-4156A5A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338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21" name="">
            <a:extLst xmlns:a="http://schemas.openxmlformats.org/drawingml/2006/main">
              <a:ext uri="{FF2B5EF4-FFF2-40B4-BE49-F238E27FC236}">
                <a16:creationId xmlns:a16="http://schemas.microsoft.com/office/drawing/2014/main" id="{E9974132-7626-4BA5-9B9A-7B8B139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29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减少策略分布偏移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稳定长序列训练</a:t>
            </a:r>
          </a:p>
        </p:txBody>
      </p:sp>
      <p:sp>
        <p:nvSpPr>
          <p:cNvPr id="24622" name="">
            <a:extLst xmlns:a="http://schemas.openxmlformats.org/drawingml/2006/main">
              <a:ext uri="{FF2B5EF4-FFF2-40B4-BE49-F238E27FC236}">
                <a16:creationId xmlns:a16="http://schemas.microsoft.com/office/drawing/2014/main" id="{CD012497-9982-43C7-AB08-92E9287F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9C0000"/>
                </a:solidFill>
                <a:latin typeface="Microsoft YaHei"/>
                <a:ea typeface="Microsoft YaHei"/>
                <a:cs typeface="Microsoft YaHei"/>
              </a:rPr>
              <a:t>目标：只回退真正敏感层，保留INT8加速收益</a:t>
            </a:r>
          </a:p>
        </p:txBody>
      </p:sp>
      <p:sp>
        <p:nvSpPr>
          <p:cNvPr id="24623" name="">
            <a:extLst xmlns:a="http://schemas.openxmlformats.org/drawingml/2006/main">
              <a:ext uri="{FF2B5EF4-FFF2-40B4-BE49-F238E27FC236}">
                <a16:creationId xmlns:a16="http://schemas.microsoft.com/office/drawing/2014/main" id="{1201AF60-F18E-4254-BB4B-91C5C54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67300"/>
            <a:ext cx="115728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10478">
            <a:solidFill>
              <a:srgbClr val="FFC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624" name="">
            <a:extLst xmlns:a="http://schemas.openxmlformats.org/drawingml/2006/main">
              <a:ext uri="{FF2B5EF4-FFF2-40B4-BE49-F238E27FC236}">
                <a16:creationId xmlns:a16="http://schemas.microsoft.com/office/drawing/2014/main" id="{0E52C896-C772-4D73-B54B-C4F63134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提出一种基于双尺度协同感知量化的INT8 RL训推优化方法。主要保护点如下：</a:t>
            </a:r>
          </a:p>
        </p:txBody>
      </p:sp>
      <p:sp>
        <p:nvSpPr>
          <p:cNvPr id="24625" name="">
            <a:extLst xmlns:a="http://schemas.openxmlformats.org/drawingml/2006/main">
              <a:ext uri="{FF2B5EF4-FFF2-40B4-BE49-F238E27FC236}">
                <a16:creationId xmlns:a16="http://schemas.microsoft.com/office/drawing/2014/main" id="{34EF0F7D-44E8-4919-A32B-39028607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1：双尺度QAT量化尺度建模与梯度稳定更新方法</a:t>
            </a:r>
          </a:p>
        </p:txBody>
      </p:sp>
      <p:sp>
        <p:nvSpPr>
          <p:cNvPr id="24626" name="">
            <a:extLst xmlns:a="http://schemas.openxmlformats.org/drawingml/2006/main">
              <a:ext uri="{FF2B5EF4-FFF2-40B4-BE49-F238E27FC236}">
                <a16:creationId xmlns:a16="http://schemas.microsoft.com/office/drawing/2014/main" id="{FFF4A121-F122-4454-9FF9-40ABFB1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3448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联合构建weight scale与smooth scale；通过有效区间梯度、越界边界约束和归一化更新，使离群值存在时尺度仍稳定。</a:t>
            </a:r>
          </a:p>
        </p:txBody>
      </p:sp>
      <p:sp>
        <p:nvSpPr>
          <p:cNvPr id="24627" name="">
            <a:extLst xmlns:a="http://schemas.openxmlformats.org/drawingml/2006/main">
              <a:ext uri="{FF2B5EF4-FFF2-40B4-BE49-F238E27FC236}">
                <a16:creationId xmlns:a16="http://schemas.microsoft.com/office/drawing/2014/main" id="{C4CEDE78-6F3C-4FB8-B068-2EA1B82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86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2：哈希随机舍入量化误差抑制方法</a:t>
            </a:r>
          </a:p>
        </p:txBody>
      </p:sp>
      <p:sp>
        <p:nvSpPr>
          <p:cNvPr id="24628" name="">
            <a:extLst xmlns:a="http://schemas.openxmlformats.org/drawingml/2006/main">
              <a:ext uri="{FF2B5EF4-FFF2-40B4-BE49-F238E27FC236}">
                <a16:creationId xmlns:a16="http://schemas.microsoft.com/office/drawing/2014/main" id="{0BF02D7A-C8AA-44A3-8B3C-12F55BCF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562600"/>
            <a:ext cx="3448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由数值比特生成确定性伪随机数，与残差比较确定舍入方向，实现统计无偏和训推一致舍入。</a:t>
            </a:r>
          </a:p>
        </p:txBody>
      </p:sp>
      <p:sp>
        <p:nvSpPr>
          <p:cNvPr id="24629" name="">
            <a:extLst xmlns:a="http://schemas.openxmlformats.org/drawingml/2006/main">
              <a:ext uri="{FF2B5EF4-FFF2-40B4-BE49-F238E27FC236}">
                <a16:creationId xmlns:a16="http://schemas.microsoft.com/office/drawing/2014/main" id="{B420C257-4CA5-49F6-8491-3F0F0089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86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  <p:txBody>
          <a:bodyPr xmlns:a="http://schemas.openxmlformats.org/drawingml/2006/main" lIns="57150" tIns="47625" rIns="57150" bIns="476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3：累计量化误差动量估计的敏感层精度回退方法</a:t>
            </a:r>
          </a:p>
        </p:txBody>
      </p:sp>
      <p:sp>
        <p:nvSpPr>
          <p:cNvPr id="24630" name="">
            <a:extLst xmlns:a="http://schemas.openxmlformats.org/drawingml/2006/main">
              <a:ext uri="{FF2B5EF4-FFF2-40B4-BE49-F238E27FC236}">
                <a16:creationId xmlns:a16="http://schemas.microsoft.com/office/drawing/2014/main" id="{56F548B3-2EA0-4B08-9C25-D441032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3448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" tIns="19050" rIns="9525" bIns="1905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实时累计层级量化误差并以动量更新敏感度，对持续高敏感层回退精度，抑制rollout误差累积。</a:t>
            </a:r>
          </a:p>
        </p:txBody>
      </p:sp>
    </p:spTree>
    <p:extLst>
      <p:ext uri="{BB962C8B-B14F-4D97-AF65-F5344CB8AC3E}">
        <p14:creationId xmlns:p14="http://schemas.microsoft.com/office/powerpoint/2010/main" val="3372191884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2026-06-08T02:39:38.6840000Z</dcterms:created>
  <dcterms:modified xsi:type="dcterms:W3CDTF">2026-06-08T02:39:38.6840000Z</dcterms:modified>
</coreProperties>
</file>