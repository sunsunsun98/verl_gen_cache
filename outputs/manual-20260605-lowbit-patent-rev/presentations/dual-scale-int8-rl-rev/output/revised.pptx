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application/octet-stream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efb611c4fb4611" /><Relationship Type="http://schemas.openxmlformats.org/officeDocument/2006/relationships/extended-properties" Target="/docProps/app.xml" Id="R96db08a66dca41ef" /><Relationship Type="http://schemas.openxmlformats.org/officeDocument/2006/relationships/officeDocument" Target="/ppt/presentation.xml" Id="R0e877e8b4a3d46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58ced40fee419b"/>
  </p:sldMasterIdLst>
  <p:notesMasterIdLst>
    <p:notesMasterId xmlns:r="http://schemas.openxmlformats.org/officeDocument/2006/relationships" r:id="Rab776a96157c48fa"/>
  </p:notesMasterIdLst>
  <p:sldIdLst>
    <p:sldId xmlns:r="http://schemas.openxmlformats.org/officeDocument/2006/relationships" id="256" r:id="Rbc0d42e7e82149e0"/>
    <p:sldId xmlns:r="http://schemas.openxmlformats.org/officeDocument/2006/relationships" id="257" r:id="R6365e3e0741e4a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249205fe4549e4" /><Relationship Type="http://schemas.openxmlformats.org/officeDocument/2006/relationships/slideMaster" Target="/ppt/slideMasters/slideMaster1.xml" Id="R0258ced40fee419b" /><Relationship Type="http://schemas.openxmlformats.org/officeDocument/2006/relationships/notesMaster" Target="/ppt/notesMasters/notesMaster1.xml" Id="Rab776a96157c48fa" /><Relationship Type="http://schemas.openxmlformats.org/officeDocument/2006/relationships/presProps" Target="/ppt/presProps.xml" Id="R609b2cb8873f4572" /><Relationship Type="http://schemas.openxmlformats.org/officeDocument/2006/relationships/viewProps" Target="/ppt/viewProps.xml" Id="R7251b4a1c9f74adb" /><Relationship Type="http://schemas.openxmlformats.org/officeDocument/2006/relationships/tableStyles" Target="/ppt/tableStyles.xml" Id="R5cebeeaa26ae4c37" /><Relationship Type="http://schemas.openxmlformats.org/officeDocument/2006/relationships/slide" Target="/ppt/slides/slide1.xml" Id="Rbc0d42e7e82149e0" /><Relationship Type="http://schemas.openxmlformats.org/officeDocument/2006/relationships/slide" Target="/ppt/slides/slide2.xml" Id="R6365e3e0741e4a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7dd83f13e645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自定义设计方案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64aaf88e1f4d89" /><Relationship Type="http://schemas.openxmlformats.org/officeDocument/2006/relationships/notesMaster" Target="/ppt/notesMasters/notesMaster1.xml" Id="Rc796987e83ae4d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a874bcb2de48ab" /><Relationship Type="http://schemas.openxmlformats.org/officeDocument/2006/relationships/notesMaster" Target="/ppt/notesMasters/notesMaster1.xml" Id="R2b6c077b3c9942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00b349425248dd" /><Relationship Type="http://schemas.openxmlformats.org/officeDocument/2006/relationships/image" Target="/ppt/media/image3.png" Id="R9f5e8149aca54c71" /><Relationship Type="http://schemas.openxmlformats.org/officeDocument/2006/relationships/image" Target="/ppt/media/image4.png" Id="Rc6257d998b7044f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88e80b3c0f43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5739cb16f84e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bd9432b6944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8aba83e3b6465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f3272851f9460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8f01abdf16425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26e0faa3e4d8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24e7ba0950462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31604be7c421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efea0a123417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9c33e06574ab0" /></Relationships>
</file>

<file path=ppt/slideLayouts/slideLayout1.xml><?xml version="1.0" encoding="utf-8"?>
<p:sldLayout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e8149aca54c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8" y="784225"/>
            <a:ext cx="12190412" cy="3810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Text Box 5">
            <a:extLst xmlns:a="http://schemas.openxmlformats.org/drawingml/2006/main">
              <a:ext uri="{FF2B5EF4-FFF2-40B4-BE49-F238E27FC236}">
                <a16:creationId xmlns:a16="http://schemas.microsoft.com/office/drawing/2014/main" id="{57B5A208-1EA5-4D8C-AC1E-D9CDD3F5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6205538"/>
            <a:ext cx="2443163" cy="26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78270" tIns="39135" rIns="78270" bIns="39135">
            <a:spAutoFit/>
          </a:bodyPr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1200">
                <a:latin typeface="FrutigerNext LT Bold"/>
                <a:ea typeface="FrutigerNext LT Bold"/>
                <a:cs typeface="FrutigerNext LT Bold"/>
              </a:rPr>
              <a:t>HUAWEI TECHNOLOGIES CO., LTD.</a:t>
            </a:r>
          </a:p>
        </p:txBody>
      </p:sp>
      <p:sp>
        <p:nvSpPr>
          <p:cNvPr id="4" name="Text Box 6">
            <a:extLst xmlns:a="http://schemas.openxmlformats.org/drawingml/2006/main">
              <a:ext uri="{FF2B5EF4-FFF2-40B4-BE49-F238E27FC236}">
                <a16:creationId xmlns:a16="http://schemas.microsoft.com/office/drawing/2014/main" id="{76C1559E-D268-467D-AA8A-67D20C7F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113" y="3984625"/>
            <a:ext cx="2003425" cy="325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91364" tIns="45680" rIns="91364" bIns="45680"/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1800"/>
              <a:t>www.huawei.com</a:t>
            </a:r>
          </a:p>
        </p:txBody>
      </p:sp>
      <p:pic>
        <p:nvPicPr>
          <p:cNvPr id="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57d998b7044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40913" y="5445125"/>
            <a:ext cx="1519237" cy="11398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1B2BB59-1819-4D09-A5AA-967009D19F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9F6266D-8134-48C5-BF9B-FA95853E2C5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D7177CC-528D-47D2-9D50-478209E3E0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9CC16276-6ACB-4A2A-A03F-C44D353DD48A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4DDCC55-58E7-4295-B2A1-DD123284A9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1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23A31CE-2E10-4AFD-8898-EBD9B5C596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CCCD475-1D06-4C02-A373-08792731D5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D9AC36A0-AC03-4F94-98EF-EA91A648A125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8BD3F36-8FA8-4460-9F13-DA4CABAC1E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49ECACF-D707-40BC-B8CC-7DEB46F1B69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318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A20BA6A-817E-4940-B281-5131CAC0251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47F9446-F69F-4F56-A72D-47D95138F5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D2FF5886-5F88-43B0-8384-127CBE4CA9D0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E719615-9D27-457E-B6CD-F611FC29B9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94DADF3-2829-4283-A3BB-181EA79051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E729722-EF85-4789-B1D0-39F1657FB7B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26CCF04-4843-4EDD-8173-985979E356F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8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1B41CB7D-8721-44E0-B90A-F9CAE273426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8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D3D2A7C-D571-4482-9138-80C6CC3C57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F47C3515-A20A-4CC4-AB65-EF2298B43A19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04C45BF-E823-4481-9BCA-4EBAADFA85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D5643DC-A818-40D6-96E7-75C0AF6B81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38A857C1-AAC1-41C4-AD07-95A97C85156E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CD76168-5E34-4F64-A4D8-C338028FDF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C41C4F78-A9C2-4F7D-B32A-D37166658E91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BD3A5B1-3883-4432-BEDD-0A3F06E2D3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1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36A44DE-7990-4364-9F9D-185E1B51DC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1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D9F746E-B8B6-4DDB-A37F-B3D43E0138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1" y="1435101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9E68A3-C031-4A9A-BE66-919782B5E2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F8199A2E-82C0-4BB8-B204-8B61A41341BB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B7787E7-31CF-420B-BFCE-24D99BFF4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C3BBC05D-97EA-44F7-9B17-AFB816A1188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2C47D75-416D-4D8C-B974-244D7A2AEF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80C9DD0-DC4E-4265-BFD8-CFB619CB2B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3F7319A2-3A06-410D-AC34-40C219823E4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048DA55-0C3E-4F5B-9318-97DB8E7CA0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1D0DA1D1-6F10-4B07-BF14-30ED621D30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FBB1F58-9604-46C9-92C3-7390AC25B6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E5B4CDA3-E8CF-443F-8DFE-C12DA662A44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AE05A7-3833-4205-93AF-8F344B815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28101" y="115889"/>
            <a:ext cx="2832100" cy="60102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723CE15-CBCB-430C-B3D4-3ADA9CA55E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31801" y="115889"/>
            <a:ext cx="8293100" cy="601027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E47D120-E1EE-48C8-8931-0BA1E05148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2A7F8B66-0DC9-42B9-A927-2EDE0806B881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标题，文本与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F67898C-D621-4DAF-A8CA-A0AEDC2CE8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29733" y="115888"/>
            <a:ext cx="10752667" cy="6334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72F9A21-61DB-4BE5-834B-D3A1230D00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318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DD9BE49-C44A-4EE4-AEF8-57560D84197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908050"/>
            <a:ext cx="5562600" cy="52181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82C419B-83CC-4336-AA86-DEA1DF4AEE6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34E32DED-6DB2-4A9B-9A29-243C689DD2C8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b686cad7b38d4d44" /><Relationship Type="http://schemas.openxmlformats.org/officeDocument/2006/relationships/image" Target="/ppt/media/image2.png" Id="R49adc6b6dffd470a" /><Relationship Type="http://schemas.openxmlformats.org/officeDocument/2006/relationships/theme" Target="/ppt/slideMasters/theme/theme2.xml" Id="Re9b21a2e80ba465b" /><Relationship Type="http://schemas.openxmlformats.org/officeDocument/2006/relationships/slideLayout" Target="/ppt/slideLayouts/slideLayout1.xml" Id="R501523a579854bdf" /><Relationship Type="http://schemas.openxmlformats.org/officeDocument/2006/relationships/slideLayout" Target="/ppt/slideLayouts/slideLayout2.xml" Id="R0885efc64de6473b" /><Relationship Type="http://schemas.openxmlformats.org/officeDocument/2006/relationships/slideLayout" Target="/ppt/slideLayouts/slideLayout3.xml" Id="Rcd99cb423e0342d9" /><Relationship Type="http://schemas.openxmlformats.org/officeDocument/2006/relationships/slideLayout" Target="/ppt/slideLayouts/slideLayout4.xml" Id="R551d635eeb384427" /><Relationship Type="http://schemas.openxmlformats.org/officeDocument/2006/relationships/slideLayout" Target="/ppt/slideLayouts/slideLayout5.xml" Id="R13bce1de872342ea" /><Relationship Type="http://schemas.openxmlformats.org/officeDocument/2006/relationships/slideLayout" Target="/ppt/slideLayouts/slideLayout6.xml" Id="R9ed5931164294ba3" /><Relationship Type="http://schemas.openxmlformats.org/officeDocument/2006/relationships/slideLayout" Target="/ppt/slideLayouts/slideLayout7.xml" Id="Re47f20c7371e4281" /><Relationship Type="http://schemas.openxmlformats.org/officeDocument/2006/relationships/slideLayout" Target="/ppt/slideLayouts/slideLayout8.xml" Id="Re824f2c1cfa64574" /><Relationship Type="http://schemas.openxmlformats.org/officeDocument/2006/relationships/slideLayout" Target="/ppt/slideLayouts/slideLayout9.xml" Id="Rb325180d059a43dd" /><Relationship Type="http://schemas.openxmlformats.org/officeDocument/2006/relationships/slideLayout" Target="/ppt/slideLayouts/slideLayout10.xml" Id="R2e828e15ae7948c6" /><Relationship Type="http://schemas.openxmlformats.org/officeDocument/2006/relationships/slideLayout" Target="/ppt/slideLayouts/slideLayout11.xml" Id="Rf2d9f9ae49044dda" /><Relationship Type="http://schemas.openxmlformats.org/officeDocument/2006/relationships/slideLayout" Target="/ppt/slideLayouts/slideLayout12.xml" Id="R5b74e8736eff484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A8AFAF2-2C3D-4426-8E37-8BAAA2B7A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0263" y="115888"/>
            <a:ext cx="10752137" cy="633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78270" tIns="39135" rIns="78270" bIns="39135" anchor="ctr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单击此处编辑母版标题样式</a:t>
            </a: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261BD5F-D894-438D-BA44-461384EEF3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31800" y="908050"/>
            <a:ext cx="11328400" cy="5218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78270" tIns="39135" rIns="78270" bIns="39135" anchor="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pic>
        <p:nvPicPr>
          <p:cNvPr id="102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6cad7b38d4d4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221413"/>
            <a:ext cx="12190413" cy="6365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29" name="Text Box 5">
            <a:extLst xmlns:a="http://schemas.openxmlformats.org/drawingml/2006/main">
              <a:ext uri="{FF2B5EF4-FFF2-40B4-BE49-F238E27FC236}">
                <a16:creationId xmlns:a16="http://schemas.microsoft.com/office/drawing/2014/main" id="{10D1B781-CA80-4AF2-944F-31B86DE32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" y="6434138"/>
            <a:ext cx="1704975" cy="26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78276" tIns="39141" rIns="78276" bIns="39141">
            <a:spAutoFit/>
          </a:bodyPr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1200">
                <a:latin typeface="FrutigerNext LT Bold"/>
                <a:ea typeface="FrutigerNext LT Bold"/>
                <a:cs typeface="FrutigerNext LT Bold"/>
              </a:rPr>
              <a:t>HUAWEI </a:t>
            </a:r>
            <a:r>
              <a:rPr sz="1200">
                <a:solidFill>
                  <a:srgbClr val="990000"/>
                </a:solidFill>
                <a:latin typeface="FrutigerNext LT Bold"/>
                <a:ea typeface="FrutigerNext LT Bold"/>
                <a:cs typeface="FrutigerNext LT Bold"/>
              </a:rPr>
              <a:t>CONFIDENTIAL</a:t>
            </a:r>
          </a:p>
        </p:txBody>
      </p:sp>
      <p:sp>
        <p:nvSpPr>
          <p:cNvPr id="13318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6BD7857-8719-4AEF-B23F-1C3064BDEA7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905750" y="6400800"/>
            <a:ext cx="1409700" cy="110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0" tIns="0" rIns="0" bIns="0" anchor="t"/>
          <a:lstStyle xmlns:a="http://schemas.openxmlformats.org/drawingml/2006/main">
            <a:lvl1pPr>
              <a:lnSpc>
                <a:spcPct val="85000"/>
              </a:lnSpc>
              <a:buNone/>
              <a:defRPr sz="1000">
                <a:latin typeface="FrutigerNext LT Medium"/>
                <a:ea typeface="FrutigerNext LT Medium"/>
                <a:cs typeface="FrutigerNext LT Medium"/>
              </a:defRPr>
            </a:lvl1pPr>
          </a:lstStyle>
          <a:p xmlns:a="http://schemas.openxmlformats.org/drawingml/2006/main">
            <a:pPr>
              <a:buNone/>
            </a:pPr>
          </a:p>
          <a:p xmlns:a="http://schemas.openxmlformats.org/drawingml/2006/main">
            <a:pPr>
              <a:buNone/>
            </a:pPr>
            <a:fld id="{49904D6F-5DD4-245D-5D72-66C631BE28CC}" type="datetime1">
              <a:t>Page </a:t>
            </a:fld>
            <a:fld id="{C7A6A17C-8CE3-41D7-BD5F-4774EFB3B3E8}" type="slidenum">
              <a:t>‹#›</a:t>
            </a:fld>
          </a:p>
        </p:txBody>
      </p:sp>
      <p:sp>
        <p:nvSpPr>
          <p:cNvPr id="1032" name="Text Box 8">
            <a:extLst xmlns:a="http://schemas.openxmlformats.org/drawingml/2006/main">
              <a:ext uri="{FF2B5EF4-FFF2-40B4-BE49-F238E27FC236}">
                <a16:creationId xmlns:a16="http://schemas.microsoft.com/office/drawing/2014/main" id="{2458C209-3534-41EC-8D46-31D1BBB4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988" y="6407150"/>
            <a:ext cx="3705225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78315" tIns="39159" rIns="78315" bIns="39159">
            <a:spAutoFit/>
          </a:bodyPr>
          <a:lstStyle xmlns:a="http://schemas.openxmlformats.org/drawingml/2006/main">
            <a:lvl1pPr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buNone/>
            </a:pPr>
            <a:r>
              <a:rPr sz="1500"/>
              <a:t>内部资料 注意保密</a:t>
            </a:r>
          </a:p>
        </p:txBody>
      </p:sp>
      <p:pic>
        <p:nvPicPr>
          <p:cNvPr id="1332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adc6b6dffd470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91738" y="6442075"/>
            <a:ext cx="1668462" cy="273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1523a579854bdf"/>
    <p:sldLayoutId xmlns:r="http://schemas.openxmlformats.org/officeDocument/2006/relationships" id="2147483650" r:id="R0885efc64de6473b"/>
    <p:sldLayoutId xmlns:r="http://schemas.openxmlformats.org/officeDocument/2006/relationships" id="2147483651" r:id="Rcd99cb423e0342d9"/>
    <p:sldLayoutId xmlns:r="http://schemas.openxmlformats.org/officeDocument/2006/relationships" id="2147483652" r:id="R551d635eeb384427"/>
    <p:sldLayoutId xmlns:r="http://schemas.openxmlformats.org/officeDocument/2006/relationships" id="2147483653" r:id="R13bce1de872342ea"/>
    <p:sldLayoutId xmlns:r="http://schemas.openxmlformats.org/officeDocument/2006/relationships" id="2147483654" r:id="R9ed5931164294ba3"/>
    <p:sldLayoutId xmlns:r="http://schemas.openxmlformats.org/officeDocument/2006/relationships" id="2147483655" r:id="Re47f20c7371e4281"/>
    <p:sldLayoutId xmlns:r="http://schemas.openxmlformats.org/officeDocument/2006/relationships" id="2147483656" r:id="Re824f2c1cfa64574"/>
    <p:sldLayoutId xmlns:r="http://schemas.openxmlformats.org/officeDocument/2006/relationships" id="2147483657" r:id="Rb325180d059a43dd"/>
    <p:sldLayoutId xmlns:r="http://schemas.openxmlformats.org/officeDocument/2006/relationships" id="2147483658" r:id="R2e828e15ae7948c6"/>
    <p:sldLayoutId xmlns:r="http://schemas.openxmlformats.org/officeDocument/2006/relationships" id="2147483659" r:id="Rf2d9f9ae49044dda"/>
    <p:sldLayoutId xmlns:r="http://schemas.openxmlformats.org/officeDocument/2006/relationships" id="2147483660" r:id="R5b74e8736eff4846"/>
  </p:sldLayoutIdLst>
  <p:hf sldNum="0" hdr="0" ftr="0"/>
  <p:txStyles>
    <p:titleStyle>
      <a:lvl1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+mj-lt"/>
          <a:ea typeface="+mj-lt"/>
          <a:cs typeface="+mj-lt"/>
        </a:defRPr>
      </a:lvl1pPr>
      <a:lvl2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5pPr>
      <a:lvl6pPr xmlns:a="http://schemas.openxmlformats.org/drawingml/2006/main" marL="4572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6pPr>
      <a:lvl7pPr xmlns:a="http://schemas.openxmlformats.org/drawingml/2006/main" marL="9144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7pPr>
      <a:lvl8pPr xmlns:a="http://schemas.openxmlformats.org/drawingml/2006/main" marL="13716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8pPr>
      <a:lvl9pPr xmlns:a="http://schemas.openxmlformats.org/drawingml/2006/main" marL="1828800" algn="l">
        <a:spcBef>
          <a:spcPts val="0"/>
        </a:spcBef>
        <a:spcAft>
          <a:spcPts val="0"/>
        </a:spcAft>
        <a:buNone/>
        <a:defRPr sz="2800" b="1">
          <a:solidFill>
            <a:srgbClr val="99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L="252413" indent="-252413" algn="l">
        <a:lnSpc>
          <a:spcPct val="140000"/>
        </a:lnSpc>
        <a:spcBef>
          <a:spcPts val="0"/>
        </a:spcBef>
        <a:spcAft>
          <a:spcPts val="0"/>
        </a:spcAft>
        <a:buChar char="n"/>
        <a:defRPr sz="1600" b="1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46100" indent="-209550" algn="l">
        <a:lnSpc>
          <a:spcPct val="140000"/>
        </a:lnSpc>
        <a:spcBef>
          <a:spcPts val="0"/>
        </a:spcBef>
        <a:spcAft>
          <a:spcPts val="0"/>
        </a:spcAft>
        <a:buChar char="–"/>
        <a:defRPr sz="19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39788" indent="-168275" algn="l">
        <a:lnSpc>
          <a:spcPct val="140000"/>
        </a:lnSpc>
        <a:spcBef>
          <a:spcPts val="0"/>
        </a:spcBef>
        <a:spcAft>
          <a:spcPts val="0"/>
        </a:spcAft>
        <a:buChar char="•"/>
        <a:defRPr sz="19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174750" indent="-168275" algn="l">
        <a:lnSpc>
          <a:spcPct val="140000"/>
        </a:lnSpc>
        <a:spcBef>
          <a:spcPts val="0"/>
        </a:spcBef>
        <a:spcAft>
          <a:spcPts val="0"/>
        </a:spcAft>
        <a:buChar char="–"/>
        <a:defRPr sz="19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097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9669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4241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8813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338513" indent="-166688" algn="l">
        <a:lnSpc>
          <a:spcPct val="140000"/>
        </a:lnSpc>
        <a:spcBef>
          <a:spcPts val="0"/>
        </a:spcBef>
        <a:spcAft>
          <a:spcPts val="0"/>
        </a:spcAft>
        <a:buChar char="»"/>
        <a:defRPr sz="19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自定义设计方案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c4951005947b6" /><Relationship Type="http://schemas.openxmlformats.org/officeDocument/2006/relationships/notesSlide" Target="/ppt/notesSlides/notesSlide1.xml" Id="R787b032a6bea47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e552819da2409a" /><Relationship Type="http://schemas.openxmlformats.org/officeDocument/2006/relationships/image" Target="/ppt/media/image.bin" Id="R9dff5f96ccd54bce" /><Relationship Type="http://schemas.openxmlformats.org/officeDocument/2006/relationships/notesSlide" Target="/ppt/notesSlides/notesSlide2.xml" Id="R354ce8235119447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22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CDE6994-6BFE-4D47-89AE-22E53C4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7025"/>
            <a:ext cx="2160588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78309" tIns="39153" rIns="78309" bIns="39153">
            <a:spAutoFit/>
          </a:bodyPr>
          <a:lstStyle xmlns:a="http://schemas.openxmlformats.org/drawingml/2006/main">
            <a:lvl1pPr>
              <a:lnSpc>
                <a:spcPct val="140000"/>
              </a:lnSpc>
              <a:buChar char="n"/>
              <a:defRPr sz="16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40000"/>
              </a:lnSpc>
              <a:buChar char="•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40000"/>
              </a:lnSpc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1500" b="0">
                <a:solidFill>
                  <a:srgbClr val="666666"/>
                </a:solidFill>
                <a:latin typeface="FrutigerNext LT Regular"/>
                <a:ea typeface="FrutigerNext LT Regular"/>
                <a:cs typeface="FrutigerNext LT Regular"/>
              </a:rPr>
              <a:t>Security Level</a:t>
            </a:r>
            <a:r>
              <a:rPr sz="1500" b="0">
                <a:solidFill>
                  <a:srgbClr val="666666"/>
                </a:solidFill>
                <a:latin typeface="FrutigerNext LT Regular"/>
                <a:ea typeface="FrutigerNext LT Regular"/>
                <a:cs typeface="FrutigerNext LT Regular"/>
              </a:rPr>
              <a:t>：</a:t>
            </a:r>
            <a:r>
              <a:rPr sz="1500" b="0">
                <a:solidFill>
                  <a:srgbClr val="666666"/>
                </a:solidFill>
                <a:latin typeface="FrutigerNext LT Regular"/>
                <a:ea typeface="FrutigerNext LT Regular"/>
                <a:cs typeface="FrutigerNext LT Regular"/>
              </a:rPr>
              <a:t>Internal </a:t>
            </a:r>
          </a:p>
        </p:txBody>
      </p:sp>
      <p:sp>
        <p:nvSpPr>
          <p:cNvPr id="5124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75F1CE7-CB0D-4DC9-87C2-A64428BB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8" y="2094674"/>
            <a:ext cx="9577064" cy="18068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82522" tIns="41261" rIns="82522" bIns="41261">
            <a:spAutoFit/>
          </a:bodyPr>
          <a:lstStyle xmlns:a="http://schemas.openxmlformats.org/drawingml/2006/main">
            <a:lvl1pPr>
              <a:lnSpc>
                <a:spcPct val="140000"/>
              </a:lnSpc>
              <a:buChar char="n"/>
              <a:defRPr sz="16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40000"/>
              </a:lnSpc>
              <a:buChar char="•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40000"/>
              </a:lnSpc>
              <a:buChar char="–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lnSpc>
                <a:spcPct val="140000"/>
              </a:lnSpc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har char="»"/>
              <a:defRPr sz="19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800"/>
              <a:t>一种基于双尺度协同感知量化的INT8 RL训推优化方法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t/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800" b="0">
                <a:latin typeface="微软雅黑"/>
                <a:ea typeface="微软雅黑"/>
                <a:cs typeface="微软雅黑"/>
              </a:rPr>
              <a:t>推理架构项目组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1059104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53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7511B11-1593-4B94-9DC1-4AADD0451F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79376" y="-35626"/>
            <a:ext cx="11449272" cy="6334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latin typeface="黑体"/>
                <a:ea typeface="黑体"/>
                <a:cs typeface="黑体"/>
              </a:rPr>
              <a:t>双尺度协同感知INT8 RL训推优化方法的技术方案和保护点</a:t>
            </a:r>
          </a:p>
        </p:txBody>
      </p:sp>
      <p:sp>
        <p:nvSpPr>
          <p:cNvPr id="24581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DABCBADD-0457-4E6E-863C-11033DEC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36" y="636043"/>
            <a:ext cx="11809312" cy="2289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342900" indent="-3429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457200">
              <a:lnSpc>
                <a:spcPct val="120000"/>
              </a:lnSpc>
              <a:buNone/>
            </a:pPr>
            <a:r>
              <a:rPr sz="1200">
                <a:latin typeface="微软雅黑"/>
                <a:ea typeface="微软雅黑"/>
                <a:cs typeface="微软雅黑"/>
              </a:rPr>
              <a:t>本发明涉及低比特强化学习后训练与推理加速的量化优化方法。针对W8A8 rollout中权重量化网格失配、激活离群值放大及舍入偏差累积导致的训推分布不一致问题，提出一种基于双尺度协同感知量化的INT8 RL训推优化方法，主体方案如下：</a:t>
            </a:r>
          </a:p>
          <a:p xmlns:a="http://schemas.openxmlformats.org/drawingml/2006/main">
            <a:pPr marL="228600" indent="-228600">
              <a:lnSpc>
                <a:spcPct val="120000"/>
              </a:lnSpc>
              <a:buAutoNum type="arabicPeriod"/>
            </a:pPr>
            <a:r>
              <a:rPr sz="1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权重量化尺度自适应感知模块：在线性层权重量化路径中引入可学习weight scale，将量化步长纳入QAT优化；前向模拟INT8映射与反量化误差，反向经STE感知截断和重构误差，并结合动态范围跟踪与LSQ梯度缩放，实现尺度稳定更新。</a:t>
            </a:r>
          </a:p>
          <a:p xmlns:a="http://schemas.openxmlformats.org/drawingml/2006/main">
            <a:pPr marL="228600" indent="-228600">
              <a:lnSpc>
                <a:spcPct val="120000"/>
              </a:lnSpc>
              <a:buAutoNum type="arabicPeriod"/>
            </a:pPr>
            <a:r>
              <a:rPr sz="1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激活-权重双向平滑重参数化模块：针对激活侧通道离群值，引入按输入通道定义的smooth scale，对线性层输入执行x/s缩放、对权重执行W·s补偿，在保持浮点计算等价的前提下降低W8A8激活量化动态范围压力。</a:t>
            </a:r>
          </a:p>
          <a:p xmlns:a="http://schemas.openxmlformats.org/drawingml/2006/main">
            <a:pPr marL="228600" indent="-228600">
              <a:lnSpc>
                <a:spcPct val="120000"/>
              </a:lnSpc>
              <a:buAutoNum type="arabicPeriod"/>
            </a:pPr>
            <a:r>
              <a:rPr sz="1200" b="1">
                <a:solidFill>
                  <a:srgbClr val="0070C0"/>
                </a:solidFill>
                <a:latin typeface="微软雅黑"/>
                <a:ea typeface="微软雅黑"/>
                <a:cs typeface="微软雅黑"/>
              </a:rPr>
              <a:t>量化偏差协同校准模块：联合敏感层精度回退、哈希随机舍入和scale稳定化更新，对舍入偏差、敏感层误差和量化残差进行校准，抑制长序列rollout中的量化误差累积。</a:t>
            </a:r>
          </a:p>
        </p:txBody>
      </p:sp>
      <p:sp>
        <p:nvSpPr>
          <p:cNvPr id="5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BA95AE8-C2A4-4B46-9F35-32346FA6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1" y="-200055"/>
            <a:ext cx="184731" cy="400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044B0F85-585C-4C28-A5ED-09D1924D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85" y="5072345"/>
            <a:ext cx="11449272" cy="10908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00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457200">
              <a:lnSpc>
                <a:spcPct val="120000"/>
              </a:lnSpc>
              <a:buNone/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提出一种基于双尺度协同感知量化的INT8 RL训推优化方法。主要保护点如下：</a:t>
            </a:r>
          </a:p>
          <a:p xmlns:a="http://schemas.openxmlformats.org/drawingml/2006/main">
            <a:pPr marL="0" indent="457200">
              <a:lnSpc>
                <a:spcPct val="120000"/>
              </a:lnSpc>
              <a:buNone/>
            </a:pPr>
            <a:r>
              <a:rPr sz="1100" b="1">
                <a:latin typeface="微软雅黑"/>
                <a:ea typeface="微软雅黑"/>
                <a:cs typeface="微软雅黑"/>
              </a:rPr>
              <a:t>1：保护一种双尺度协同感知的QAT量化尺度建模方法</a:t>
            </a:r>
          </a:p>
          <a:p xmlns:a="http://schemas.openxmlformats.org/drawingml/2006/main">
            <a:pPr marL="0" indent="457200">
              <a:lnSpc>
                <a:spcPct val="120000"/>
              </a:lnSpc>
              <a:buNone/>
            </a:pPr>
            <a:r>
              <a:rPr sz="1100">
                <a:latin typeface="微软雅黑"/>
                <a:ea typeface="微软雅黑"/>
                <a:cs typeface="微软雅黑"/>
              </a:rPr>
              <a:t>其特征在于联合构建可学习weight scale与smooth scale两类尺度变量，分别对权重量化步长和激活离群值进行协同建模，并通过动态范围跟踪与梯度缩放提升scale更新稳定性。</a:t>
            </a:r>
          </a:p>
          <a:p xmlns:a="http://schemas.openxmlformats.org/drawingml/2006/main">
            <a:pPr marL="0" indent="457200">
              <a:lnSpc>
                <a:spcPct val="120000"/>
              </a:lnSpc>
              <a:buNone/>
            </a:pPr>
            <a:r>
              <a:rPr sz="1100" b="1">
                <a:latin typeface="微软雅黑"/>
                <a:ea typeface="微软雅黑"/>
                <a:cs typeface="微软雅黑"/>
              </a:rPr>
              <a:t>2：保护一种面向INT8 RL训推一致性的量化偏差校准方法</a:t>
            </a:r>
          </a:p>
          <a:p xmlns:a="http://schemas.openxmlformats.org/drawingml/2006/main">
            <a:pPr marL="0" indent="457200">
              <a:lnSpc>
                <a:spcPct val="120000"/>
              </a:lnSpc>
              <a:buNone/>
            </a:pPr>
            <a:r>
              <a:rPr sz="1100">
                <a:latin typeface="微软雅黑"/>
                <a:ea typeface="微软雅黑"/>
                <a:cs typeface="微软雅黑"/>
              </a:rPr>
              <a:t>其特征在于结合敏感层精度回退、哈希随机舍入和scale稳定化更新，对W8A8 rollout中的舍入偏差、敏感层误差和量化残差进行协同校准，提升低比特RL训练稳定性。</a:t>
            </a:r>
          </a:p>
        </p:txBody>
      </p:sp>
      <p:pic>
        <p:nvPicPr>
          <p:cNvPr id="2458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f5f96ccd54b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9674" y="3505488"/>
            <a:ext cx="4583832" cy="979288"/>
          </a:xfrm>
          <a:prstGeom xmlns:a="http://schemas.openxmlformats.org/drawingml/2006/main" prst="rect">
            <a:avLst/>
          </a:prstGeom>
        </p:spPr>
      </p:pic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1FD6C74D-AECA-429B-B4B1-182E34EF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56" y="2963176"/>
            <a:ext cx="4932548" cy="205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064754E9-DFD2-4787-904B-9CD41F27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56" y="3001432"/>
            <a:ext cx="27003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latin typeface="微软雅黑"/>
                <a:ea typeface="微软雅黑"/>
                <a:cs typeface="微软雅黑"/>
              </a:rPr>
              <a:t>权重量化尺度自适应感知模块</a:t>
            </a:r>
          </a:p>
        </p:txBody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54F7C9F3-E791-4548-9592-3DDB9169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3382" y="2958694"/>
            <a:ext cx="6593258" cy="20544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4" name="文本框 73">
            <a:extLst xmlns:a="http://schemas.openxmlformats.org/drawingml/2006/main">
              <a:ext uri="{FF2B5EF4-FFF2-40B4-BE49-F238E27FC236}">
                <a16:creationId xmlns:a16="http://schemas.microsoft.com/office/drawing/2014/main" id="{08D28B7C-FA11-43D4-9992-2283CAC2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9916" y="2981687"/>
            <a:ext cx="27003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微软雅黑"/>
                <a:ea typeface="微软雅黑"/>
                <a:cs typeface="微软雅黑"/>
              </a:rPr>
              <a:t>激活-权重双向平滑重参数化模块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030AAA89-D63E-4196-A735-DB02CB94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7983" y="3776248"/>
            <a:ext cx="123539" cy="67033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479F4F4F-C40D-42A6-8BA1-58B9FDA9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65390" y="3941383"/>
            <a:ext cx="123539" cy="5051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6D98810D-1BD8-48ED-BF17-1A6D588F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2796" y="4366734"/>
            <a:ext cx="123539" cy="7984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1C2877A7-A3A8-4197-B788-B2276538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0202" y="4396828"/>
            <a:ext cx="123539" cy="497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065FFC33-22DB-4AD8-8E5B-D610AF24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7609" y="4408056"/>
            <a:ext cx="123539" cy="385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EFC3C8DA-EBF7-40E6-BF13-C1B4468C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2130" y="3447214"/>
            <a:ext cx="797730" cy="21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BF7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W_fp</a:t>
            </a: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B395D04F-F3BA-44D4-8C71-D078A253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61338" y="3446635"/>
            <a:ext cx="797730" cy="21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Scale</a:t>
            </a:r>
          </a:p>
        </p:txBody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5F04F9BE-27EC-4E05-82BA-4F8C17A4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2474" y="3430604"/>
            <a:ext cx="797730" cy="2147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W_int8</a:t>
            </a:r>
          </a:p>
        </p:txBody>
      </p:sp>
      <p:cxnSp>
        <p:nvCxnSpPr>
          <p:cNvPr id="24597" name="直接箭头连接符 83"/>
          <p:cNvCxnSpPr>
            <a:stCxn xmlns:a="http://schemas.openxmlformats.org/drawingml/2006/main" id="76" idx="0"/>
            <a:endCxn xmlns:a="http://schemas.openxmlformats.org/drawingml/2006/main" id="81" idx="2"/>
          </p:cNvCxnSpPr>
          <p:nvPr/>
        </p:nvCxnSpPr>
        <p:spPr>
          <a:xfrm xmlns:a="http://schemas.openxmlformats.org/drawingml/2006/main" rot="0" flipH="1" flipV="1">
            <a:off x="9030994" y="3662005"/>
            <a:ext cx="448759" cy="11424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598" name="直接箭头连接符 84"/>
          <p:cNvCxnSpPr>
            <a:stCxn xmlns:a="http://schemas.openxmlformats.org/drawingml/2006/main" id="77" idx="0"/>
            <a:endCxn xmlns:a="http://schemas.openxmlformats.org/drawingml/2006/main" id="82" idx="2"/>
          </p:cNvCxnSpPr>
          <p:nvPr/>
        </p:nvCxnSpPr>
        <p:spPr>
          <a:xfrm xmlns:a="http://schemas.openxmlformats.org/drawingml/2006/main" rot="0" flipV="1">
            <a:off x="9627160" y="3661426"/>
            <a:ext cx="233043" cy="279956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599" name="直接箭头连接符 85"/>
          <p:cNvCxnSpPr>
            <a:stCxn xmlns:a="http://schemas.openxmlformats.org/drawingml/2006/main" id="80" idx="0"/>
            <a:endCxn xmlns:a="http://schemas.openxmlformats.org/drawingml/2006/main" id="83" idx="2"/>
          </p:cNvCxnSpPr>
          <p:nvPr/>
        </p:nvCxnSpPr>
        <p:spPr>
          <a:xfrm xmlns:a="http://schemas.openxmlformats.org/drawingml/2006/main" rot="0" flipV="1">
            <a:off x="10069379" y="3645395"/>
            <a:ext cx="1011960" cy="762661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B10867B7-AFE9-4499-83B3-2B6B99E9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9680" y="4462572"/>
            <a:ext cx="3084584" cy="24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latin typeface="微软雅黑"/>
                <a:ea typeface="微软雅黑"/>
                <a:cs typeface="微软雅黑"/>
              </a:rPr>
              <a:t>weight scale随训练阶段稳定调整</a:t>
            </a: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66738F6C-72B9-4F99-8C48-3A5A884B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2086" y="3780928"/>
            <a:ext cx="123539" cy="67033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0" name="矩形 89">
            <a:extLst xmlns:a="http://schemas.openxmlformats.org/drawingml/2006/main">
              <a:ext uri="{FF2B5EF4-FFF2-40B4-BE49-F238E27FC236}">
                <a16:creationId xmlns:a16="http://schemas.microsoft.com/office/drawing/2014/main" id="{307E01FB-0E7C-4291-9410-5311256C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9493" y="3946062"/>
            <a:ext cx="123539" cy="5051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A1756335-6ED9-40E9-9DAA-AB25A808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6899" y="4371414"/>
            <a:ext cx="123539" cy="7984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2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2" name="矩形 91">
            <a:extLst xmlns:a="http://schemas.openxmlformats.org/drawingml/2006/main">
              <a:ext uri="{FF2B5EF4-FFF2-40B4-BE49-F238E27FC236}">
                <a16:creationId xmlns:a16="http://schemas.microsoft.com/office/drawing/2014/main" id="{42CC9CDE-B025-4D08-A91A-19327F70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4305" y="4401508"/>
            <a:ext cx="123539" cy="497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939F757E-6457-489C-947D-5A8120A1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91712" y="4412736"/>
            <a:ext cx="123539" cy="3852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4" name="矩形 93">
            <a:extLst xmlns:a="http://schemas.openxmlformats.org/drawingml/2006/main">
              <a:ext uri="{FF2B5EF4-FFF2-40B4-BE49-F238E27FC236}">
                <a16:creationId xmlns:a16="http://schemas.microsoft.com/office/drawing/2014/main" id="{7043D6F7-9890-460B-B31D-A309C0EF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6233" y="3451894"/>
            <a:ext cx="797730" cy="21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BF7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x / s</a:t>
            </a:r>
          </a:p>
        </p:txBody>
      </p:sp>
      <p:sp>
        <p:nvSpPr>
          <p:cNvPr id="95" name="矩形 94">
            <a:extLst xmlns:a="http://schemas.openxmlformats.org/drawingml/2006/main">
              <a:ext uri="{FF2B5EF4-FFF2-40B4-BE49-F238E27FC236}">
                <a16:creationId xmlns:a16="http://schemas.microsoft.com/office/drawing/2014/main" id="{2F4D009A-358F-42C7-8F15-94286475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5441" y="3451315"/>
            <a:ext cx="797730" cy="2147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W · s</a:t>
            </a:r>
          </a:p>
        </p:txBody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AE5433A3-6996-43D3-AB4D-A0523079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4649" y="3451315"/>
            <a:ext cx="797730" cy="2147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20000"/>
              <a:lumOff val="80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INT8</a:t>
            </a:r>
          </a:p>
        </p:txBody>
      </p:sp>
      <p:cxnSp>
        <p:nvCxnSpPr>
          <p:cNvPr id="24609" name="直接箭头连接符 96"/>
          <p:cNvCxnSpPr>
            <a:stCxn xmlns:a="http://schemas.openxmlformats.org/drawingml/2006/main" id="89" idx="0"/>
            <a:endCxn xmlns:a="http://schemas.openxmlformats.org/drawingml/2006/main" id="94" idx="2"/>
          </p:cNvCxnSpPr>
          <p:nvPr/>
        </p:nvCxnSpPr>
        <p:spPr>
          <a:xfrm xmlns:a="http://schemas.openxmlformats.org/drawingml/2006/main" rot="0" flipH="1" flipV="1">
            <a:off x="6015097" y="3666685"/>
            <a:ext cx="448759" cy="114243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610" name="直接箭头连接符 97"/>
          <p:cNvCxnSpPr>
            <a:stCxn xmlns:a="http://schemas.openxmlformats.org/drawingml/2006/main" id="90" idx="0"/>
            <a:endCxn xmlns:a="http://schemas.openxmlformats.org/drawingml/2006/main" id="95" idx="2"/>
          </p:cNvCxnSpPr>
          <p:nvPr/>
        </p:nvCxnSpPr>
        <p:spPr>
          <a:xfrm xmlns:a="http://schemas.openxmlformats.org/drawingml/2006/main" rot="0" flipV="1">
            <a:off x="6611263" y="3666106"/>
            <a:ext cx="233043" cy="279956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611" name="直接箭头连接符 98"/>
          <p:cNvCxnSpPr>
            <a:stCxn xmlns:a="http://schemas.openxmlformats.org/drawingml/2006/main" id="91" idx="0"/>
            <a:endCxn xmlns:a="http://schemas.openxmlformats.org/drawingml/2006/main" id="96" idx="2"/>
          </p:cNvCxnSpPr>
          <p:nvPr/>
        </p:nvCxnSpPr>
        <p:spPr>
          <a:xfrm xmlns:a="http://schemas.openxmlformats.org/drawingml/2006/main" rot="0" flipV="1">
            <a:off x="6758668" y="3666106"/>
            <a:ext cx="914844" cy="705308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0" name="文本框 99">
            <a:extLst xmlns:a="http://schemas.openxmlformats.org/drawingml/2006/main">
              <a:ext uri="{FF2B5EF4-FFF2-40B4-BE49-F238E27FC236}">
                <a16:creationId xmlns:a16="http://schemas.microsoft.com/office/drawing/2014/main" id="{FC71B0E7-A455-4346-9C38-C42D6F9C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42236" y="4462571"/>
            <a:ext cx="3084584" cy="24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latin typeface="微软雅黑"/>
                <a:ea typeface="微软雅黑"/>
                <a:cs typeface="微软雅黑"/>
              </a:rPr>
              <a:t>smooth scale实现离群值平滑迁移</a:t>
            </a:r>
          </a:p>
        </p:txBody>
      </p:sp>
      <p:sp>
        <p:nvSpPr>
          <p:cNvPr id="101" name="文本框 100">
            <a:extLst xmlns:a="http://schemas.openxmlformats.org/drawingml/2006/main">
              <a:ext uri="{FF2B5EF4-FFF2-40B4-BE49-F238E27FC236}">
                <a16:creationId xmlns:a16="http://schemas.microsoft.com/office/drawing/2014/main" id="{B94B4AB0-FCD6-47CF-A5DA-5E1F9BA2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2130" y="3192317"/>
            <a:ext cx="1626938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9302B16B-7F52-41E6-ACBE-B21358C8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313" y="3200414"/>
            <a:ext cx="829892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latin typeface="微软雅黑"/>
                <a:ea typeface="微软雅黑"/>
                <a:cs typeface="微软雅黑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372191884"/>
      </p:ext>
    </p:extLst>
  </p:cSld>
</p:sld>
</file>

<file path=ppt/theme/theme1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自定义设计方案 1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2026-06-05T02:49:22.2670000Z</dcterms:created>
  <dcterms:modified xsi:type="dcterms:W3CDTF">2026-06-05T02:49:22.2670000Z</dcterms:modified>
</coreProperties>
</file>