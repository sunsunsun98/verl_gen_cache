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14f4f9dde4667" /><Relationship Type="http://schemas.openxmlformats.org/officeDocument/2006/relationships/extended-properties" Target="/docProps/app.xml" Id="R9f2811f609844d2e" /><Relationship Type="http://schemas.openxmlformats.org/officeDocument/2006/relationships/officeDocument" Target="/ppt/presentation.xml" Id="R974075c10d55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664d3c09be4149"/>
  </p:sldMasterIdLst>
  <p:notesMasterIdLst>
    <p:notesMasterId xmlns:r="http://schemas.openxmlformats.org/officeDocument/2006/relationships" r:id="Rcf1419e91461458d"/>
  </p:notesMasterIdLst>
  <p:sldIdLst>
    <p:sldId xmlns:r="http://schemas.openxmlformats.org/officeDocument/2006/relationships" id="256" r:id="R96edc605c3184d29"/>
    <p:sldId xmlns:r="http://schemas.openxmlformats.org/officeDocument/2006/relationships" id="257" r:id="Rcd6b45d61ee143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689b50f2a4f82" /><Relationship Type="http://schemas.openxmlformats.org/officeDocument/2006/relationships/slideMaster" Target="/ppt/slideMasters/slideMaster1.xml" Id="Rc0664d3c09be4149" /><Relationship Type="http://schemas.openxmlformats.org/officeDocument/2006/relationships/notesMaster" Target="/ppt/notesMasters/notesMaster1.xml" Id="Rcf1419e91461458d" /><Relationship Type="http://schemas.openxmlformats.org/officeDocument/2006/relationships/presProps" Target="/ppt/presProps.xml" Id="R711b71b45dce4ce2" /><Relationship Type="http://schemas.openxmlformats.org/officeDocument/2006/relationships/viewProps" Target="/ppt/viewProps.xml" Id="R3b5a8401927641d0" /><Relationship Type="http://schemas.openxmlformats.org/officeDocument/2006/relationships/tableStyles" Target="/ppt/tableStyles.xml" Id="Rb8986946cf5e448e" /><Relationship Type="http://schemas.openxmlformats.org/officeDocument/2006/relationships/slide" Target="/ppt/slides/slide1.xml" Id="R96edc605c3184d29" /><Relationship Type="http://schemas.openxmlformats.org/officeDocument/2006/relationships/slide" Target="/ppt/slides/slide2.xml" Id="Rcd6b45d61ee143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4b183c356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61c9fa54f449c" /><Relationship Type="http://schemas.openxmlformats.org/officeDocument/2006/relationships/notesMaster" Target="/ppt/notesMasters/notesMaster1.xml" Id="R58e5ad19cbd5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004c9b682401f" /><Relationship Type="http://schemas.openxmlformats.org/officeDocument/2006/relationships/notesMaster" Target="/ppt/notesMasters/notesMaster1.xml" Id="R152bdeb26a4b46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7e10d47754946" /><Relationship Type="http://schemas.openxmlformats.org/officeDocument/2006/relationships/image" Target="/ppt/media/image3.png" Id="R48e10ac220ed4865" /><Relationship Type="http://schemas.openxmlformats.org/officeDocument/2006/relationships/image" Target="/ppt/media/image4.png" Id="R144b158b02de41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4d957661e4d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8e288d4bc4d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3663d4ee34a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ff16eed214f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6f7a946c84c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e8d7a9c9440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ff70cbf9144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9c2f60b154c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e2159765740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4b6f309974fd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e348c98c9419a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10ac220ed48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" y="784225"/>
            <a:ext cx="12190412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 Box 5">
            <a:extLst xmlns:a="http://schemas.openxmlformats.org/drawingml/2006/main"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205538"/>
            <a:ext cx="2443163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0" tIns="39135" rIns="78270" bIns="39135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 xmlns:a="http://schemas.openxmlformats.org/drawingml/2006/main"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984625"/>
            <a:ext cx="2003425" cy="32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364" tIns="45680" rIns="91364" bIns="45680"/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b158b02de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0913" y="5445125"/>
            <a:ext cx="1519237" cy="1139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9CC16276-6ACB-4A2A-A03F-C44D353DD48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9AC36A0-AC03-4F94-98EF-EA91A648A12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2FF5886-5F88-43B0-8384-127CBE4CA9D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47C3515-A20A-4CC4-AB65-EF2298B43A1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8A857C1-AAC1-41C4-AD07-95A97C85156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41C4F78-A9C2-4F7D-B32A-D37166658E9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8199A2E-82C0-4BB8-B204-8B61A41341B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F7319A2-3A06-410D-AC34-40C219823E4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E5B4CDA3-E8CF-443F-8DFE-C12DA662A44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28101" y="115889"/>
            <a:ext cx="2832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1" y="115889"/>
            <a:ext cx="8293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2A7F8B66-0DC9-42B9-A927-2EDE0806B88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733" y="115888"/>
            <a:ext cx="10752667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4E32DED-6DB2-4A9B-9A29-243C689DD2C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39eabf0da9942c6" /><Relationship Type="http://schemas.openxmlformats.org/officeDocument/2006/relationships/image" Target="/ppt/media/image2.png" Id="R49db0b6019c24cd4" /><Relationship Type="http://schemas.openxmlformats.org/officeDocument/2006/relationships/theme" Target="/ppt/slideMasters/theme/theme2.xml" Id="R2c6b6cf4dfa140dd" /><Relationship Type="http://schemas.openxmlformats.org/officeDocument/2006/relationships/slideLayout" Target="/ppt/slideLayouts/slideLayout1.xml" Id="Rcc3aa4086e1a47ec" /><Relationship Type="http://schemas.openxmlformats.org/officeDocument/2006/relationships/slideLayout" Target="/ppt/slideLayouts/slideLayout2.xml" Id="Rec33918d3f7a4203" /><Relationship Type="http://schemas.openxmlformats.org/officeDocument/2006/relationships/slideLayout" Target="/ppt/slideLayouts/slideLayout3.xml" Id="R2050029d8dd94a86" /><Relationship Type="http://schemas.openxmlformats.org/officeDocument/2006/relationships/slideLayout" Target="/ppt/slideLayouts/slideLayout4.xml" Id="R21951208161746d5" /><Relationship Type="http://schemas.openxmlformats.org/officeDocument/2006/relationships/slideLayout" Target="/ppt/slideLayouts/slideLayout5.xml" Id="R0d5ded5ecfde4256" /><Relationship Type="http://schemas.openxmlformats.org/officeDocument/2006/relationships/slideLayout" Target="/ppt/slideLayouts/slideLayout6.xml" Id="R315bc971677d4ae7" /><Relationship Type="http://schemas.openxmlformats.org/officeDocument/2006/relationships/slideLayout" Target="/ppt/slideLayouts/slideLayout7.xml" Id="R1a4e5d952c264f1f" /><Relationship Type="http://schemas.openxmlformats.org/officeDocument/2006/relationships/slideLayout" Target="/ppt/slideLayouts/slideLayout8.xml" Id="Re1ecc6635f8140b4" /><Relationship Type="http://schemas.openxmlformats.org/officeDocument/2006/relationships/slideLayout" Target="/ppt/slideLayouts/slideLayout9.xml" Id="R4d276a83e5734c4d" /><Relationship Type="http://schemas.openxmlformats.org/officeDocument/2006/relationships/slideLayout" Target="/ppt/slideLayouts/slideLayout10.xml" Id="R5cea5ad0ad5448dc" /><Relationship Type="http://schemas.openxmlformats.org/officeDocument/2006/relationships/slideLayout" Target="/ppt/slideLayouts/slideLayout11.xml" Id="Rded1be708ec84bd1" /><Relationship Type="http://schemas.openxmlformats.org/officeDocument/2006/relationships/slideLayout" Target="/ppt/slideLayouts/slideLayout12.xml" Id="R3f81f89a396148e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0263" y="115888"/>
            <a:ext cx="10752137" cy="63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11328400" cy="521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eabf0da9942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21413"/>
            <a:ext cx="12190413" cy="636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9" name="Text Box 5">
            <a:extLst xmlns:a="http://schemas.openxmlformats.org/drawingml/2006/main"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434138"/>
            <a:ext cx="1704975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6" tIns="39141" rIns="78276" bIns="39141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905750" y="6400800"/>
            <a:ext cx="1409700" cy="110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7A6A17C-8CE3-41D7-BD5F-4774EFB3B3E8}" type="slidenum">
              <a:t>‹#›</a:t>
            </a:fld>
          </a:p>
        </p:txBody>
      </p:sp>
      <p:sp>
        <p:nvSpPr>
          <p:cNvPr id="1032" name="Text Box 8">
            <a:extLst xmlns:a="http://schemas.openxmlformats.org/drawingml/2006/main"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6407150"/>
            <a:ext cx="3705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8315" tIns="39159" rIns="78315" bIns="39159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b0b6019c24c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738" y="6442075"/>
            <a:ext cx="1668462" cy="273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3aa4086e1a47ec"/>
    <p:sldLayoutId xmlns:r="http://schemas.openxmlformats.org/officeDocument/2006/relationships" id="2147483650" r:id="Rec33918d3f7a4203"/>
    <p:sldLayoutId xmlns:r="http://schemas.openxmlformats.org/officeDocument/2006/relationships" id="2147483651" r:id="R2050029d8dd94a86"/>
    <p:sldLayoutId xmlns:r="http://schemas.openxmlformats.org/officeDocument/2006/relationships" id="2147483652" r:id="R21951208161746d5"/>
    <p:sldLayoutId xmlns:r="http://schemas.openxmlformats.org/officeDocument/2006/relationships" id="2147483653" r:id="R0d5ded5ecfde4256"/>
    <p:sldLayoutId xmlns:r="http://schemas.openxmlformats.org/officeDocument/2006/relationships" id="2147483654" r:id="R315bc971677d4ae7"/>
    <p:sldLayoutId xmlns:r="http://schemas.openxmlformats.org/officeDocument/2006/relationships" id="2147483655" r:id="R1a4e5d952c264f1f"/>
    <p:sldLayoutId xmlns:r="http://schemas.openxmlformats.org/officeDocument/2006/relationships" id="2147483656" r:id="Re1ecc6635f8140b4"/>
    <p:sldLayoutId xmlns:r="http://schemas.openxmlformats.org/officeDocument/2006/relationships" id="2147483657" r:id="R4d276a83e5734c4d"/>
    <p:sldLayoutId xmlns:r="http://schemas.openxmlformats.org/officeDocument/2006/relationships" id="2147483658" r:id="R5cea5ad0ad5448dc"/>
    <p:sldLayoutId xmlns:r="http://schemas.openxmlformats.org/officeDocument/2006/relationships" id="2147483659" r:id="Rded1be708ec84bd1"/>
    <p:sldLayoutId xmlns:r="http://schemas.openxmlformats.org/officeDocument/2006/relationships" id="2147483660" r:id="R3f81f89a396148e3"/>
  </p:sldLayoutIdLst>
  <p:hf sldNum="0" hdr="0" ftr="0"/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b7695c82b4e91" /><Relationship Type="http://schemas.openxmlformats.org/officeDocument/2006/relationships/notesSlide" Target="/ppt/notesSlides/notesSlide1.xml" Id="Rb2fa69fec07e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8ce4d031d4013" /><Relationship Type="http://schemas.openxmlformats.org/officeDocument/2006/relationships/notesSlide" Target="/ppt/notesSlides/notesSlide2.xml" Id="R623f620aa36d49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025"/>
            <a:ext cx="216058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309" tIns="39153" rIns="78309" bIns="39153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Level：Internal </a:t>
            </a:r>
          </a:p>
        </p:txBody>
      </p:sp>
      <p:sp>
        <p:nvSpPr>
          <p:cNvPr id="51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2094674"/>
            <a:ext cx="9577064" cy="180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82522" tIns="41261" rIns="82522" bIns="41261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3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376" y="-35626"/>
            <a:ext cx="11449272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24581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ABCBADD-0457-4E6E-863C-11033DE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2" y="531823"/>
            <a:ext cx="11809312" cy="273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342900" indent="-3429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本发明涉及低比特RL后训练与推理加速的量化优化方法。针对W8A8 rollout中权重量化尺度难以自适应、激活离群值放大量化动态范围以及训推分布不一致问题，提出基于双尺度协同感知量化的INT8 RL训推优化方法，主体方案如下：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权重量化尺度自适应：引入可学习weight scale，将量化步长纳入QAT优化，并结合动态范围跟踪与LSQ梯度缩放，使weight scale随训练过程稳定更新。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激活-权重双向平滑：引入按输入通道定义的smooth scale，对输入执行x/s、对权重执行W*s，在保持浮点等价的前提下降低激活动态范围压力。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量化偏差协同校准：结合敏感层精度回退、哈希随机舍入和scale稳定化更新，校准W8A8 rollout中的舍入偏差与量化残差，抑制长序列误差累积。</a:t>
            </a:r>
          </a:p>
        </p:txBody>
      </p:sp>
      <p:sp>
        <p:nvSpPr>
          <p:cNvPr id="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-200055"/>
            <a:ext cx="1847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4B0F85-585C-4C28-A5ED-09D1924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1" y="5072345"/>
            <a:ext cx="11541059" cy="1090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提出一种基于双尺度协同感知量化的INT8 </a:t>
            </a: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RL训推优化方法。主要保护点如下</a:t>
            </a: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1：保护一种双尺度协同感知的QAT量化尺度建模方法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其特征在于联合构建可学习weight</a:t>
            </a:r>
            <a:r>
              <a:rPr sz="1100">
                <a:latin typeface="微软雅黑"/>
                <a:ea typeface="微软雅黑"/>
                <a:cs typeface="微软雅黑"/>
              </a:rPr>
              <a:t> </a:t>
            </a:r>
            <a:r>
              <a:rPr sz="1100">
                <a:latin typeface="微软雅黑"/>
                <a:ea typeface="微软雅黑"/>
                <a:cs typeface="微软雅黑"/>
              </a:rPr>
              <a:t>scale与smooth</a:t>
            </a:r>
            <a:r>
              <a:rPr sz="1100">
                <a:latin typeface="微软雅黑"/>
                <a:ea typeface="微软雅黑"/>
                <a:cs typeface="微软雅黑"/>
              </a:rPr>
              <a:t> </a:t>
            </a:r>
            <a:r>
              <a:rPr sz="1100">
                <a:latin typeface="微软雅黑"/>
                <a:ea typeface="微软雅黑"/>
                <a:cs typeface="微软雅黑"/>
              </a:rPr>
              <a:t>scale两类尺度变量，分别对权重量化步长和激活离群值进行协同建模，通过动态范围跟踪与梯度缩放提升scale更新稳定性</a:t>
            </a:r>
            <a:r>
              <a:rPr sz="1100">
                <a:latin typeface="微软雅黑"/>
                <a:ea typeface="微软雅黑"/>
                <a:cs typeface="微软雅黑"/>
              </a:rPr>
              <a:t>。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2：保护一种面向INT8 </a:t>
            </a:r>
            <a:r>
              <a:rPr sz="1100" b="1">
                <a:latin typeface="微软雅黑"/>
                <a:ea typeface="微软雅黑"/>
                <a:cs typeface="微软雅黑"/>
              </a:rPr>
              <a:t>RL训推一致性的量化偏差校准方法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其特征在于结合敏感层精度回退、哈希随机舍入和scale稳定化更新，对W8A8 </a:t>
            </a:r>
            <a:r>
              <a:rPr sz="1100">
                <a:latin typeface="微软雅黑"/>
                <a:ea typeface="微软雅黑"/>
                <a:cs typeface="微软雅黑"/>
              </a:rPr>
              <a:t>rollout中的舍入偏差、敏感层误差和量化残差进行协同校准，提升低比特RL训练稳定性</a:t>
            </a:r>
            <a:r>
              <a:rPr sz="1100"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FD6C74D-AECA-429B-B4B1-182E34E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3200414"/>
            <a:ext cx="4932548" cy="181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064754E9-DFD2-4787-904B-9CD41F2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3197373"/>
            <a:ext cx="27003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latin typeface="微软雅黑"/>
                <a:ea typeface="微软雅黑"/>
                <a:cs typeface="微软雅黑"/>
              </a:rPr>
              <a:t>权重量化尺度自适应感知模块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4F7C9F3-E791-4548-9592-3DDB916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382" y="3200413"/>
            <a:ext cx="6593258" cy="181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08D28B7C-FA11-43D4-9992-2283CAC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15" y="3202754"/>
            <a:ext cx="290096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微软雅黑"/>
                <a:ea typeface="微软雅黑"/>
                <a:cs typeface="微软雅黑"/>
              </a:rPr>
              <a:t>激活-权重双向平滑重参数化模块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B10867B7-AFE9-4499-83B3-2B6B99E9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80" y="4462572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weight scale随训练阶段稳定调整</a:t>
            </a:r>
          </a:p>
        </p:txBody>
      </p: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FC71B0E7-A455-4346-9C38-C42D6F9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236" y="4462571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smooth </a:t>
            </a:r>
            <a:r>
              <a:rPr sz="1000">
                <a:latin typeface="微软雅黑"/>
                <a:ea typeface="微软雅黑"/>
                <a:cs typeface="微软雅黑"/>
              </a:rPr>
              <a:t>scale实现离群值平滑迁移</a:t>
            </a:r>
          </a:p>
        </p:txBody>
      </p:sp>
      <p:sp>
        <p:nvSpPr>
          <p:cNvPr id="101" name="文本框 100">
            <a:extLst xmlns:a="http://schemas.openxmlformats.org/drawingml/2006/main">
              <a:ext uri="{FF2B5EF4-FFF2-40B4-BE49-F238E27FC236}">
                <a16:creationId xmlns:a16="http://schemas.microsoft.com/office/drawing/2014/main" id="{B94B4AB0-FCD6-47CF-A5DA-5E1F9BA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130" y="3192317"/>
            <a:ext cx="162693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9302B16B-7F52-41E6-ACBE-B21358C8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13" y="3200414"/>
            <a:ext cx="82989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582" name="">
            <a:extLst xmlns:a="http://schemas.openxmlformats.org/drawingml/2006/main">
              <a:ext uri="{FF2B5EF4-FFF2-40B4-BE49-F238E27FC236}">
                <a16:creationId xmlns:a16="http://schemas.microsoft.com/office/drawing/2014/main" id="{DE42804F-93D9-4F68-B770-20E702ED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1157287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83" name="">
            <a:extLst xmlns:a="http://schemas.openxmlformats.org/drawingml/2006/main">
              <a:ext uri="{FF2B5EF4-FFF2-40B4-BE49-F238E27FC236}">
                <a16:creationId xmlns:a16="http://schemas.microsoft.com/office/drawing/2014/main" id="{1D53C59C-FEB6-481F-9013-E83326C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1157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QAT伪量化过程中的 smooth scale 与 weight scale 更新逻辑</a:t>
            </a:r>
          </a:p>
        </p:txBody>
      </p:sp>
      <p:sp>
        <p:nvSpPr>
          <p:cNvPr id="24584" name="">
            <a:extLst xmlns:a="http://schemas.openxmlformats.org/drawingml/2006/main">
              <a:ext uri="{FF2B5EF4-FFF2-40B4-BE49-F238E27FC236}">
                <a16:creationId xmlns:a16="http://schemas.microsoft.com/office/drawing/2014/main" id="{91F132B9-F6B1-4484-8E84-CABF8ED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547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85" name="">
            <a:extLst xmlns:a="http://schemas.openxmlformats.org/drawingml/2006/main">
              <a:ext uri="{FF2B5EF4-FFF2-40B4-BE49-F238E27FC236}">
                <a16:creationId xmlns:a16="http://schemas.microsoft.com/office/drawing/2014/main" id="{4DA7A4DF-6657-4642-8A28-AEDA7CC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weight scale更新闭环</a:t>
            </a:r>
          </a:p>
        </p:txBody>
      </p:sp>
      <p:sp>
        <p:nvSpPr>
          <p:cNvPr id="24586" name="">
            <a:extLst xmlns:a="http://schemas.openxmlformats.org/drawingml/2006/main">
              <a:ext uri="{FF2B5EF4-FFF2-40B4-BE49-F238E27FC236}">
                <a16:creationId xmlns:a16="http://schemas.microsoft.com/office/drawing/2014/main" id="{CCA6EE7F-1879-4184-818B-6445433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W_fp</a:t>
            </a:r>
          </a:p>
        </p:txBody>
      </p:sp>
      <p:sp>
        <p:nvSpPr>
          <p:cNvPr id="24587" name="">
            <a:extLst xmlns:a="http://schemas.openxmlformats.org/drawingml/2006/main">
              <a:ext uri="{FF2B5EF4-FFF2-40B4-BE49-F238E27FC236}">
                <a16:creationId xmlns:a16="http://schemas.microsoft.com/office/drawing/2014/main" id="{2A2A934E-E1C7-4E0E-A3A7-7981656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718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88" name="">
            <a:extLst xmlns:a="http://schemas.openxmlformats.org/drawingml/2006/main">
              <a:ext uri="{FF2B5EF4-FFF2-40B4-BE49-F238E27FC236}">
                <a16:creationId xmlns:a16="http://schemas.microsoft.com/office/drawing/2014/main" id="{888F89E7-D830-47BE-AB19-67419CD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8615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伪量化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round/clamp</a:t>
            </a:r>
          </a:p>
        </p:txBody>
      </p:sp>
      <p:sp>
        <p:nvSpPr>
          <p:cNvPr id="24589" name="">
            <a:extLst xmlns:a="http://schemas.openxmlformats.org/drawingml/2006/main">
              <a:ext uri="{FF2B5EF4-FFF2-40B4-BE49-F238E27FC236}">
                <a16:creationId xmlns:a16="http://schemas.microsoft.com/office/drawing/2014/main" id="{597690EE-61E6-43B7-94B3-B6B2190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718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0" name="">
            <a:extLst xmlns:a="http://schemas.openxmlformats.org/drawingml/2006/main">
              <a:ext uri="{FF2B5EF4-FFF2-40B4-BE49-F238E27FC236}">
                <a16:creationId xmlns:a16="http://schemas.microsoft.com/office/drawing/2014/main" id="{16B946F2-A285-4AE9-9ADB-BF237F29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861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反量化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W_hat</a:t>
            </a:r>
          </a:p>
        </p:txBody>
      </p:sp>
      <p:sp>
        <p:nvSpPr>
          <p:cNvPr id="24591" name="">
            <a:extLst xmlns:a="http://schemas.openxmlformats.org/drawingml/2006/main">
              <a:ext uri="{FF2B5EF4-FFF2-40B4-BE49-F238E27FC236}">
                <a16:creationId xmlns:a16="http://schemas.microsoft.com/office/drawing/2014/main" id="{B3BFC9CD-95AC-4B18-A47B-E344738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718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2" name="">
            <a:extLst xmlns:a="http://schemas.openxmlformats.org/drawingml/2006/main">
              <a:ext uri="{FF2B5EF4-FFF2-40B4-BE49-F238E27FC236}">
                <a16:creationId xmlns:a16="http://schemas.microsoft.com/office/drawing/2014/main" id="{9D4BBD0C-6490-412D-821A-3AE3E13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1381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STE反传 + LSQ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梯度缩放更新s_w</a:t>
            </a:r>
          </a:p>
        </p:txBody>
      </p:sp>
      <p:sp>
        <p:nvSpPr>
          <p:cNvPr id="24593" name="">
            <a:extLst xmlns:a="http://schemas.openxmlformats.org/drawingml/2006/main">
              <a:ext uri="{FF2B5EF4-FFF2-40B4-BE49-F238E27FC236}">
                <a16:creationId xmlns:a16="http://schemas.microsoft.com/office/drawing/2014/main" id="{1BFD3AC4-FE08-4910-9D0F-0B4C420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7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B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94" name="">
            <a:extLst xmlns:a="http://schemas.openxmlformats.org/drawingml/2006/main">
              <a:ext uri="{FF2B5EF4-FFF2-40B4-BE49-F238E27FC236}">
                <a16:creationId xmlns:a16="http://schemas.microsoft.com/office/drawing/2014/main" id="{CEC6B96F-4201-4165-90D5-05D1915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smooth scale更新闭环</a:t>
            </a:r>
          </a:p>
        </p:txBody>
      </p:sp>
      <p:sp>
        <p:nvSpPr>
          <p:cNvPr id="24595" name="">
            <a:extLst xmlns:a="http://schemas.openxmlformats.org/drawingml/2006/main">
              <a:ext uri="{FF2B5EF4-FFF2-40B4-BE49-F238E27FC236}">
                <a16:creationId xmlns:a16="http://schemas.microsoft.com/office/drawing/2014/main" id="{2930BAF7-8D6F-4544-806F-07F8FF8B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激活x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权重W</a:t>
            </a:r>
          </a:p>
        </p:txBody>
      </p:sp>
      <p:sp>
        <p:nvSpPr>
          <p:cNvPr id="24596" name="">
            <a:extLst xmlns:a="http://schemas.openxmlformats.org/drawingml/2006/main">
              <a:ext uri="{FF2B5EF4-FFF2-40B4-BE49-F238E27FC236}">
                <a16:creationId xmlns:a16="http://schemas.microsoft.com/office/drawing/2014/main" id="{6B418A2B-F22D-42E5-A521-68BDDBF7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7" name="">
            <a:extLst xmlns:a="http://schemas.openxmlformats.org/drawingml/2006/main">
              <a:ext uri="{FF2B5EF4-FFF2-40B4-BE49-F238E27FC236}">
                <a16:creationId xmlns:a16="http://schemas.microsoft.com/office/drawing/2014/main" id="{3B4B993C-6E4E-473B-88AD-C11959D2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s_s = exp(theta)</a:t>
            </a:r>
          </a:p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按通道平滑</a:t>
            </a:r>
          </a:p>
        </p:txBody>
      </p:sp>
      <p:sp>
        <p:nvSpPr>
          <p:cNvPr id="24598" name="">
            <a:extLst xmlns:a="http://schemas.openxmlformats.org/drawingml/2006/main">
              <a:ext uri="{FF2B5EF4-FFF2-40B4-BE49-F238E27FC236}">
                <a16:creationId xmlns:a16="http://schemas.microsoft.com/office/drawing/2014/main" id="{348FD95B-62A4-4F10-A74A-22B37B7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196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9" name="">
            <a:extLst xmlns:a="http://schemas.openxmlformats.org/drawingml/2006/main">
              <a:ext uri="{FF2B5EF4-FFF2-40B4-BE49-F238E27FC236}">
                <a16:creationId xmlns:a16="http://schemas.microsoft.com/office/drawing/2014/main" id="{091BB578-E807-44A0-983B-85484992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243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 / s_s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 * s_s</a:t>
            </a:r>
          </a:p>
        </p:txBody>
      </p:sp>
      <p:sp>
        <p:nvSpPr>
          <p:cNvPr id="24600" name="">
            <a:extLst xmlns:a="http://schemas.openxmlformats.org/drawingml/2006/main">
              <a:ext uri="{FF2B5EF4-FFF2-40B4-BE49-F238E27FC236}">
                <a16:creationId xmlns:a16="http://schemas.microsoft.com/office/drawing/2014/main" id="{D3C461D4-EB36-40D0-B477-90B6AEA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196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1" name="">
            <a:extLst xmlns:a="http://schemas.openxmlformats.org/drawingml/2006/main">
              <a:ext uri="{FF2B5EF4-FFF2-40B4-BE49-F238E27FC236}">
                <a16:creationId xmlns:a16="http://schemas.microsoft.com/office/drawing/2014/main" id="{CCD28A52-602A-40F5-A272-7A5DEB08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动态范围迁移</a:t>
            </a:r>
          </a:p>
          <a:p xmlns:a="http://schemas.openxmlformats.org/drawingml/2006/main"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 loss反传更新theta</a:t>
            </a:r>
          </a:p>
        </p:txBody>
      </p:sp>
      <p:sp>
        <p:nvSpPr>
          <p:cNvPr id="24602" name="">
            <a:extLst xmlns:a="http://schemas.openxmlformats.org/drawingml/2006/main">
              <a:ext uri="{FF2B5EF4-FFF2-40B4-BE49-F238E27FC236}">
                <a16:creationId xmlns:a16="http://schemas.microsoft.com/office/drawing/2014/main" id="{56116DFA-268A-483E-9B99-BF700B7F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03" name="">
            <a:extLst xmlns:a="http://schemas.openxmlformats.org/drawingml/2006/main">
              <a:ext uri="{FF2B5EF4-FFF2-40B4-BE49-F238E27FC236}">
                <a16:creationId xmlns:a16="http://schemas.microsoft.com/office/drawing/2014/main" id="{9EC7E76D-0FA3-46C8-972A-89352FCC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双尺度协同感知：平滑后权重驱动量化尺度稳定更新</a:t>
            </a:r>
          </a:p>
        </p:txBody>
      </p:sp>
      <p:sp>
        <p:nvSpPr>
          <p:cNvPr id="24604" name="">
            <a:extLst xmlns:a="http://schemas.openxmlformats.org/drawingml/2006/main">
              <a:ext uri="{FF2B5EF4-FFF2-40B4-BE49-F238E27FC236}">
                <a16:creationId xmlns:a16="http://schemas.microsoft.com/office/drawing/2014/main" id="{C0353D11-450F-49B4-B891-C7971757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产生W * s_s分布</a:t>
            </a:r>
          </a:p>
        </p:txBody>
      </p:sp>
      <p:sp>
        <p:nvSpPr>
          <p:cNvPr id="24605" name="">
            <a:extLst xmlns:a="http://schemas.openxmlformats.org/drawingml/2006/main">
              <a:ext uri="{FF2B5EF4-FFF2-40B4-BE49-F238E27FC236}">
                <a16:creationId xmlns:a16="http://schemas.microsoft.com/office/drawing/2014/main" id="{3CFA2C8B-B3F4-4D6C-A97F-ACD6AEA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052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6" name="">
            <a:extLst xmlns:a="http://schemas.openxmlformats.org/drawingml/2006/main">
              <a:ext uri="{FF2B5EF4-FFF2-40B4-BE49-F238E27FC236}">
                <a16:creationId xmlns:a16="http://schemas.microsoft.com/office/drawing/2014/main" id="{7ABDE4C1-1593-4CF8-A071-C54438E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997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77777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EMA跟踪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平滑后动态范围</a:t>
            </a:r>
          </a:p>
        </p:txBody>
      </p:sp>
      <p:sp>
        <p:nvSpPr>
          <p:cNvPr id="24607" name="">
            <a:extLst xmlns:a="http://schemas.openxmlformats.org/drawingml/2006/main">
              <a:ext uri="{FF2B5EF4-FFF2-40B4-BE49-F238E27FC236}">
                <a16:creationId xmlns:a16="http://schemas.microsoft.com/office/drawing/2014/main" id="{13223628-8AD1-4181-806C-4E47BE6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052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8" name="">
            <a:extLst xmlns:a="http://schemas.openxmlformats.org/drawingml/2006/main">
              <a:ext uri="{FF2B5EF4-FFF2-40B4-BE49-F238E27FC236}">
                <a16:creationId xmlns:a16="http://schemas.microsoft.com/office/drawing/2014/main" id="{9FC9F377-4F23-459B-A435-7CED7EDE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609975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1430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辅助weight scale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避免网格跳变</a:t>
            </a:r>
          </a:p>
        </p:txBody>
      </p:sp>
      <p:sp>
        <p:nvSpPr>
          <p:cNvPr id="24609" name="">
            <a:extLst xmlns:a="http://schemas.openxmlformats.org/drawingml/2006/main">
              <a:ext uri="{FF2B5EF4-FFF2-40B4-BE49-F238E27FC236}">
                <a16:creationId xmlns:a16="http://schemas.microsoft.com/office/drawing/2014/main" id="{86A3197B-6297-4C7F-9436-74E7C45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9999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前向：模拟W8A8 rollout噪声</a:t>
            </a:r>
          </a:p>
        </p:txBody>
      </p:sp>
      <p:sp>
        <p:nvSpPr>
          <p:cNvPr id="24610" name="">
            <a:extLst xmlns:a="http://schemas.openxmlformats.org/drawingml/2006/main">
              <a:ext uri="{FF2B5EF4-FFF2-40B4-BE49-F238E27FC236}">
                <a16:creationId xmlns:a16="http://schemas.microsoft.com/office/drawing/2014/main" id="{0A7AA0BA-FA81-42AD-BFD6-CC5250F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529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1" name="">
            <a:extLst xmlns:a="http://schemas.openxmlformats.org/drawingml/2006/main">
              <a:ext uri="{FF2B5EF4-FFF2-40B4-BE49-F238E27FC236}">
                <a16:creationId xmlns:a16="http://schemas.microsoft.com/office/drawing/2014/main" id="{E3108204-D350-42C9-9A2C-86E15E9D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67200"/>
            <a:ext cx="139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9999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反向：截断掩码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重构误差</a:t>
            </a:r>
          </a:p>
        </p:txBody>
      </p:sp>
      <p:sp>
        <p:nvSpPr>
          <p:cNvPr id="24612" name="">
            <a:extLst xmlns:a="http://schemas.openxmlformats.org/drawingml/2006/main">
              <a:ext uri="{FF2B5EF4-FFF2-40B4-BE49-F238E27FC236}">
                <a16:creationId xmlns:a16="http://schemas.microsoft.com/office/drawing/2014/main" id="{4F9B5A06-70FE-45F6-8D1E-25532023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3" name="">
            <a:extLst xmlns:a="http://schemas.openxmlformats.org/drawingml/2006/main">
              <a:ext uri="{FF2B5EF4-FFF2-40B4-BE49-F238E27FC236}">
                <a16:creationId xmlns:a16="http://schemas.microsoft.com/office/drawing/2014/main" id="{087D45C1-816D-443C-8179-AD2EA75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672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训推一致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误差不累积</a:t>
            </a:r>
          </a:p>
        </p:txBody>
      </p:sp>
      <p:sp>
        <p:nvSpPr>
          <p:cNvPr id="24614" name="">
            <a:extLst xmlns:a="http://schemas.openxmlformats.org/drawingml/2006/main">
              <a:ext uri="{FF2B5EF4-FFF2-40B4-BE49-F238E27FC236}">
                <a16:creationId xmlns:a16="http://schemas.microsoft.com/office/drawing/2014/main" id="{F6AF86AA-5278-4A3E-A14A-9C8906A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338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s_w回写量化网格</a:t>
            </a:r>
          </a:p>
        </p:txBody>
      </p:sp>
      <p:sp>
        <p:nvSpPr>
          <p:cNvPr id="24615" name="">
            <a:extLst xmlns:a="http://schemas.openxmlformats.org/drawingml/2006/main">
              <a:ext uri="{FF2B5EF4-FFF2-40B4-BE49-F238E27FC236}">
                <a16:creationId xmlns:a16="http://schemas.microsoft.com/office/drawing/2014/main" id="{ED05CF09-AFB1-418B-8D00-0B42C8DF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5297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W * s_s改变权重分布 -&gt; 触发s_w动态跟踪</a:t>
            </a:r>
          </a:p>
        </p:txBody>
      </p:sp>
      <p:sp>
        <p:nvSpPr>
          <p:cNvPr id="24616" name="">
            <a:extLst xmlns:a="http://schemas.openxmlformats.org/drawingml/2006/main">
              <a:ext uri="{FF2B5EF4-FFF2-40B4-BE49-F238E27FC236}">
                <a16:creationId xmlns:a16="http://schemas.microsoft.com/office/drawing/2014/main" id="{7BCC42B0-BD00-4C80-94CA-CCB34DA8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  <a:p xmlns:a="http://schemas.openxmlformats.org/drawingml/2006/main">
            <a:pPr algn="ctr">
              <a:def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耦合</a:t>
            </a: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2026-06-05T07:21:25.3650000Z</dcterms:created>
  <dcterms:modified xsi:type="dcterms:W3CDTF">2026-06-05T07:21:25.3650000Z</dcterms:modified>
</coreProperties>
</file>